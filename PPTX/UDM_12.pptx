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Proxima Nova Bold" charset="1" panose="02000506030000020004"/>
      <p:regular r:id="rId25"/>
    </p:embeddedFont>
    <p:embeddedFont>
      <p:font typeface="Proxima Nova" charset="1" panose="02000506030000020004"/>
      <p:regular r:id="rId26"/>
    </p:embeddedFont>
    <p:embeddedFont>
      <p:font typeface="UTM Alexander" charset="1" panose="020406030505060202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14" Target="../media/image19.png" Type="http://schemas.openxmlformats.org/officeDocument/2006/relationships/image"/><Relationship Id="rId15" Target="../media/image20.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25.png" Type="http://schemas.openxmlformats.org/officeDocument/2006/relationships/image"/><Relationship Id="rId3" Target="../media/image26.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34.png" Type="http://schemas.openxmlformats.org/officeDocument/2006/relationships/image"/><Relationship Id="rId12" Target="../media/image3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png" Type="http://schemas.openxmlformats.org/officeDocument/2006/relationships/image"/><Relationship Id="rId4" Target="../media/image3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39.pn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png" Type="http://schemas.openxmlformats.org/officeDocument/2006/relationships/image"/><Relationship Id="rId13" Target="../media/image2.svg" Type="http://schemas.openxmlformats.org/officeDocument/2006/relationships/image"/><Relationship Id="rId14" Target="../media/image3.png" Type="http://schemas.openxmlformats.org/officeDocument/2006/relationships/image"/><Relationship Id="rId15" Target="../media/image4.svg" Type="http://schemas.openxmlformats.org/officeDocument/2006/relationships/image"/><Relationship Id="rId2" Target="../media/image40.png" Type="http://schemas.openxmlformats.org/officeDocument/2006/relationships/image"/><Relationship Id="rId3" Target="../media/image41.svg" Type="http://schemas.openxmlformats.org/officeDocument/2006/relationships/image"/><Relationship Id="rId4" Target="../media/image42.png" Type="http://schemas.openxmlformats.org/officeDocument/2006/relationships/image"/><Relationship Id="rId5" Target="../media/image43.svg" Type="http://schemas.openxmlformats.org/officeDocument/2006/relationships/image"/><Relationship Id="rId6" Target="../media/image44.png" Type="http://schemas.openxmlformats.org/officeDocument/2006/relationships/image"/><Relationship Id="rId7" Target="../media/image45.svg" Type="http://schemas.openxmlformats.org/officeDocument/2006/relationships/image"/><Relationship Id="rId8" Target="../media/image46.png" Type="http://schemas.openxmlformats.org/officeDocument/2006/relationships/image"/><Relationship Id="rId9" Target="../media/image4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14" Target="../media/image9.png" Type="http://schemas.openxmlformats.org/officeDocument/2006/relationships/image"/><Relationship Id="rId15" Target="../media/image10.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12" Target="../media/image31.png" Type="http://schemas.openxmlformats.org/officeDocument/2006/relationships/image"/><Relationship Id="rId13" Target="../media/image32.svg" Type="http://schemas.openxmlformats.org/officeDocument/2006/relationships/image"/><Relationship Id="rId2" Target="../media/image25.png" Type="http://schemas.openxmlformats.org/officeDocument/2006/relationships/image"/><Relationship Id="rId3" Target="../media/image26.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7.png" Type="http://schemas.openxmlformats.org/officeDocument/2006/relationships/image"/><Relationship Id="rId13" Target="../media/image8.svg" Type="http://schemas.openxmlformats.org/officeDocument/2006/relationships/image"/><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821320" y="5615759"/>
            <a:ext cx="6503276" cy="4114800"/>
          </a:xfrm>
          <a:custGeom>
            <a:avLst/>
            <a:gdLst/>
            <a:ahLst/>
            <a:cxnLst/>
            <a:rect r="r" b="b" t="t" l="l"/>
            <a:pathLst>
              <a:path h="4114800" w="6503276">
                <a:moveTo>
                  <a:pt x="0" y="0"/>
                </a:moveTo>
                <a:lnTo>
                  <a:pt x="6503276" y="0"/>
                </a:lnTo>
                <a:lnTo>
                  <a:pt x="650327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61778" y="1752394"/>
            <a:ext cx="2814723" cy="4539876"/>
          </a:xfrm>
          <a:custGeom>
            <a:avLst/>
            <a:gdLst/>
            <a:ahLst/>
            <a:cxnLst/>
            <a:rect r="r" b="b" t="t" l="l"/>
            <a:pathLst>
              <a:path h="4539876" w="2814723">
                <a:moveTo>
                  <a:pt x="0" y="0"/>
                </a:moveTo>
                <a:lnTo>
                  <a:pt x="2814723" y="0"/>
                </a:lnTo>
                <a:lnTo>
                  <a:pt x="2814723" y="4539877"/>
                </a:lnTo>
                <a:lnTo>
                  <a:pt x="0" y="45398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555416" y="8291512"/>
            <a:ext cx="4100910" cy="2878093"/>
          </a:xfrm>
          <a:custGeom>
            <a:avLst/>
            <a:gdLst/>
            <a:ahLst/>
            <a:cxnLst/>
            <a:rect r="r" b="b" t="t" l="l"/>
            <a:pathLst>
              <a:path h="2878093" w="4100910">
                <a:moveTo>
                  <a:pt x="0" y="0"/>
                </a:moveTo>
                <a:lnTo>
                  <a:pt x="4100910" y="0"/>
                </a:lnTo>
                <a:lnTo>
                  <a:pt x="4100910" y="2878094"/>
                </a:lnTo>
                <a:lnTo>
                  <a:pt x="0" y="28780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38904" y="2531709"/>
            <a:ext cx="2708287" cy="4114800"/>
          </a:xfrm>
          <a:custGeom>
            <a:avLst/>
            <a:gdLst/>
            <a:ahLst/>
            <a:cxnLst/>
            <a:rect r="r" b="b" t="t" l="l"/>
            <a:pathLst>
              <a:path h="4114800" w="2708287">
                <a:moveTo>
                  <a:pt x="0" y="0"/>
                </a:moveTo>
                <a:lnTo>
                  <a:pt x="2708286" y="0"/>
                </a:lnTo>
                <a:lnTo>
                  <a:pt x="2708286"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3092407" y="8229600"/>
            <a:ext cx="6357135" cy="4114800"/>
          </a:xfrm>
          <a:custGeom>
            <a:avLst/>
            <a:gdLst/>
            <a:ahLst/>
            <a:cxnLst/>
            <a:rect r="r" b="b" t="t" l="l"/>
            <a:pathLst>
              <a:path h="4114800" w="6357135">
                <a:moveTo>
                  <a:pt x="0" y="0"/>
                </a:moveTo>
                <a:lnTo>
                  <a:pt x="6357135" y="0"/>
                </a:lnTo>
                <a:lnTo>
                  <a:pt x="6357135"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false" rot="0">
            <a:off x="-454268" y="-1028700"/>
            <a:ext cx="2551176" cy="4114800"/>
          </a:xfrm>
          <a:custGeom>
            <a:avLst/>
            <a:gdLst/>
            <a:ahLst/>
            <a:cxnLst/>
            <a:rect r="r" b="b" t="t" l="l"/>
            <a:pathLst>
              <a:path h="4114800" w="2551176">
                <a:moveTo>
                  <a:pt x="2551176" y="0"/>
                </a:moveTo>
                <a:lnTo>
                  <a:pt x="0" y="0"/>
                </a:lnTo>
                <a:lnTo>
                  <a:pt x="0" y="4114800"/>
                </a:lnTo>
                <a:lnTo>
                  <a:pt x="2551176" y="4114800"/>
                </a:lnTo>
                <a:lnTo>
                  <a:pt x="2551176"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6730187" y="3029866"/>
            <a:ext cx="11557813" cy="2376597"/>
          </a:xfrm>
          <a:prstGeom prst="rect">
            <a:avLst/>
          </a:prstGeom>
        </p:spPr>
        <p:txBody>
          <a:bodyPr anchor="t" rtlCol="false" tIns="0" lIns="0" bIns="0" rIns="0">
            <a:spAutoFit/>
          </a:bodyPr>
          <a:lstStyle/>
          <a:p>
            <a:pPr algn="l">
              <a:lnSpc>
                <a:spcPts val="8972"/>
              </a:lnSpc>
            </a:pPr>
            <a:r>
              <a:rPr lang="en-US" sz="10195" spc="-642" b="true">
                <a:solidFill>
                  <a:srgbClr val="1C0140"/>
                </a:solidFill>
                <a:latin typeface="Proxima Nova Bold"/>
                <a:ea typeface="Proxima Nova Bold"/>
                <a:cs typeface="Proxima Nova Bold"/>
                <a:sym typeface="Proxima Nova Bold"/>
              </a:rPr>
              <a:t>UDM_12: Ứng dụng Download Multi File</a:t>
            </a:r>
          </a:p>
        </p:txBody>
      </p:sp>
      <p:sp>
        <p:nvSpPr>
          <p:cNvPr name="TextBox 9" id="9"/>
          <p:cNvSpPr txBox="true"/>
          <p:nvPr/>
        </p:nvSpPr>
        <p:spPr>
          <a:xfrm rot="0">
            <a:off x="8443989" y="6428145"/>
            <a:ext cx="6604841" cy="589128"/>
          </a:xfrm>
          <a:prstGeom prst="rect">
            <a:avLst/>
          </a:prstGeom>
        </p:spPr>
        <p:txBody>
          <a:bodyPr anchor="t" rtlCol="false" tIns="0" lIns="0" bIns="0" rIns="0">
            <a:spAutoFit/>
          </a:bodyPr>
          <a:lstStyle/>
          <a:p>
            <a:pPr algn="l">
              <a:lnSpc>
                <a:spcPts val="4364"/>
              </a:lnSpc>
            </a:pPr>
            <a:r>
              <a:rPr lang="en-US" b="true" sz="4960" spc="143">
                <a:solidFill>
                  <a:srgbClr val="1C0140"/>
                </a:solidFill>
                <a:latin typeface="Proxima Nova Bold"/>
                <a:ea typeface="Proxima Nova Bold"/>
                <a:cs typeface="Proxima Nova Bold"/>
                <a:sym typeface="Proxima Nova Bold"/>
              </a:rPr>
              <a:t>LẬP TRÌNH MẠNG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2097832" y="240749"/>
            <a:ext cx="2870338" cy="4902751"/>
          </a:xfrm>
          <a:custGeom>
            <a:avLst/>
            <a:gdLst/>
            <a:ahLst/>
            <a:cxnLst/>
            <a:rect r="r" b="b" t="t" l="l"/>
            <a:pathLst>
              <a:path h="4902751" w="2870338">
                <a:moveTo>
                  <a:pt x="0" y="0"/>
                </a:moveTo>
                <a:lnTo>
                  <a:pt x="2870337" y="0"/>
                </a:lnTo>
                <a:lnTo>
                  <a:pt x="2870337" y="4902751"/>
                </a:lnTo>
                <a:lnTo>
                  <a:pt x="0" y="49027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3828" y="6764645"/>
            <a:ext cx="5511729" cy="3868232"/>
          </a:xfrm>
          <a:custGeom>
            <a:avLst/>
            <a:gdLst/>
            <a:ahLst/>
            <a:cxnLst/>
            <a:rect r="r" b="b" t="t" l="l"/>
            <a:pathLst>
              <a:path h="3868232" w="5511729">
                <a:moveTo>
                  <a:pt x="0" y="0"/>
                </a:moveTo>
                <a:lnTo>
                  <a:pt x="5511729" y="0"/>
                </a:lnTo>
                <a:lnTo>
                  <a:pt x="5511729" y="3868232"/>
                </a:lnTo>
                <a:lnTo>
                  <a:pt x="0" y="38682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035344" y="3132230"/>
            <a:ext cx="3841974" cy="4902751"/>
          </a:xfrm>
          <a:custGeom>
            <a:avLst/>
            <a:gdLst/>
            <a:ahLst/>
            <a:cxnLst/>
            <a:rect r="r" b="b" t="t" l="l"/>
            <a:pathLst>
              <a:path h="4902751" w="3841974">
                <a:moveTo>
                  <a:pt x="0" y="0"/>
                </a:moveTo>
                <a:lnTo>
                  <a:pt x="3841974" y="0"/>
                </a:lnTo>
                <a:lnTo>
                  <a:pt x="3841974" y="4902751"/>
                </a:lnTo>
                <a:lnTo>
                  <a:pt x="0" y="49027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644163" y="-1908383"/>
            <a:ext cx="7574475" cy="4902751"/>
          </a:xfrm>
          <a:custGeom>
            <a:avLst/>
            <a:gdLst/>
            <a:ahLst/>
            <a:cxnLst/>
            <a:rect r="r" b="b" t="t" l="l"/>
            <a:pathLst>
              <a:path h="4902751" w="7574475">
                <a:moveTo>
                  <a:pt x="0" y="0"/>
                </a:moveTo>
                <a:lnTo>
                  <a:pt x="7574475" y="0"/>
                </a:lnTo>
                <a:lnTo>
                  <a:pt x="7574475" y="4902751"/>
                </a:lnTo>
                <a:lnTo>
                  <a:pt x="0" y="49027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4273862" y="5168054"/>
            <a:ext cx="1832956" cy="2057400"/>
          </a:xfrm>
          <a:custGeom>
            <a:avLst/>
            <a:gdLst/>
            <a:ahLst/>
            <a:cxnLst/>
            <a:rect r="r" b="b" t="t" l="l"/>
            <a:pathLst>
              <a:path h="2057400" w="1832956">
                <a:moveTo>
                  <a:pt x="0" y="0"/>
                </a:moveTo>
                <a:lnTo>
                  <a:pt x="1832957" y="0"/>
                </a:lnTo>
                <a:lnTo>
                  <a:pt x="1832957"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5635557" y="1585140"/>
            <a:ext cx="11320774" cy="1409228"/>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Lý do chọn đề tài </a:t>
            </a:r>
          </a:p>
        </p:txBody>
      </p:sp>
      <p:grpSp>
        <p:nvGrpSpPr>
          <p:cNvPr name="Group 8" id="8"/>
          <p:cNvGrpSpPr/>
          <p:nvPr/>
        </p:nvGrpSpPr>
        <p:grpSpPr>
          <a:xfrm rot="0">
            <a:off x="6599415" y="5060847"/>
            <a:ext cx="7943334" cy="1715706"/>
            <a:chOff x="0" y="0"/>
            <a:chExt cx="1600798" cy="345761"/>
          </a:xfrm>
        </p:grpSpPr>
        <p:sp>
          <p:nvSpPr>
            <p:cNvPr name="Freeform 9" id="9"/>
            <p:cNvSpPr/>
            <p:nvPr/>
          </p:nvSpPr>
          <p:spPr>
            <a:xfrm flipH="false" flipV="false" rot="0">
              <a:off x="0" y="0"/>
              <a:ext cx="1600798" cy="345761"/>
            </a:xfrm>
            <a:custGeom>
              <a:avLst/>
              <a:gdLst/>
              <a:ahLst/>
              <a:cxnLst/>
              <a:rect r="r" b="b" t="t" l="l"/>
              <a:pathLst>
                <a:path h="345761" w="1600798">
                  <a:moveTo>
                    <a:pt x="65301" y="0"/>
                  </a:moveTo>
                  <a:lnTo>
                    <a:pt x="1535497" y="0"/>
                  </a:lnTo>
                  <a:cubicBezTo>
                    <a:pt x="1571562" y="0"/>
                    <a:pt x="1600798" y="29236"/>
                    <a:pt x="1600798" y="65301"/>
                  </a:cubicBezTo>
                  <a:lnTo>
                    <a:pt x="1600798" y="280460"/>
                  </a:lnTo>
                  <a:cubicBezTo>
                    <a:pt x="1600798" y="316525"/>
                    <a:pt x="1571562" y="345761"/>
                    <a:pt x="1535497" y="345761"/>
                  </a:cubicBezTo>
                  <a:lnTo>
                    <a:pt x="65301" y="345761"/>
                  </a:lnTo>
                  <a:cubicBezTo>
                    <a:pt x="29236" y="345761"/>
                    <a:pt x="0" y="316525"/>
                    <a:pt x="0" y="280460"/>
                  </a:cubicBezTo>
                  <a:lnTo>
                    <a:pt x="0" y="65301"/>
                  </a:lnTo>
                  <a:cubicBezTo>
                    <a:pt x="0" y="29236"/>
                    <a:pt x="29236" y="0"/>
                    <a:pt x="65301" y="0"/>
                  </a:cubicBezTo>
                  <a:close/>
                </a:path>
              </a:pathLst>
            </a:custGeom>
            <a:solidFill>
              <a:srgbClr val="FAFDFF"/>
            </a:solidFill>
          </p:spPr>
        </p:sp>
        <p:sp>
          <p:nvSpPr>
            <p:cNvPr name="TextBox 10" id="10"/>
            <p:cNvSpPr txBox="true"/>
            <p:nvPr/>
          </p:nvSpPr>
          <p:spPr>
            <a:xfrm>
              <a:off x="0" y="-47625"/>
              <a:ext cx="1600798" cy="393386"/>
            </a:xfrm>
            <a:prstGeom prst="rect">
              <a:avLst/>
            </a:prstGeom>
          </p:spPr>
          <p:txBody>
            <a:bodyPr anchor="ctr" rtlCol="false" tIns="50800" lIns="50800" bIns="50800" rIns="50800"/>
            <a:lstStyle/>
            <a:p>
              <a:pPr algn="ctr">
                <a:lnSpc>
                  <a:spcPts val="2800"/>
                </a:lnSpc>
              </a:pPr>
            </a:p>
          </p:txBody>
        </p:sp>
      </p:grpSp>
      <p:sp>
        <p:nvSpPr>
          <p:cNvPr name="TextBox 11" id="11"/>
          <p:cNvSpPr txBox="true"/>
          <p:nvPr/>
        </p:nvSpPr>
        <p:spPr>
          <a:xfrm rot="0">
            <a:off x="7010497" y="5318824"/>
            <a:ext cx="7316674" cy="1556915"/>
          </a:xfrm>
          <a:prstGeom prst="rect">
            <a:avLst/>
          </a:prstGeom>
        </p:spPr>
        <p:txBody>
          <a:bodyPr anchor="t" rtlCol="false" tIns="0" lIns="0" bIns="0" rIns="0">
            <a:spAutoFit/>
          </a:bodyPr>
          <a:lstStyle/>
          <a:p>
            <a:pPr algn="l">
              <a:lnSpc>
                <a:spcPts val="4291"/>
              </a:lnSpc>
            </a:pPr>
            <a:r>
              <a:rPr lang="en-US" sz="2509">
                <a:solidFill>
                  <a:srgbClr val="1C0140"/>
                </a:solidFill>
                <a:latin typeface="Proxima Nova"/>
                <a:ea typeface="Proxima Nova"/>
                <a:cs typeface="Proxima Nova"/>
                <a:sym typeface="Proxima Nova"/>
              </a:rPr>
              <a:t>Hạn chế: Thiếu giao diện quản lý tiến trình trực quan, gây mất thời gian khi cần tải lượng dữ liệu lớn.</a:t>
            </a:r>
          </a:p>
          <a:p>
            <a:pPr algn="l">
              <a:lnSpc>
                <a:spcPts val="4291"/>
              </a:lnSpc>
            </a:pPr>
          </a:p>
        </p:txBody>
      </p:sp>
      <p:grpSp>
        <p:nvGrpSpPr>
          <p:cNvPr name="Group 12" id="12"/>
          <p:cNvGrpSpPr/>
          <p:nvPr/>
        </p:nvGrpSpPr>
        <p:grpSpPr>
          <a:xfrm rot="0">
            <a:off x="5635557" y="2994368"/>
            <a:ext cx="8684792" cy="1692209"/>
            <a:chOff x="0" y="0"/>
            <a:chExt cx="1750222" cy="341026"/>
          </a:xfrm>
        </p:grpSpPr>
        <p:sp>
          <p:nvSpPr>
            <p:cNvPr name="Freeform 13" id="13"/>
            <p:cNvSpPr/>
            <p:nvPr/>
          </p:nvSpPr>
          <p:spPr>
            <a:xfrm flipH="false" flipV="false" rot="0">
              <a:off x="0" y="0"/>
              <a:ext cx="1750222" cy="341026"/>
            </a:xfrm>
            <a:custGeom>
              <a:avLst/>
              <a:gdLst/>
              <a:ahLst/>
              <a:cxnLst/>
              <a:rect r="r" b="b" t="t" l="l"/>
              <a:pathLst>
                <a:path h="341026" w="1750222">
                  <a:moveTo>
                    <a:pt x="59726" y="0"/>
                  </a:moveTo>
                  <a:lnTo>
                    <a:pt x="1690496" y="0"/>
                  </a:lnTo>
                  <a:cubicBezTo>
                    <a:pt x="1706336" y="0"/>
                    <a:pt x="1721528" y="6293"/>
                    <a:pt x="1732729" y="17493"/>
                  </a:cubicBezTo>
                  <a:cubicBezTo>
                    <a:pt x="1743929" y="28694"/>
                    <a:pt x="1750222" y="43886"/>
                    <a:pt x="1750222" y="59726"/>
                  </a:cubicBezTo>
                  <a:lnTo>
                    <a:pt x="1750222" y="281300"/>
                  </a:lnTo>
                  <a:cubicBezTo>
                    <a:pt x="1750222" y="314286"/>
                    <a:pt x="1723482" y="341026"/>
                    <a:pt x="1690496" y="341026"/>
                  </a:cubicBezTo>
                  <a:lnTo>
                    <a:pt x="59726" y="341026"/>
                  </a:lnTo>
                  <a:cubicBezTo>
                    <a:pt x="43886" y="341026"/>
                    <a:pt x="28694" y="334734"/>
                    <a:pt x="17493" y="323533"/>
                  </a:cubicBezTo>
                  <a:cubicBezTo>
                    <a:pt x="6293" y="312332"/>
                    <a:pt x="0" y="297140"/>
                    <a:pt x="0" y="281300"/>
                  </a:cubicBezTo>
                  <a:lnTo>
                    <a:pt x="0" y="59726"/>
                  </a:lnTo>
                  <a:cubicBezTo>
                    <a:pt x="0" y="43886"/>
                    <a:pt x="6293" y="28694"/>
                    <a:pt x="17493" y="17493"/>
                  </a:cubicBezTo>
                  <a:cubicBezTo>
                    <a:pt x="28694" y="6293"/>
                    <a:pt x="43886" y="0"/>
                    <a:pt x="59726" y="0"/>
                  </a:cubicBezTo>
                  <a:close/>
                </a:path>
              </a:pathLst>
            </a:custGeom>
            <a:solidFill>
              <a:srgbClr val="FAFDFF"/>
            </a:solidFill>
          </p:spPr>
        </p:sp>
        <p:sp>
          <p:nvSpPr>
            <p:cNvPr name="TextBox 14" id="14"/>
            <p:cNvSpPr txBox="true"/>
            <p:nvPr/>
          </p:nvSpPr>
          <p:spPr>
            <a:xfrm>
              <a:off x="0" y="-47625"/>
              <a:ext cx="1750222" cy="388651"/>
            </a:xfrm>
            <a:prstGeom prst="rect">
              <a:avLst/>
            </a:prstGeom>
          </p:spPr>
          <p:txBody>
            <a:bodyPr anchor="ctr" rtlCol="false" tIns="50800" lIns="50800" bIns="50800" rIns="50800"/>
            <a:lstStyle/>
            <a:p>
              <a:pPr algn="ctr">
                <a:lnSpc>
                  <a:spcPts val="2800"/>
                </a:lnSpc>
              </a:pPr>
            </a:p>
          </p:txBody>
        </p:sp>
      </p:grpSp>
      <p:sp>
        <p:nvSpPr>
          <p:cNvPr name="TextBox 15" id="15"/>
          <p:cNvSpPr txBox="true"/>
          <p:nvPr/>
        </p:nvSpPr>
        <p:spPr>
          <a:xfrm rot="0">
            <a:off x="6239521" y="3155668"/>
            <a:ext cx="7524471" cy="1108233"/>
          </a:xfrm>
          <a:prstGeom prst="rect">
            <a:avLst/>
          </a:prstGeom>
        </p:spPr>
        <p:txBody>
          <a:bodyPr anchor="t" rtlCol="false" tIns="0" lIns="0" bIns="0" rIns="0">
            <a:spAutoFit/>
          </a:bodyPr>
          <a:lstStyle/>
          <a:p>
            <a:pPr algn="l">
              <a:lnSpc>
                <a:spcPts val="4655"/>
              </a:lnSpc>
            </a:pPr>
            <a:r>
              <a:rPr lang="en-US" sz="2722">
                <a:solidFill>
                  <a:srgbClr val="1C0140"/>
                </a:solidFill>
                <a:latin typeface="Proxima Nova"/>
                <a:ea typeface="Proxima Nova"/>
                <a:cs typeface="Proxima Nova"/>
                <a:sym typeface="Proxima Nova"/>
              </a:rPr>
              <a:t>Vấn đề: Các trình tải file cơ bản hiện nay thường chỉ cho phép tải từng file riêng lẻ.</a:t>
            </a:r>
          </a:p>
        </p:txBody>
      </p:sp>
      <p:sp>
        <p:nvSpPr>
          <p:cNvPr name="Freeform 16" id="16"/>
          <p:cNvSpPr/>
          <p:nvPr/>
        </p:nvSpPr>
        <p:spPr>
          <a:xfrm flipH="false" flipV="false" rot="0">
            <a:off x="-808829" y="3279493"/>
            <a:ext cx="2708287" cy="4114800"/>
          </a:xfrm>
          <a:custGeom>
            <a:avLst/>
            <a:gdLst/>
            <a:ahLst/>
            <a:cxnLst/>
            <a:rect r="r" b="b" t="t" l="l"/>
            <a:pathLst>
              <a:path h="4114800" w="2708287">
                <a:moveTo>
                  <a:pt x="0" y="0"/>
                </a:moveTo>
                <a:lnTo>
                  <a:pt x="2708287" y="0"/>
                </a:lnTo>
                <a:lnTo>
                  <a:pt x="2708287"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7" id="17"/>
          <p:cNvGrpSpPr/>
          <p:nvPr/>
        </p:nvGrpSpPr>
        <p:grpSpPr>
          <a:xfrm rot="0">
            <a:off x="6006287" y="7250009"/>
            <a:ext cx="9331948" cy="2679235"/>
            <a:chOff x="0" y="0"/>
            <a:chExt cx="1880642" cy="539939"/>
          </a:xfrm>
        </p:grpSpPr>
        <p:sp>
          <p:nvSpPr>
            <p:cNvPr name="Freeform 18" id="18"/>
            <p:cNvSpPr/>
            <p:nvPr/>
          </p:nvSpPr>
          <p:spPr>
            <a:xfrm flipH="false" flipV="false" rot="0">
              <a:off x="0" y="0"/>
              <a:ext cx="1880642" cy="539939"/>
            </a:xfrm>
            <a:custGeom>
              <a:avLst/>
              <a:gdLst/>
              <a:ahLst/>
              <a:cxnLst/>
              <a:rect r="r" b="b" t="t" l="l"/>
              <a:pathLst>
                <a:path h="539939" w="1880642">
                  <a:moveTo>
                    <a:pt x="55584" y="0"/>
                  </a:moveTo>
                  <a:lnTo>
                    <a:pt x="1825057" y="0"/>
                  </a:lnTo>
                  <a:cubicBezTo>
                    <a:pt x="1855756" y="0"/>
                    <a:pt x="1880642" y="24886"/>
                    <a:pt x="1880642" y="55584"/>
                  </a:cubicBezTo>
                  <a:lnTo>
                    <a:pt x="1880642" y="484355"/>
                  </a:lnTo>
                  <a:cubicBezTo>
                    <a:pt x="1880642" y="499096"/>
                    <a:pt x="1874785" y="513234"/>
                    <a:pt x="1864361" y="523658"/>
                  </a:cubicBezTo>
                  <a:cubicBezTo>
                    <a:pt x="1853937" y="534083"/>
                    <a:pt x="1839799" y="539939"/>
                    <a:pt x="1825057" y="539939"/>
                  </a:cubicBezTo>
                  <a:lnTo>
                    <a:pt x="55584" y="539939"/>
                  </a:lnTo>
                  <a:cubicBezTo>
                    <a:pt x="24886" y="539939"/>
                    <a:pt x="0" y="515053"/>
                    <a:pt x="0" y="484355"/>
                  </a:cubicBezTo>
                  <a:lnTo>
                    <a:pt x="0" y="55584"/>
                  </a:lnTo>
                  <a:cubicBezTo>
                    <a:pt x="0" y="24886"/>
                    <a:pt x="24886" y="0"/>
                    <a:pt x="55584" y="0"/>
                  </a:cubicBezTo>
                  <a:close/>
                </a:path>
              </a:pathLst>
            </a:custGeom>
            <a:solidFill>
              <a:srgbClr val="FAFDFF"/>
            </a:solidFill>
          </p:spPr>
        </p:sp>
        <p:sp>
          <p:nvSpPr>
            <p:cNvPr name="TextBox 19" id="19"/>
            <p:cNvSpPr txBox="true"/>
            <p:nvPr/>
          </p:nvSpPr>
          <p:spPr>
            <a:xfrm>
              <a:off x="0" y="-47625"/>
              <a:ext cx="1880642" cy="587564"/>
            </a:xfrm>
            <a:prstGeom prst="rect">
              <a:avLst/>
            </a:prstGeom>
          </p:spPr>
          <p:txBody>
            <a:bodyPr anchor="ctr" rtlCol="false" tIns="50800" lIns="50800" bIns="50800" rIns="50800"/>
            <a:lstStyle/>
            <a:p>
              <a:pPr algn="ctr">
                <a:lnSpc>
                  <a:spcPts val="2800"/>
                </a:lnSpc>
              </a:pPr>
            </a:p>
          </p:txBody>
        </p:sp>
      </p:grpSp>
      <p:sp>
        <p:nvSpPr>
          <p:cNvPr name="TextBox 20" id="20"/>
          <p:cNvSpPr txBox="true"/>
          <p:nvPr/>
        </p:nvSpPr>
        <p:spPr>
          <a:xfrm rot="0">
            <a:off x="6421555" y="7404497"/>
            <a:ext cx="8589878" cy="3354427"/>
          </a:xfrm>
          <a:prstGeom prst="rect">
            <a:avLst/>
          </a:prstGeom>
        </p:spPr>
        <p:txBody>
          <a:bodyPr anchor="t" rtlCol="false" tIns="0" lIns="0" bIns="0" rIns="0">
            <a:spAutoFit/>
          </a:bodyPr>
          <a:lstStyle/>
          <a:p>
            <a:pPr algn="l">
              <a:lnSpc>
                <a:spcPts val="4535"/>
              </a:lnSpc>
            </a:pPr>
            <a:r>
              <a:rPr lang="en-US" sz="2652">
                <a:solidFill>
                  <a:srgbClr val="1C0140"/>
                </a:solidFill>
                <a:latin typeface="Proxima Nova"/>
                <a:ea typeface="Proxima Nova"/>
                <a:cs typeface="Proxima Nova"/>
                <a:sym typeface="Proxima Nova"/>
              </a:rPr>
              <a:t>Giải pháp: Đề tài "Ứng dụng Download Multi File qua mạng" được xây dựng nhằm giải quyết nhu cầu tải nhiều file đồng thời, áp dụng kiến thức Lập trình mạng, Socket và xử lý Đa luồng.</a:t>
            </a:r>
          </a:p>
          <a:p>
            <a:pPr algn="l">
              <a:lnSpc>
                <a:spcPts val="4535"/>
              </a:lnSpc>
            </a:pPr>
          </a:p>
          <a:p>
            <a:pPr algn="l">
              <a:lnSpc>
                <a:spcPts val="4535"/>
              </a:lnSpc>
            </a:pPr>
          </a:p>
        </p:txBody>
      </p:sp>
      <p:sp>
        <p:nvSpPr>
          <p:cNvPr name="Freeform 21" id="21"/>
          <p:cNvSpPr/>
          <p:nvPr/>
        </p:nvSpPr>
        <p:spPr>
          <a:xfrm flipH="false" flipV="false" rot="0">
            <a:off x="16550936" y="8698761"/>
            <a:ext cx="1607272" cy="1789473"/>
          </a:xfrm>
          <a:custGeom>
            <a:avLst/>
            <a:gdLst/>
            <a:ahLst/>
            <a:cxnLst/>
            <a:rect r="r" b="b" t="t" l="l"/>
            <a:pathLst>
              <a:path h="1789473" w="1607272">
                <a:moveTo>
                  <a:pt x="0" y="0"/>
                </a:moveTo>
                <a:lnTo>
                  <a:pt x="1607271" y="0"/>
                </a:lnTo>
                <a:lnTo>
                  <a:pt x="1607271" y="1789473"/>
                </a:lnTo>
                <a:lnTo>
                  <a:pt x="0" y="178947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14508848" y="571801"/>
            <a:ext cx="4106217" cy="4571699"/>
          </a:xfrm>
          <a:custGeom>
            <a:avLst/>
            <a:gdLst/>
            <a:ahLst/>
            <a:cxnLst/>
            <a:rect r="r" b="b" t="t" l="l"/>
            <a:pathLst>
              <a:path h="4571699" w="4106217">
                <a:moveTo>
                  <a:pt x="0" y="0"/>
                </a:moveTo>
                <a:lnTo>
                  <a:pt x="4106217" y="0"/>
                </a:lnTo>
                <a:lnTo>
                  <a:pt x="4106217" y="4571699"/>
                </a:lnTo>
                <a:lnTo>
                  <a:pt x="0" y="45716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093875" y="-432512"/>
            <a:ext cx="3898412" cy="4571699"/>
          </a:xfrm>
          <a:custGeom>
            <a:avLst/>
            <a:gdLst/>
            <a:ahLst/>
            <a:cxnLst/>
            <a:rect r="r" b="b" t="t" l="l"/>
            <a:pathLst>
              <a:path h="4571699" w="3898412">
                <a:moveTo>
                  <a:pt x="0" y="0"/>
                </a:moveTo>
                <a:lnTo>
                  <a:pt x="3898413" y="0"/>
                </a:lnTo>
                <a:lnTo>
                  <a:pt x="3898413" y="4571699"/>
                </a:lnTo>
                <a:lnTo>
                  <a:pt x="0" y="45716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60507" y="5341746"/>
            <a:ext cx="3341496" cy="4571699"/>
          </a:xfrm>
          <a:custGeom>
            <a:avLst/>
            <a:gdLst/>
            <a:ahLst/>
            <a:cxnLst/>
            <a:rect r="r" b="b" t="t" l="l"/>
            <a:pathLst>
              <a:path h="4571699" w="3341496">
                <a:moveTo>
                  <a:pt x="0" y="0"/>
                </a:moveTo>
                <a:lnTo>
                  <a:pt x="3341497" y="0"/>
                </a:lnTo>
                <a:lnTo>
                  <a:pt x="3341497" y="4571699"/>
                </a:lnTo>
                <a:lnTo>
                  <a:pt x="0" y="45716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043082" y="4139187"/>
            <a:ext cx="2644244" cy="4516565"/>
          </a:xfrm>
          <a:custGeom>
            <a:avLst/>
            <a:gdLst/>
            <a:ahLst/>
            <a:cxnLst/>
            <a:rect r="r" b="b" t="t" l="l"/>
            <a:pathLst>
              <a:path h="4516565" w="2644244">
                <a:moveTo>
                  <a:pt x="0" y="0"/>
                </a:moveTo>
                <a:lnTo>
                  <a:pt x="2644243" y="0"/>
                </a:lnTo>
                <a:lnTo>
                  <a:pt x="2644243" y="4516565"/>
                </a:lnTo>
                <a:lnTo>
                  <a:pt x="0" y="45165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543327" y="535189"/>
            <a:ext cx="9745190" cy="1320397"/>
          </a:xfrm>
          <a:prstGeom prst="rect">
            <a:avLst/>
          </a:prstGeom>
        </p:spPr>
        <p:txBody>
          <a:bodyPr anchor="t" rtlCol="false" tIns="0" lIns="0" bIns="0" rIns="0">
            <a:spAutoFit/>
          </a:bodyPr>
          <a:lstStyle/>
          <a:p>
            <a:pPr algn="just">
              <a:lnSpc>
                <a:spcPts val="9554"/>
              </a:lnSpc>
            </a:pPr>
            <a:r>
              <a:rPr lang="en-US" b="true" sz="10856" spc="-683">
                <a:solidFill>
                  <a:srgbClr val="1C0140"/>
                </a:solidFill>
                <a:latin typeface="Proxima Nova Bold"/>
                <a:ea typeface="Proxima Nova Bold"/>
                <a:cs typeface="Proxima Nova Bold"/>
                <a:sym typeface="Proxima Nova Bold"/>
              </a:rPr>
              <a:t>Mục tiêu cốt lõi</a:t>
            </a:r>
          </a:p>
        </p:txBody>
      </p:sp>
      <p:sp>
        <p:nvSpPr>
          <p:cNvPr name="Freeform 7" id="7"/>
          <p:cNvSpPr/>
          <p:nvPr/>
        </p:nvSpPr>
        <p:spPr>
          <a:xfrm flipH="false" flipV="false" rot="0">
            <a:off x="11359597" y="8847953"/>
            <a:ext cx="4100910" cy="2878093"/>
          </a:xfrm>
          <a:custGeom>
            <a:avLst/>
            <a:gdLst/>
            <a:ahLst/>
            <a:cxnLst/>
            <a:rect r="r" b="b" t="t" l="l"/>
            <a:pathLst>
              <a:path h="2878093" w="4100910">
                <a:moveTo>
                  <a:pt x="0" y="0"/>
                </a:moveTo>
                <a:lnTo>
                  <a:pt x="4100910" y="0"/>
                </a:lnTo>
                <a:lnTo>
                  <a:pt x="4100910" y="2878094"/>
                </a:lnTo>
                <a:lnTo>
                  <a:pt x="0" y="28780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8" id="8"/>
          <p:cNvGrpSpPr/>
          <p:nvPr/>
        </p:nvGrpSpPr>
        <p:grpSpPr>
          <a:xfrm rot="0">
            <a:off x="698256" y="1855586"/>
            <a:ext cx="8105676" cy="3590187"/>
            <a:chOff x="0" y="0"/>
            <a:chExt cx="1633514" cy="723520"/>
          </a:xfrm>
        </p:grpSpPr>
        <p:sp>
          <p:nvSpPr>
            <p:cNvPr name="Freeform 9" id="9"/>
            <p:cNvSpPr/>
            <p:nvPr/>
          </p:nvSpPr>
          <p:spPr>
            <a:xfrm flipH="false" flipV="false" rot="0">
              <a:off x="0" y="0"/>
              <a:ext cx="1633514" cy="723520"/>
            </a:xfrm>
            <a:custGeom>
              <a:avLst/>
              <a:gdLst/>
              <a:ahLst/>
              <a:cxnLst/>
              <a:rect r="r" b="b" t="t" l="l"/>
              <a:pathLst>
                <a:path h="723520" w="1633514">
                  <a:moveTo>
                    <a:pt x="63038" y="0"/>
                  </a:moveTo>
                  <a:lnTo>
                    <a:pt x="1570476" y="0"/>
                  </a:lnTo>
                  <a:cubicBezTo>
                    <a:pt x="1587195" y="0"/>
                    <a:pt x="1603229" y="6641"/>
                    <a:pt x="1615051" y="18463"/>
                  </a:cubicBezTo>
                  <a:cubicBezTo>
                    <a:pt x="1626873" y="30285"/>
                    <a:pt x="1633514" y="46319"/>
                    <a:pt x="1633514" y="63038"/>
                  </a:cubicBezTo>
                  <a:lnTo>
                    <a:pt x="1633514" y="660482"/>
                  </a:lnTo>
                  <a:cubicBezTo>
                    <a:pt x="1633514" y="695297"/>
                    <a:pt x="1605291" y="723520"/>
                    <a:pt x="1570476" y="723520"/>
                  </a:cubicBezTo>
                  <a:lnTo>
                    <a:pt x="63038" y="723520"/>
                  </a:lnTo>
                  <a:cubicBezTo>
                    <a:pt x="46319" y="723520"/>
                    <a:pt x="30285" y="716879"/>
                    <a:pt x="18463" y="705057"/>
                  </a:cubicBezTo>
                  <a:cubicBezTo>
                    <a:pt x="6641" y="693235"/>
                    <a:pt x="0" y="677201"/>
                    <a:pt x="0" y="660482"/>
                  </a:cubicBezTo>
                  <a:lnTo>
                    <a:pt x="0" y="63038"/>
                  </a:lnTo>
                  <a:cubicBezTo>
                    <a:pt x="0" y="28223"/>
                    <a:pt x="28223" y="0"/>
                    <a:pt x="63038" y="0"/>
                  </a:cubicBezTo>
                  <a:close/>
                </a:path>
              </a:pathLst>
            </a:custGeom>
            <a:solidFill>
              <a:srgbClr val="FAFDFF"/>
            </a:solidFill>
          </p:spPr>
        </p:sp>
        <p:sp>
          <p:nvSpPr>
            <p:cNvPr name="TextBox 10" id="10"/>
            <p:cNvSpPr txBox="true"/>
            <p:nvPr/>
          </p:nvSpPr>
          <p:spPr>
            <a:xfrm>
              <a:off x="0" y="-57150"/>
              <a:ext cx="1633514" cy="780670"/>
            </a:xfrm>
            <a:prstGeom prst="rect">
              <a:avLst/>
            </a:prstGeom>
          </p:spPr>
          <p:txBody>
            <a:bodyPr anchor="ctr" rtlCol="false" tIns="50800" lIns="50800" bIns="50800" rIns="50800"/>
            <a:lstStyle/>
            <a:p>
              <a:pPr algn="ctr">
                <a:lnSpc>
                  <a:spcPts val="3639"/>
                </a:lnSpc>
              </a:pPr>
            </a:p>
            <a:p>
              <a:pPr algn="ctr">
                <a:lnSpc>
                  <a:spcPts val="2800"/>
                </a:lnSpc>
              </a:pPr>
            </a:p>
          </p:txBody>
        </p:sp>
      </p:grpSp>
      <p:grpSp>
        <p:nvGrpSpPr>
          <p:cNvPr name="Group 11" id="11"/>
          <p:cNvGrpSpPr/>
          <p:nvPr/>
        </p:nvGrpSpPr>
        <p:grpSpPr>
          <a:xfrm rot="0">
            <a:off x="2981896" y="6153494"/>
            <a:ext cx="7723740" cy="3879979"/>
            <a:chOff x="0" y="0"/>
            <a:chExt cx="1674127" cy="840903"/>
          </a:xfrm>
        </p:grpSpPr>
        <p:sp>
          <p:nvSpPr>
            <p:cNvPr name="Freeform 12" id="12"/>
            <p:cNvSpPr/>
            <p:nvPr/>
          </p:nvSpPr>
          <p:spPr>
            <a:xfrm flipH="false" flipV="false" rot="0">
              <a:off x="0" y="0"/>
              <a:ext cx="1674127" cy="840903"/>
            </a:xfrm>
            <a:custGeom>
              <a:avLst/>
              <a:gdLst/>
              <a:ahLst/>
              <a:cxnLst/>
              <a:rect r="r" b="b" t="t" l="l"/>
              <a:pathLst>
                <a:path h="840903" w="1674127">
                  <a:moveTo>
                    <a:pt x="1674127" y="66155"/>
                  </a:moveTo>
                  <a:lnTo>
                    <a:pt x="1674127" y="774747"/>
                  </a:lnTo>
                  <a:cubicBezTo>
                    <a:pt x="1674127" y="792293"/>
                    <a:pt x="1667157" y="809120"/>
                    <a:pt x="1654750" y="821526"/>
                  </a:cubicBezTo>
                  <a:cubicBezTo>
                    <a:pt x="1642344" y="833933"/>
                    <a:pt x="1625517" y="840903"/>
                    <a:pt x="1607971" y="840903"/>
                  </a:cubicBezTo>
                  <a:lnTo>
                    <a:pt x="66155" y="840903"/>
                  </a:lnTo>
                  <a:cubicBezTo>
                    <a:pt x="48610" y="840903"/>
                    <a:pt x="31783" y="833933"/>
                    <a:pt x="19376" y="821526"/>
                  </a:cubicBezTo>
                  <a:cubicBezTo>
                    <a:pt x="6970" y="809120"/>
                    <a:pt x="0" y="792293"/>
                    <a:pt x="0" y="774747"/>
                  </a:cubicBezTo>
                  <a:lnTo>
                    <a:pt x="0" y="66155"/>
                  </a:lnTo>
                  <a:cubicBezTo>
                    <a:pt x="0" y="48610"/>
                    <a:pt x="6970" y="31783"/>
                    <a:pt x="19376" y="19376"/>
                  </a:cubicBezTo>
                  <a:cubicBezTo>
                    <a:pt x="31783" y="6970"/>
                    <a:pt x="48610" y="0"/>
                    <a:pt x="66155" y="0"/>
                  </a:cubicBezTo>
                  <a:lnTo>
                    <a:pt x="1607971" y="0"/>
                  </a:lnTo>
                  <a:cubicBezTo>
                    <a:pt x="1625517" y="0"/>
                    <a:pt x="1642344" y="6970"/>
                    <a:pt x="1654750" y="19376"/>
                  </a:cubicBezTo>
                  <a:cubicBezTo>
                    <a:pt x="1667157" y="31783"/>
                    <a:pt x="1674127" y="48610"/>
                    <a:pt x="1674127" y="66155"/>
                  </a:cubicBezTo>
                  <a:close/>
                </a:path>
              </a:pathLst>
            </a:custGeom>
            <a:solidFill>
              <a:srgbClr val="FAFDFF"/>
            </a:solidFill>
          </p:spPr>
        </p:sp>
        <p:sp>
          <p:nvSpPr>
            <p:cNvPr name="TextBox 13" id="13"/>
            <p:cNvSpPr txBox="true"/>
            <p:nvPr/>
          </p:nvSpPr>
          <p:spPr>
            <a:xfrm>
              <a:off x="0" y="-38100"/>
              <a:ext cx="1674127" cy="879003"/>
            </a:xfrm>
            <a:prstGeom prst="rect">
              <a:avLst/>
            </a:prstGeom>
          </p:spPr>
          <p:txBody>
            <a:bodyPr anchor="ctr" rtlCol="false" tIns="50800" lIns="50800" bIns="50800" rIns="50800"/>
            <a:lstStyle/>
            <a:p>
              <a:pPr algn="l">
                <a:lnSpc>
                  <a:spcPts val="2940"/>
                </a:lnSpc>
              </a:pPr>
            </a:p>
          </p:txBody>
        </p:sp>
      </p:grpSp>
      <p:sp>
        <p:nvSpPr>
          <p:cNvPr name="TextBox 14" id="14"/>
          <p:cNvSpPr txBox="true"/>
          <p:nvPr/>
        </p:nvSpPr>
        <p:spPr>
          <a:xfrm rot="0">
            <a:off x="1020404" y="2298724"/>
            <a:ext cx="7356267" cy="2627037"/>
          </a:xfrm>
          <a:prstGeom prst="rect">
            <a:avLst/>
          </a:prstGeom>
        </p:spPr>
        <p:txBody>
          <a:bodyPr anchor="t" rtlCol="false" tIns="0" lIns="0" bIns="0" rIns="0">
            <a:spAutoFit/>
          </a:bodyPr>
          <a:lstStyle/>
          <a:p>
            <a:pPr algn="l" marL="541892" indent="-270946" lvl="1">
              <a:lnSpc>
                <a:spcPts val="4291"/>
              </a:lnSpc>
              <a:buFont typeface="Arial"/>
              <a:buChar char="•"/>
            </a:pPr>
            <a:r>
              <a:rPr lang="en-US" sz="2509">
                <a:solidFill>
                  <a:srgbClr val="1C0140"/>
                </a:solidFill>
                <a:latin typeface="Proxima Nova"/>
                <a:ea typeface="Proxima Nova"/>
                <a:cs typeface="Proxima Nova"/>
                <a:sym typeface="Proxima Nova"/>
              </a:rPr>
              <a:t>Cấu trúc: Xây dựng phần mềm hoạt động chặt chẽ theo mô hình Client – Server qua giao thức TCP.</a:t>
            </a:r>
          </a:p>
          <a:p>
            <a:pPr algn="l" marL="541892" indent="-270946" lvl="1">
              <a:lnSpc>
                <a:spcPts val="4291"/>
              </a:lnSpc>
              <a:buFont typeface="Arial"/>
              <a:buChar char="•"/>
            </a:pPr>
            <a:r>
              <a:rPr lang="en-US" sz="2509">
                <a:solidFill>
                  <a:srgbClr val="1C0140"/>
                </a:solidFill>
                <a:latin typeface="Proxima Nova"/>
                <a:ea typeface="Proxima Nova"/>
                <a:cs typeface="Proxima Nova"/>
                <a:sym typeface="Proxima Nova"/>
              </a:rPr>
              <a:t>Giao diện: Thiết kế GUI thân thiện, trải nghiệm mượt mà.</a:t>
            </a:r>
          </a:p>
        </p:txBody>
      </p:sp>
      <p:sp>
        <p:nvSpPr>
          <p:cNvPr name="TextBox 15" id="15"/>
          <p:cNvSpPr txBox="true"/>
          <p:nvPr/>
        </p:nvSpPr>
        <p:spPr>
          <a:xfrm rot="0">
            <a:off x="3626520" y="6477441"/>
            <a:ext cx="6434491" cy="3559447"/>
          </a:xfrm>
          <a:prstGeom prst="rect">
            <a:avLst/>
          </a:prstGeom>
        </p:spPr>
        <p:txBody>
          <a:bodyPr anchor="t" rtlCol="false" tIns="0" lIns="0" bIns="0" rIns="0">
            <a:spAutoFit/>
          </a:bodyPr>
          <a:lstStyle/>
          <a:p>
            <a:pPr algn="l">
              <a:lnSpc>
                <a:spcPts val="4100"/>
              </a:lnSpc>
            </a:pPr>
            <a:r>
              <a:rPr lang="en-US" sz="2397">
                <a:solidFill>
                  <a:srgbClr val="1C0140"/>
                </a:solidFill>
                <a:latin typeface="Proxima Nova"/>
                <a:ea typeface="Proxima Nova"/>
                <a:cs typeface="Proxima Nova"/>
                <a:sym typeface="Proxima Nova"/>
              </a:rPr>
              <a:t>Tính năng chính</a:t>
            </a:r>
          </a:p>
          <a:p>
            <a:pPr algn="l" marL="517677" indent="-258839" lvl="1">
              <a:lnSpc>
                <a:spcPts val="4100"/>
              </a:lnSpc>
              <a:buFont typeface="Arial"/>
              <a:buChar char="•"/>
            </a:pPr>
            <a:r>
              <a:rPr lang="en-US" sz="2397">
                <a:solidFill>
                  <a:srgbClr val="1C0140"/>
                </a:solidFill>
                <a:latin typeface="Proxima Nova"/>
                <a:ea typeface="Proxima Nova"/>
                <a:cs typeface="Proxima Nova"/>
                <a:sym typeface="Proxima Nova"/>
              </a:rPr>
              <a:t>Truy xuất danh sách file từ máy chủ (Server).</a:t>
            </a:r>
          </a:p>
          <a:p>
            <a:pPr algn="l" marL="517677" indent="-258839" lvl="1">
              <a:lnSpc>
                <a:spcPts val="4100"/>
              </a:lnSpc>
              <a:buFont typeface="Arial"/>
              <a:buChar char="•"/>
            </a:pPr>
            <a:r>
              <a:rPr lang="en-US" sz="2397">
                <a:solidFill>
                  <a:srgbClr val="1C0140"/>
                </a:solidFill>
                <a:latin typeface="Proxima Nova"/>
                <a:ea typeface="Proxima Nova"/>
                <a:cs typeface="Proxima Nova"/>
                <a:sym typeface="Proxima Nova"/>
              </a:rPr>
              <a:t>Sử dụng kỹ thuật đa luồng để tải nhiều tệp cùng lúc.</a:t>
            </a:r>
          </a:p>
          <a:p>
            <a:pPr algn="l" marL="517677" indent="-258839" lvl="1">
              <a:lnSpc>
                <a:spcPts val="4100"/>
              </a:lnSpc>
              <a:buFont typeface="Arial"/>
              <a:buChar char="•"/>
            </a:pPr>
            <a:r>
              <a:rPr lang="en-US" sz="2397">
                <a:solidFill>
                  <a:srgbClr val="1C0140"/>
                </a:solidFill>
                <a:latin typeface="Proxima Nova"/>
                <a:ea typeface="Proxima Nova"/>
                <a:cs typeface="Proxima Nova"/>
                <a:sym typeface="Proxima Nova"/>
              </a:rPr>
              <a:t>Kiểm soát, hiển thị tốc độ &amp; thanh tiến trình (progress bar) minh bạch.</a:t>
            </a:r>
          </a:p>
          <a:p>
            <a:pPr algn="l">
              <a:lnSpc>
                <a:spcPts val="4100"/>
              </a:lnSpc>
            </a:pPr>
          </a:p>
        </p:txBody>
      </p:sp>
      <p:sp>
        <p:nvSpPr>
          <p:cNvPr name="Freeform 16" id="16"/>
          <p:cNvSpPr/>
          <p:nvPr/>
        </p:nvSpPr>
        <p:spPr>
          <a:xfrm flipH="false" flipV="false" rot="0">
            <a:off x="-497916" y="6397470"/>
            <a:ext cx="2708287" cy="4114800"/>
          </a:xfrm>
          <a:custGeom>
            <a:avLst/>
            <a:gdLst/>
            <a:ahLst/>
            <a:cxnLst/>
            <a:rect r="r" b="b" t="t" l="l"/>
            <a:pathLst>
              <a:path h="4114800" w="2708287">
                <a:moveTo>
                  <a:pt x="0" y="0"/>
                </a:moveTo>
                <a:lnTo>
                  <a:pt x="2708287" y="0"/>
                </a:lnTo>
                <a:lnTo>
                  <a:pt x="2708287"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1217683" y="7200900"/>
            <a:ext cx="4492767" cy="4386574"/>
          </a:xfrm>
          <a:custGeom>
            <a:avLst/>
            <a:gdLst/>
            <a:ahLst/>
            <a:cxnLst/>
            <a:rect r="r" b="b" t="t" l="l"/>
            <a:pathLst>
              <a:path h="4386574" w="4492767">
                <a:moveTo>
                  <a:pt x="0" y="0"/>
                </a:moveTo>
                <a:lnTo>
                  <a:pt x="4492766" y="0"/>
                </a:lnTo>
                <a:lnTo>
                  <a:pt x="4492766" y="4386574"/>
                </a:lnTo>
                <a:lnTo>
                  <a:pt x="0" y="43865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3762052" y="-1194742"/>
            <a:ext cx="3106566" cy="4250276"/>
          </a:xfrm>
          <a:custGeom>
            <a:avLst/>
            <a:gdLst/>
            <a:ahLst/>
            <a:cxnLst/>
            <a:rect r="r" b="b" t="t" l="l"/>
            <a:pathLst>
              <a:path h="4250276" w="3106566">
                <a:moveTo>
                  <a:pt x="3106566" y="0"/>
                </a:moveTo>
                <a:lnTo>
                  <a:pt x="0" y="0"/>
                </a:lnTo>
                <a:lnTo>
                  <a:pt x="0" y="4250276"/>
                </a:lnTo>
                <a:lnTo>
                  <a:pt x="3106566" y="4250276"/>
                </a:lnTo>
                <a:lnTo>
                  <a:pt x="310656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605647" y="6159729"/>
            <a:ext cx="3812587" cy="2675743"/>
          </a:xfrm>
          <a:custGeom>
            <a:avLst/>
            <a:gdLst/>
            <a:ahLst/>
            <a:cxnLst/>
            <a:rect r="r" b="b" t="t" l="l"/>
            <a:pathLst>
              <a:path h="2675743" w="3812587">
                <a:moveTo>
                  <a:pt x="0" y="0"/>
                </a:moveTo>
                <a:lnTo>
                  <a:pt x="3812587" y="0"/>
                </a:lnTo>
                <a:lnTo>
                  <a:pt x="3812587" y="2675743"/>
                </a:lnTo>
                <a:lnTo>
                  <a:pt x="0" y="267574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714311" y="8835472"/>
            <a:ext cx="4510398" cy="2903056"/>
          </a:xfrm>
          <a:custGeom>
            <a:avLst/>
            <a:gdLst/>
            <a:ahLst/>
            <a:cxnLst/>
            <a:rect r="r" b="b" t="t" l="l"/>
            <a:pathLst>
              <a:path h="2903056" w="4510398">
                <a:moveTo>
                  <a:pt x="0" y="0"/>
                </a:moveTo>
                <a:lnTo>
                  <a:pt x="4510398" y="0"/>
                </a:lnTo>
                <a:lnTo>
                  <a:pt x="4510398" y="2903056"/>
                </a:lnTo>
                <a:lnTo>
                  <a:pt x="0" y="290305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374084" y="1085026"/>
            <a:ext cx="9281749" cy="2259053"/>
          </a:xfrm>
          <a:prstGeom prst="rect">
            <a:avLst/>
          </a:prstGeom>
        </p:spPr>
        <p:txBody>
          <a:bodyPr anchor="t" rtlCol="false" tIns="0" lIns="0" bIns="0" rIns="0">
            <a:spAutoFit/>
          </a:bodyPr>
          <a:lstStyle/>
          <a:p>
            <a:pPr algn="l">
              <a:lnSpc>
                <a:spcPts val="8514"/>
              </a:lnSpc>
            </a:pPr>
            <a:r>
              <a:rPr lang="en-US" sz="9675" spc="-609" b="true">
                <a:solidFill>
                  <a:srgbClr val="1C0140"/>
                </a:solidFill>
                <a:latin typeface="Proxima Nova Bold"/>
                <a:ea typeface="Proxima Nova Bold"/>
                <a:cs typeface="Proxima Nova Bold"/>
                <a:sym typeface="Proxima Nova Bold"/>
              </a:rPr>
              <a:t>Phạm vi và đối tượng nghiên cứu</a:t>
            </a:r>
          </a:p>
        </p:txBody>
      </p:sp>
      <p:grpSp>
        <p:nvGrpSpPr>
          <p:cNvPr name="Group 7" id="7"/>
          <p:cNvGrpSpPr/>
          <p:nvPr/>
        </p:nvGrpSpPr>
        <p:grpSpPr>
          <a:xfrm rot="0">
            <a:off x="799171" y="3669004"/>
            <a:ext cx="7170486" cy="2272420"/>
            <a:chOff x="0" y="0"/>
            <a:chExt cx="1445048" cy="457954"/>
          </a:xfrm>
        </p:grpSpPr>
        <p:sp>
          <p:nvSpPr>
            <p:cNvPr name="Freeform 8" id="8"/>
            <p:cNvSpPr/>
            <p:nvPr/>
          </p:nvSpPr>
          <p:spPr>
            <a:xfrm flipH="false" flipV="false" rot="0">
              <a:off x="0" y="0"/>
              <a:ext cx="1445048" cy="457955"/>
            </a:xfrm>
            <a:custGeom>
              <a:avLst/>
              <a:gdLst/>
              <a:ahLst/>
              <a:cxnLst/>
              <a:rect r="r" b="b" t="t" l="l"/>
              <a:pathLst>
                <a:path h="457955" w="1445048">
                  <a:moveTo>
                    <a:pt x="71260" y="0"/>
                  </a:moveTo>
                  <a:lnTo>
                    <a:pt x="1373788" y="0"/>
                  </a:lnTo>
                  <a:cubicBezTo>
                    <a:pt x="1392688" y="0"/>
                    <a:pt x="1410813" y="7508"/>
                    <a:pt x="1424177" y="20871"/>
                  </a:cubicBezTo>
                  <a:cubicBezTo>
                    <a:pt x="1437540" y="34235"/>
                    <a:pt x="1445048" y="52360"/>
                    <a:pt x="1445048" y="71260"/>
                  </a:cubicBezTo>
                  <a:lnTo>
                    <a:pt x="1445048" y="386695"/>
                  </a:lnTo>
                  <a:cubicBezTo>
                    <a:pt x="1445048" y="405594"/>
                    <a:pt x="1437540" y="423719"/>
                    <a:pt x="1424177" y="437083"/>
                  </a:cubicBezTo>
                  <a:cubicBezTo>
                    <a:pt x="1410813" y="450447"/>
                    <a:pt x="1392688" y="457955"/>
                    <a:pt x="1373788" y="457955"/>
                  </a:cubicBezTo>
                  <a:lnTo>
                    <a:pt x="71260" y="457955"/>
                  </a:lnTo>
                  <a:cubicBezTo>
                    <a:pt x="52360" y="457955"/>
                    <a:pt x="34235" y="450447"/>
                    <a:pt x="20871" y="437083"/>
                  </a:cubicBezTo>
                  <a:cubicBezTo>
                    <a:pt x="7508" y="423719"/>
                    <a:pt x="0" y="405594"/>
                    <a:pt x="0" y="386695"/>
                  </a:cubicBezTo>
                  <a:lnTo>
                    <a:pt x="0" y="71260"/>
                  </a:lnTo>
                  <a:cubicBezTo>
                    <a:pt x="0" y="52360"/>
                    <a:pt x="7508" y="34235"/>
                    <a:pt x="20871" y="20871"/>
                  </a:cubicBezTo>
                  <a:cubicBezTo>
                    <a:pt x="34235" y="7508"/>
                    <a:pt x="52360" y="0"/>
                    <a:pt x="71260" y="0"/>
                  </a:cubicBezTo>
                  <a:close/>
                </a:path>
              </a:pathLst>
            </a:custGeom>
            <a:solidFill>
              <a:srgbClr val="FAFDFF"/>
            </a:solidFill>
          </p:spPr>
        </p:sp>
        <p:sp>
          <p:nvSpPr>
            <p:cNvPr name="TextBox 9" id="9"/>
            <p:cNvSpPr txBox="true"/>
            <p:nvPr/>
          </p:nvSpPr>
          <p:spPr>
            <a:xfrm>
              <a:off x="0" y="-57150"/>
              <a:ext cx="1445048" cy="515104"/>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10" id="10"/>
          <p:cNvSpPr txBox="true"/>
          <p:nvPr/>
        </p:nvSpPr>
        <p:spPr>
          <a:xfrm rot="0">
            <a:off x="1403809" y="4038143"/>
            <a:ext cx="6820901" cy="1778935"/>
          </a:xfrm>
          <a:prstGeom prst="rect">
            <a:avLst/>
          </a:prstGeom>
        </p:spPr>
        <p:txBody>
          <a:bodyPr anchor="t" rtlCol="false" tIns="0" lIns="0" bIns="0" rIns="0">
            <a:spAutoFit/>
          </a:bodyPr>
          <a:lstStyle/>
          <a:p>
            <a:pPr algn="l">
              <a:lnSpc>
                <a:spcPts val="4837"/>
              </a:lnSpc>
            </a:pPr>
            <a:r>
              <a:rPr lang="en-US" sz="2828">
                <a:solidFill>
                  <a:srgbClr val="1C0140"/>
                </a:solidFill>
                <a:latin typeface="Proxima Nova"/>
                <a:ea typeface="Proxima Nova"/>
                <a:cs typeface="Proxima Nova"/>
                <a:sym typeface="Proxima Nova"/>
              </a:rPr>
              <a:t>Đối tượng: Giao thức TCP/IP, Socket, Client-Server và Multithreading.</a:t>
            </a:r>
          </a:p>
          <a:p>
            <a:pPr algn="l">
              <a:lnSpc>
                <a:spcPts val="4837"/>
              </a:lnSpc>
            </a:pPr>
          </a:p>
        </p:txBody>
      </p:sp>
      <p:grpSp>
        <p:nvGrpSpPr>
          <p:cNvPr name="Group 11" id="11"/>
          <p:cNvGrpSpPr/>
          <p:nvPr/>
        </p:nvGrpSpPr>
        <p:grpSpPr>
          <a:xfrm rot="0">
            <a:off x="8479761" y="6314670"/>
            <a:ext cx="8068324" cy="3641112"/>
            <a:chOff x="0" y="0"/>
            <a:chExt cx="1625987" cy="733783"/>
          </a:xfrm>
        </p:grpSpPr>
        <p:sp>
          <p:nvSpPr>
            <p:cNvPr name="Freeform 12" id="12"/>
            <p:cNvSpPr/>
            <p:nvPr/>
          </p:nvSpPr>
          <p:spPr>
            <a:xfrm flipH="false" flipV="false" rot="0">
              <a:off x="0" y="0"/>
              <a:ext cx="1625987" cy="733783"/>
            </a:xfrm>
            <a:custGeom>
              <a:avLst/>
              <a:gdLst/>
              <a:ahLst/>
              <a:cxnLst/>
              <a:rect r="r" b="b" t="t" l="l"/>
              <a:pathLst>
                <a:path h="733783" w="1625987">
                  <a:moveTo>
                    <a:pt x="63330" y="0"/>
                  </a:moveTo>
                  <a:lnTo>
                    <a:pt x="1562657" y="0"/>
                  </a:lnTo>
                  <a:cubicBezTo>
                    <a:pt x="1597633" y="0"/>
                    <a:pt x="1625987" y="28354"/>
                    <a:pt x="1625987" y="63330"/>
                  </a:cubicBezTo>
                  <a:lnTo>
                    <a:pt x="1625987" y="670453"/>
                  </a:lnTo>
                  <a:cubicBezTo>
                    <a:pt x="1625987" y="687249"/>
                    <a:pt x="1619315" y="703357"/>
                    <a:pt x="1607438" y="715234"/>
                  </a:cubicBezTo>
                  <a:cubicBezTo>
                    <a:pt x="1595561" y="727111"/>
                    <a:pt x="1579453" y="733783"/>
                    <a:pt x="1562657" y="733783"/>
                  </a:cubicBezTo>
                  <a:lnTo>
                    <a:pt x="63330" y="733783"/>
                  </a:lnTo>
                  <a:cubicBezTo>
                    <a:pt x="28354" y="733783"/>
                    <a:pt x="0" y="705429"/>
                    <a:pt x="0" y="670453"/>
                  </a:cubicBezTo>
                  <a:lnTo>
                    <a:pt x="0" y="63330"/>
                  </a:lnTo>
                  <a:cubicBezTo>
                    <a:pt x="0" y="46534"/>
                    <a:pt x="6672" y="30426"/>
                    <a:pt x="18549" y="18549"/>
                  </a:cubicBezTo>
                  <a:cubicBezTo>
                    <a:pt x="30426" y="6672"/>
                    <a:pt x="46534" y="0"/>
                    <a:pt x="63330" y="0"/>
                  </a:cubicBezTo>
                  <a:close/>
                </a:path>
              </a:pathLst>
            </a:custGeom>
            <a:solidFill>
              <a:srgbClr val="FAFDFF"/>
            </a:solidFill>
          </p:spPr>
        </p:sp>
        <p:sp>
          <p:nvSpPr>
            <p:cNvPr name="TextBox 13" id="13"/>
            <p:cNvSpPr txBox="true"/>
            <p:nvPr/>
          </p:nvSpPr>
          <p:spPr>
            <a:xfrm>
              <a:off x="0" y="-57150"/>
              <a:ext cx="1625987" cy="790933"/>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14" id="14"/>
          <p:cNvSpPr txBox="true"/>
          <p:nvPr/>
        </p:nvSpPr>
        <p:spPr>
          <a:xfrm rot="0">
            <a:off x="8947962" y="6582182"/>
            <a:ext cx="6954417" cy="3662588"/>
          </a:xfrm>
          <a:prstGeom prst="rect">
            <a:avLst/>
          </a:prstGeom>
        </p:spPr>
        <p:txBody>
          <a:bodyPr anchor="t" rtlCol="false" tIns="0" lIns="0" bIns="0" rIns="0">
            <a:spAutoFit/>
          </a:bodyPr>
          <a:lstStyle/>
          <a:p>
            <a:pPr algn="l">
              <a:lnSpc>
                <a:spcPts val="4897"/>
              </a:lnSpc>
            </a:pPr>
            <a:r>
              <a:rPr lang="en-US" sz="2864">
                <a:solidFill>
                  <a:srgbClr val="1C0140"/>
                </a:solidFill>
                <a:latin typeface="Proxima Nova"/>
                <a:ea typeface="Proxima Nova"/>
                <a:cs typeface="Proxima Nova"/>
                <a:sym typeface="Proxima Nova"/>
              </a:rPr>
              <a:t>Phạm vi:</a:t>
            </a:r>
          </a:p>
          <a:p>
            <a:pPr algn="l" marL="618374" indent="-309187" lvl="1">
              <a:lnSpc>
                <a:spcPts val="4897"/>
              </a:lnSpc>
              <a:buFont typeface="Arial"/>
              <a:buChar char="•"/>
            </a:pPr>
            <a:r>
              <a:rPr lang="en-US" sz="2864">
                <a:solidFill>
                  <a:srgbClr val="1C0140"/>
                </a:solidFill>
                <a:latin typeface="Proxima Nova"/>
                <a:ea typeface="Proxima Nova"/>
                <a:cs typeface="Proxima Nova"/>
                <a:sym typeface="Proxima Nova"/>
              </a:rPr>
              <a:t>Tập trung xây dựng ứng dụng Windows truyền file nội bộ mạng lưới.</a:t>
            </a:r>
          </a:p>
          <a:p>
            <a:pPr algn="l" marL="618374" indent="-309187" lvl="1">
              <a:lnSpc>
                <a:spcPts val="4897"/>
              </a:lnSpc>
              <a:buFont typeface="Arial"/>
              <a:buChar char="•"/>
            </a:pPr>
            <a:r>
              <a:rPr lang="en-US" sz="2864">
                <a:solidFill>
                  <a:srgbClr val="1C0140"/>
                </a:solidFill>
                <a:latin typeface="Proxima Nova"/>
                <a:ea typeface="Proxima Nova"/>
                <a:cs typeface="Proxima Nova"/>
                <a:sym typeface="Proxima Nova"/>
              </a:rPr>
              <a:t>Đảm bảo chức năng kết nối, yêu cầu, truyền tải dữ liệu và ghi dữ liệu ổn định.</a:t>
            </a:r>
          </a:p>
          <a:p>
            <a:pPr algn="l">
              <a:lnSpc>
                <a:spcPts val="4897"/>
              </a:lnSpc>
            </a:pPr>
          </a:p>
        </p:txBody>
      </p:sp>
      <p:sp>
        <p:nvSpPr>
          <p:cNvPr name="Freeform 15" id="15"/>
          <p:cNvSpPr/>
          <p:nvPr/>
        </p:nvSpPr>
        <p:spPr>
          <a:xfrm flipH="true" flipV="false" rot="0">
            <a:off x="9655832" y="-698300"/>
            <a:ext cx="2430360" cy="3454000"/>
          </a:xfrm>
          <a:custGeom>
            <a:avLst/>
            <a:gdLst/>
            <a:ahLst/>
            <a:cxnLst/>
            <a:rect r="r" b="b" t="t" l="l"/>
            <a:pathLst>
              <a:path h="3454000" w="2430360">
                <a:moveTo>
                  <a:pt x="2430360" y="0"/>
                </a:moveTo>
                <a:lnTo>
                  <a:pt x="0" y="0"/>
                </a:lnTo>
                <a:lnTo>
                  <a:pt x="0" y="3454000"/>
                </a:lnTo>
                <a:lnTo>
                  <a:pt x="2430360" y="3454000"/>
                </a:lnTo>
                <a:lnTo>
                  <a:pt x="243036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true" flipV="false" rot="0">
            <a:off x="10322765" y="2066915"/>
            <a:ext cx="6357135" cy="4114800"/>
          </a:xfrm>
          <a:custGeom>
            <a:avLst/>
            <a:gdLst/>
            <a:ahLst/>
            <a:cxnLst/>
            <a:rect r="r" b="b" t="t" l="l"/>
            <a:pathLst>
              <a:path h="4114800" w="6357135">
                <a:moveTo>
                  <a:pt x="6357134" y="0"/>
                </a:moveTo>
                <a:lnTo>
                  <a:pt x="0" y="0"/>
                </a:lnTo>
                <a:lnTo>
                  <a:pt x="0" y="4114800"/>
                </a:lnTo>
                <a:lnTo>
                  <a:pt x="6357134" y="4114800"/>
                </a:lnTo>
                <a:lnTo>
                  <a:pt x="6357134"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1951016" y="3757380"/>
            <a:ext cx="6503276" cy="4114800"/>
          </a:xfrm>
          <a:custGeom>
            <a:avLst/>
            <a:gdLst/>
            <a:ahLst/>
            <a:cxnLst/>
            <a:rect r="r" b="b" t="t" l="l"/>
            <a:pathLst>
              <a:path h="4114800" w="6503276">
                <a:moveTo>
                  <a:pt x="0" y="0"/>
                </a:moveTo>
                <a:lnTo>
                  <a:pt x="6503275" y="0"/>
                </a:lnTo>
                <a:lnTo>
                  <a:pt x="650327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14528" y="248254"/>
            <a:ext cx="2814723" cy="4539876"/>
          </a:xfrm>
          <a:custGeom>
            <a:avLst/>
            <a:gdLst/>
            <a:ahLst/>
            <a:cxnLst/>
            <a:rect r="r" b="b" t="t" l="l"/>
            <a:pathLst>
              <a:path h="4539876" w="2814723">
                <a:moveTo>
                  <a:pt x="0" y="0"/>
                </a:moveTo>
                <a:lnTo>
                  <a:pt x="2814723" y="0"/>
                </a:lnTo>
                <a:lnTo>
                  <a:pt x="2814723" y="4539876"/>
                </a:lnTo>
                <a:lnTo>
                  <a:pt x="0" y="45398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983277" y="7119033"/>
            <a:ext cx="4510398" cy="2903056"/>
          </a:xfrm>
          <a:custGeom>
            <a:avLst/>
            <a:gdLst/>
            <a:ahLst/>
            <a:cxnLst/>
            <a:rect r="r" b="b" t="t" l="l"/>
            <a:pathLst>
              <a:path h="2903056" w="4510398">
                <a:moveTo>
                  <a:pt x="0" y="0"/>
                </a:moveTo>
                <a:lnTo>
                  <a:pt x="4510398" y="0"/>
                </a:lnTo>
                <a:lnTo>
                  <a:pt x="4510398" y="2903056"/>
                </a:lnTo>
                <a:lnTo>
                  <a:pt x="0" y="29030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879107" y="7684128"/>
            <a:ext cx="1900289" cy="4114800"/>
          </a:xfrm>
          <a:custGeom>
            <a:avLst/>
            <a:gdLst/>
            <a:ahLst/>
            <a:cxnLst/>
            <a:rect r="r" b="b" t="t" l="l"/>
            <a:pathLst>
              <a:path h="4114800" w="1900289">
                <a:moveTo>
                  <a:pt x="0" y="0"/>
                </a:moveTo>
                <a:lnTo>
                  <a:pt x="1900289" y="0"/>
                </a:lnTo>
                <a:lnTo>
                  <a:pt x="1900289"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5044826" y="3672244"/>
            <a:ext cx="3825286" cy="2677562"/>
          </a:xfrm>
          <a:custGeom>
            <a:avLst/>
            <a:gdLst/>
            <a:ahLst/>
            <a:cxnLst/>
            <a:rect r="r" b="b" t="t" l="l"/>
            <a:pathLst>
              <a:path h="2677562" w="3825286">
                <a:moveTo>
                  <a:pt x="0" y="0"/>
                </a:moveTo>
                <a:lnTo>
                  <a:pt x="3825286" y="0"/>
                </a:lnTo>
                <a:lnTo>
                  <a:pt x="3825286" y="2677563"/>
                </a:lnTo>
                <a:lnTo>
                  <a:pt x="0" y="2677563"/>
                </a:lnTo>
                <a:lnTo>
                  <a:pt x="0" y="0"/>
                </a:lnTo>
                <a:close/>
              </a:path>
            </a:pathLst>
          </a:custGeom>
          <a:blipFill>
            <a:blip r:embed="rId10"/>
            <a:stretch>
              <a:fillRect l="0" t="0" r="-5185" b="0"/>
            </a:stretch>
          </a:blipFill>
        </p:spPr>
      </p:sp>
      <p:sp>
        <p:nvSpPr>
          <p:cNvPr name="Freeform 7" id="7"/>
          <p:cNvSpPr/>
          <p:nvPr/>
        </p:nvSpPr>
        <p:spPr>
          <a:xfrm flipH="false" flipV="false" rot="0">
            <a:off x="9578958" y="3672244"/>
            <a:ext cx="3140474" cy="2677562"/>
          </a:xfrm>
          <a:custGeom>
            <a:avLst/>
            <a:gdLst/>
            <a:ahLst/>
            <a:cxnLst/>
            <a:rect r="r" b="b" t="t" l="l"/>
            <a:pathLst>
              <a:path h="2677562" w="3140474">
                <a:moveTo>
                  <a:pt x="0" y="0"/>
                </a:moveTo>
                <a:lnTo>
                  <a:pt x="3140474" y="0"/>
                </a:lnTo>
                <a:lnTo>
                  <a:pt x="3140474" y="2677563"/>
                </a:lnTo>
                <a:lnTo>
                  <a:pt x="0" y="2677563"/>
                </a:lnTo>
                <a:lnTo>
                  <a:pt x="0" y="0"/>
                </a:lnTo>
                <a:close/>
              </a:path>
            </a:pathLst>
          </a:custGeom>
          <a:blipFill>
            <a:blip r:embed="rId11"/>
            <a:stretch>
              <a:fillRect l="0" t="-8644" r="0" b="-8644"/>
            </a:stretch>
          </a:blipFill>
        </p:spPr>
      </p:sp>
      <p:sp>
        <p:nvSpPr>
          <p:cNvPr name="Freeform 8" id="8"/>
          <p:cNvSpPr/>
          <p:nvPr/>
        </p:nvSpPr>
        <p:spPr>
          <a:xfrm flipH="false" flipV="false" rot="0">
            <a:off x="13325095" y="3672244"/>
            <a:ext cx="4798250" cy="2677562"/>
          </a:xfrm>
          <a:custGeom>
            <a:avLst/>
            <a:gdLst/>
            <a:ahLst/>
            <a:cxnLst/>
            <a:rect r="r" b="b" t="t" l="l"/>
            <a:pathLst>
              <a:path h="2677562" w="4798250">
                <a:moveTo>
                  <a:pt x="0" y="0"/>
                </a:moveTo>
                <a:lnTo>
                  <a:pt x="4798250" y="0"/>
                </a:lnTo>
                <a:lnTo>
                  <a:pt x="4798250" y="2677563"/>
                </a:lnTo>
                <a:lnTo>
                  <a:pt x="0" y="2677563"/>
                </a:lnTo>
                <a:lnTo>
                  <a:pt x="0" y="0"/>
                </a:lnTo>
                <a:close/>
              </a:path>
            </a:pathLst>
          </a:custGeom>
          <a:blipFill>
            <a:blip r:embed="rId12"/>
            <a:stretch>
              <a:fillRect l="-15147" t="0" r="-16847" b="-11172"/>
            </a:stretch>
          </a:blipFill>
        </p:spPr>
      </p:sp>
      <p:sp>
        <p:nvSpPr>
          <p:cNvPr name="TextBox 9" id="9"/>
          <p:cNvSpPr txBox="true"/>
          <p:nvPr/>
        </p:nvSpPr>
        <p:spPr>
          <a:xfrm rot="0">
            <a:off x="5044826" y="7394736"/>
            <a:ext cx="3825286" cy="962847"/>
          </a:xfrm>
          <a:prstGeom prst="rect">
            <a:avLst/>
          </a:prstGeom>
        </p:spPr>
        <p:txBody>
          <a:bodyPr anchor="t" rtlCol="false" tIns="0" lIns="0" bIns="0" rIns="0">
            <a:spAutoFit/>
          </a:bodyPr>
          <a:lstStyle/>
          <a:p>
            <a:pPr algn="ctr">
              <a:lnSpc>
                <a:spcPts val="4063"/>
              </a:lnSpc>
            </a:pPr>
            <a:r>
              <a:rPr lang="en-US" sz="2376">
                <a:solidFill>
                  <a:srgbClr val="1C0140"/>
                </a:solidFill>
                <a:latin typeface="Proxima Nova"/>
                <a:ea typeface="Proxima Nova"/>
                <a:cs typeface="Proxima Nova"/>
                <a:sym typeface="Proxima Nova"/>
              </a:rPr>
              <a:t>Mô hình Client – Server &amp; Lập trình mạng</a:t>
            </a:r>
          </a:p>
        </p:txBody>
      </p:sp>
      <p:sp>
        <p:nvSpPr>
          <p:cNvPr name="TextBox 10" id="10"/>
          <p:cNvSpPr txBox="true"/>
          <p:nvPr/>
        </p:nvSpPr>
        <p:spPr>
          <a:xfrm rot="0">
            <a:off x="9578958" y="7409773"/>
            <a:ext cx="3140474" cy="947810"/>
          </a:xfrm>
          <a:prstGeom prst="rect">
            <a:avLst/>
          </a:prstGeom>
        </p:spPr>
        <p:txBody>
          <a:bodyPr anchor="t" rtlCol="false" tIns="0" lIns="0" bIns="0" rIns="0">
            <a:spAutoFit/>
          </a:bodyPr>
          <a:lstStyle/>
          <a:p>
            <a:pPr algn="ctr">
              <a:lnSpc>
                <a:spcPts val="3991"/>
              </a:lnSpc>
            </a:pPr>
            <a:r>
              <a:rPr lang="en-US" sz="2334">
                <a:solidFill>
                  <a:srgbClr val="1C0140"/>
                </a:solidFill>
                <a:latin typeface="Proxima Nova"/>
                <a:ea typeface="Proxima Nova"/>
                <a:cs typeface="Proxima Nova"/>
                <a:sym typeface="Proxima Nova"/>
              </a:rPr>
              <a:t>Nền tảng TCP/IP &amp; Socket Programming</a:t>
            </a:r>
          </a:p>
        </p:txBody>
      </p:sp>
      <p:sp>
        <p:nvSpPr>
          <p:cNvPr name="TextBox 11" id="11"/>
          <p:cNvSpPr txBox="true"/>
          <p:nvPr/>
        </p:nvSpPr>
        <p:spPr>
          <a:xfrm rot="0">
            <a:off x="13424282" y="7305714"/>
            <a:ext cx="4281363" cy="1009107"/>
          </a:xfrm>
          <a:prstGeom prst="rect">
            <a:avLst/>
          </a:prstGeom>
        </p:spPr>
        <p:txBody>
          <a:bodyPr anchor="t" rtlCol="false" tIns="0" lIns="0" bIns="0" rIns="0">
            <a:spAutoFit/>
          </a:bodyPr>
          <a:lstStyle/>
          <a:p>
            <a:pPr algn="ctr">
              <a:lnSpc>
                <a:spcPts val="4239"/>
              </a:lnSpc>
            </a:pPr>
            <a:r>
              <a:rPr lang="en-US" sz="2479">
                <a:solidFill>
                  <a:srgbClr val="1C0140"/>
                </a:solidFill>
                <a:latin typeface="Proxima Nova"/>
                <a:ea typeface="Proxima Nova"/>
                <a:cs typeface="Proxima Nova"/>
                <a:sym typeface="Proxima Nova"/>
              </a:rPr>
              <a:t>Cơ chế Đa luồng (Multithreading)</a:t>
            </a:r>
          </a:p>
        </p:txBody>
      </p:sp>
      <p:sp>
        <p:nvSpPr>
          <p:cNvPr name="TextBox 12" id="12"/>
          <p:cNvSpPr txBox="true"/>
          <p:nvPr/>
        </p:nvSpPr>
        <p:spPr>
          <a:xfrm rot="0">
            <a:off x="6402618" y="1775391"/>
            <a:ext cx="10096884" cy="1410880"/>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Cơ sở lý thuyết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8287701" y="586998"/>
            <a:ext cx="8824549" cy="3569488"/>
          </a:xfrm>
          <a:prstGeom prst="rect">
            <a:avLst/>
          </a:prstGeom>
        </p:spPr>
        <p:txBody>
          <a:bodyPr anchor="t" rtlCol="false" tIns="0" lIns="0" bIns="0" rIns="0">
            <a:spAutoFit/>
          </a:bodyPr>
          <a:lstStyle/>
          <a:p>
            <a:pPr algn="l">
              <a:lnSpc>
                <a:spcPts val="9196"/>
              </a:lnSpc>
            </a:pPr>
            <a:r>
              <a:rPr lang="en-US" sz="10450" spc="-658" b="true">
                <a:solidFill>
                  <a:srgbClr val="1C0140"/>
                </a:solidFill>
                <a:latin typeface="Proxima Nova Bold"/>
                <a:ea typeface="Proxima Nova Bold"/>
                <a:cs typeface="Proxima Nova Bold"/>
                <a:sym typeface="Proxima Nova Bold"/>
              </a:rPr>
              <a:t>01.Mô hình Client – Server &amp; Lập trình mạng</a:t>
            </a:r>
          </a:p>
        </p:txBody>
      </p:sp>
      <p:grpSp>
        <p:nvGrpSpPr>
          <p:cNvPr name="Group 3" id="3"/>
          <p:cNvGrpSpPr/>
          <p:nvPr/>
        </p:nvGrpSpPr>
        <p:grpSpPr>
          <a:xfrm rot="0">
            <a:off x="7489678" y="4266932"/>
            <a:ext cx="6801049" cy="1758875"/>
            <a:chOff x="0" y="0"/>
            <a:chExt cx="1370596" cy="354461"/>
          </a:xfrm>
        </p:grpSpPr>
        <p:sp>
          <p:nvSpPr>
            <p:cNvPr name="Freeform 4" id="4"/>
            <p:cNvSpPr/>
            <p:nvPr/>
          </p:nvSpPr>
          <p:spPr>
            <a:xfrm flipH="false" flipV="false" rot="0">
              <a:off x="0" y="0"/>
              <a:ext cx="1370596" cy="354461"/>
            </a:xfrm>
            <a:custGeom>
              <a:avLst/>
              <a:gdLst/>
              <a:ahLst/>
              <a:cxnLst/>
              <a:rect r="r" b="b" t="t" l="l"/>
              <a:pathLst>
                <a:path h="354461" w="1370596">
                  <a:moveTo>
                    <a:pt x="75131" y="0"/>
                  </a:moveTo>
                  <a:lnTo>
                    <a:pt x="1295466" y="0"/>
                  </a:lnTo>
                  <a:cubicBezTo>
                    <a:pt x="1336959" y="0"/>
                    <a:pt x="1370596" y="33637"/>
                    <a:pt x="1370596" y="75131"/>
                  </a:cubicBezTo>
                  <a:lnTo>
                    <a:pt x="1370596" y="279331"/>
                  </a:lnTo>
                  <a:cubicBezTo>
                    <a:pt x="1370596" y="320824"/>
                    <a:pt x="1336959" y="354461"/>
                    <a:pt x="1295466" y="354461"/>
                  </a:cubicBezTo>
                  <a:lnTo>
                    <a:pt x="75131" y="354461"/>
                  </a:lnTo>
                  <a:cubicBezTo>
                    <a:pt x="33637" y="354461"/>
                    <a:pt x="0" y="320824"/>
                    <a:pt x="0" y="279331"/>
                  </a:cubicBezTo>
                  <a:lnTo>
                    <a:pt x="0" y="75131"/>
                  </a:lnTo>
                  <a:cubicBezTo>
                    <a:pt x="0" y="33637"/>
                    <a:pt x="33637" y="0"/>
                    <a:pt x="75131" y="0"/>
                  </a:cubicBezTo>
                  <a:close/>
                </a:path>
              </a:pathLst>
            </a:custGeom>
            <a:solidFill>
              <a:srgbClr val="FAFDFF"/>
            </a:solidFill>
          </p:spPr>
        </p:sp>
        <p:sp>
          <p:nvSpPr>
            <p:cNvPr name="TextBox 5" id="5"/>
            <p:cNvSpPr txBox="true"/>
            <p:nvPr/>
          </p:nvSpPr>
          <p:spPr>
            <a:xfrm>
              <a:off x="0" y="-57150"/>
              <a:ext cx="1370596" cy="411611"/>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6" id="6"/>
          <p:cNvSpPr txBox="true"/>
          <p:nvPr/>
        </p:nvSpPr>
        <p:spPr>
          <a:xfrm rot="0">
            <a:off x="7864037" y="4554214"/>
            <a:ext cx="6222366" cy="1650569"/>
          </a:xfrm>
          <a:prstGeom prst="rect">
            <a:avLst/>
          </a:prstGeom>
        </p:spPr>
        <p:txBody>
          <a:bodyPr anchor="t" rtlCol="false" tIns="0" lIns="0" bIns="0" rIns="0">
            <a:spAutoFit/>
          </a:bodyPr>
          <a:lstStyle/>
          <a:p>
            <a:pPr algn="l">
              <a:lnSpc>
                <a:spcPts val="4454"/>
              </a:lnSpc>
            </a:pPr>
            <a:r>
              <a:rPr lang="en-US" sz="2604">
                <a:solidFill>
                  <a:srgbClr val="1C0140"/>
                </a:solidFill>
                <a:latin typeface="Proxima Nova"/>
                <a:ea typeface="Proxima Nova"/>
                <a:cs typeface="Proxima Nova"/>
                <a:sym typeface="Proxima Nova"/>
              </a:rPr>
              <a:t>Lập trình mạng: Giúp thiết bị giao tiếp, trao đổi dữ liệu qua các giao thức truyền thông.</a:t>
            </a:r>
          </a:p>
          <a:p>
            <a:pPr algn="l">
              <a:lnSpc>
                <a:spcPts val="4454"/>
              </a:lnSpc>
            </a:pPr>
          </a:p>
        </p:txBody>
      </p:sp>
      <p:grpSp>
        <p:nvGrpSpPr>
          <p:cNvPr name="Group 7" id="7"/>
          <p:cNvGrpSpPr/>
          <p:nvPr/>
        </p:nvGrpSpPr>
        <p:grpSpPr>
          <a:xfrm rot="0">
            <a:off x="8718500" y="6288628"/>
            <a:ext cx="6956914" cy="1787214"/>
            <a:chOff x="0" y="0"/>
            <a:chExt cx="1402008" cy="360172"/>
          </a:xfrm>
        </p:grpSpPr>
        <p:sp>
          <p:nvSpPr>
            <p:cNvPr name="Freeform 8" id="8"/>
            <p:cNvSpPr/>
            <p:nvPr/>
          </p:nvSpPr>
          <p:spPr>
            <a:xfrm flipH="false" flipV="false" rot="0">
              <a:off x="0" y="0"/>
              <a:ext cx="1402008" cy="360172"/>
            </a:xfrm>
            <a:custGeom>
              <a:avLst/>
              <a:gdLst/>
              <a:ahLst/>
              <a:cxnLst/>
              <a:rect r="r" b="b" t="t" l="l"/>
              <a:pathLst>
                <a:path h="360172" w="1402008">
                  <a:moveTo>
                    <a:pt x="73447" y="0"/>
                  </a:moveTo>
                  <a:lnTo>
                    <a:pt x="1328560" y="0"/>
                  </a:lnTo>
                  <a:cubicBezTo>
                    <a:pt x="1348040" y="0"/>
                    <a:pt x="1366721" y="7738"/>
                    <a:pt x="1380495" y="21512"/>
                  </a:cubicBezTo>
                  <a:cubicBezTo>
                    <a:pt x="1394269" y="35286"/>
                    <a:pt x="1402008" y="53968"/>
                    <a:pt x="1402008" y="73447"/>
                  </a:cubicBezTo>
                  <a:lnTo>
                    <a:pt x="1402008" y="286725"/>
                  </a:lnTo>
                  <a:cubicBezTo>
                    <a:pt x="1402008" y="306204"/>
                    <a:pt x="1394269" y="324886"/>
                    <a:pt x="1380495" y="338660"/>
                  </a:cubicBezTo>
                  <a:cubicBezTo>
                    <a:pt x="1366721" y="352434"/>
                    <a:pt x="1348040" y="360172"/>
                    <a:pt x="1328560" y="360172"/>
                  </a:cubicBezTo>
                  <a:lnTo>
                    <a:pt x="73447" y="360172"/>
                  </a:lnTo>
                  <a:cubicBezTo>
                    <a:pt x="53968" y="360172"/>
                    <a:pt x="35286" y="352434"/>
                    <a:pt x="21512" y="338660"/>
                  </a:cubicBezTo>
                  <a:cubicBezTo>
                    <a:pt x="7738" y="324886"/>
                    <a:pt x="0" y="306204"/>
                    <a:pt x="0" y="286725"/>
                  </a:cubicBezTo>
                  <a:lnTo>
                    <a:pt x="0" y="73447"/>
                  </a:lnTo>
                  <a:cubicBezTo>
                    <a:pt x="0" y="53968"/>
                    <a:pt x="7738" y="35286"/>
                    <a:pt x="21512" y="21512"/>
                  </a:cubicBezTo>
                  <a:cubicBezTo>
                    <a:pt x="35286" y="7738"/>
                    <a:pt x="53968" y="0"/>
                    <a:pt x="73447" y="0"/>
                  </a:cubicBezTo>
                  <a:close/>
                </a:path>
              </a:pathLst>
            </a:custGeom>
            <a:solidFill>
              <a:srgbClr val="FAFDFF"/>
            </a:solidFill>
          </p:spPr>
        </p:sp>
        <p:sp>
          <p:nvSpPr>
            <p:cNvPr name="TextBox 9" id="9"/>
            <p:cNvSpPr txBox="true"/>
            <p:nvPr/>
          </p:nvSpPr>
          <p:spPr>
            <a:xfrm>
              <a:off x="0" y="-57150"/>
              <a:ext cx="1402008" cy="417322"/>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10" id="10"/>
          <p:cNvSpPr txBox="true"/>
          <p:nvPr/>
        </p:nvSpPr>
        <p:spPr>
          <a:xfrm rot="0">
            <a:off x="9144000" y="6577467"/>
            <a:ext cx="6281068" cy="1650470"/>
          </a:xfrm>
          <a:prstGeom prst="rect">
            <a:avLst/>
          </a:prstGeom>
        </p:spPr>
        <p:txBody>
          <a:bodyPr anchor="t" rtlCol="false" tIns="0" lIns="0" bIns="0" rIns="0">
            <a:spAutoFit/>
          </a:bodyPr>
          <a:lstStyle/>
          <a:p>
            <a:pPr algn="l">
              <a:lnSpc>
                <a:spcPts val="4456"/>
              </a:lnSpc>
            </a:pPr>
            <a:r>
              <a:rPr lang="en-US" sz="2606">
                <a:solidFill>
                  <a:srgbClr val="1C0140"/>
                </a:solidFill>
                <a:latin typeface="Proxima Nova"/>
                <a:ea typeface="Proxima Nova"/>
                <a:cs typeface="Proxima Nova"/>
                <a:sym typeface="Proxima Nova"/>
              </a:rPr>
              <a:t>Client (Máy khách): Nơi gửi yêu cầu kết nối, tương tác người dùng, hiển thị tiến trình.</a:t>
            </a:r>
          </a:p>
          <a:p>
            <a:pPr algn="l">
              <a:lnSpc>
                <a:spcPts val="4456"/>
              </a:lnSpc>
            </a:pPr>
          </a:p>
        </p:txBody>
      </p:sp>
      <p:sp>
        <p:nvSpPr>
          <p:cNvPr name="Freeform 11" id="11"/>
          <p:cNvSpPr/>
          <p:nvPr/>
        </p:nvSpPr>
        <p:spPr>
          <a:xfrm flipH="false" flipV="false" rot="0">
            <a:off x="2631859" y="571801"/>
            <a:ext cx="4106217" cy="4571699"/>
          </a:xfrm>
          <a:custGeom>
            <a:avLst/>
            <a:gdLst/>
            <a:ahLst/>
            <a:cxnLst/>
            <a:rect r="r" b="b" t="t" l="l"/>
            <a:pathLst>
              <a:path h="4571699" w="4106217">
                <a:moveTo>
                  <a:pt x="0" y="0"/>
                </a:moveTo>
                <a:lnTo>
                  <a:pt x="4106217" y="0"/>
                </a:lnTo>
                <a:lnTo>
                  <a:pt x="4106217" y="4571699"/>
                </a:lnTo>
                <a:lnTo>
                  <a:pt x="0" y="45716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74196" y="-1257149"/>
            <a:ext cx="3898412" cy="4571699"/>
          </a:xfrm>
          <a:custGeom>
            <a:avLst/>
            <a:gdLst/>
            <a:ahLst/>
            <a:cxnLst/>
            <a:rect r="r" b="b" t="t" l="l"/>
            <a:pathLst>
              <a:path h="4571699" w="3898412">
                <a:moveTo>
                  <a:pt x="0" y="0"/>
                </a:moveTo>
                <a:lnTo>
                  <a:pt x="3898412" y="0"/>
                </a:lnTo>
                <a:lnTo>
                  <a:pt x="3898412" y="4571698"/>
                </a:lnTo>
                <a:lnTo>
                  <a:pt x="0" y="45716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3568625" y="5446174"/>
            <a:ext cx="3341496" cy="4571699"/>
          </a:xfrm>
          <a:custGeom>
            <a:avLst/>
            <a:gdLst/>
            <a:ahLst/>
            <a:cxnLst/>
            <a:rect r="r" b="b" t="t" l="l"/>
            <a:pathLst>
              <a:path h="4571699" w="3341496">
                <a:moveTo>
                  <a:pt x="0" y="0"/>
                </a:moveTo>
                <a:lnTo>
                  <a:pt x="3341496" y="0"/>
                </a:lnTo>
                <a:lnTo>
                  <a:pt x="3341496" y="4571698"/>
                </a:lnTo>
                <a:lnTo>
                  <a:pt x="0" y="4571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552888" y="4030345"/>
            <a:ext cx="2644244" cy="4516565"/>
          </a:xfrm>
          <a:custGeom>
            <a:avLst/>
            <a:gdLst/>
            <a:ahLst/>
            <a:cxnLst/>
            <a:rect r="r" b="b" t="t" l="l"/>
            <a:pathLst>
              <a:path h="4516565" w="2644244">
                <a:moveTo>
                  <a:pt x="0" y="0"/>
                </a:moveTo>
                <a:lnTo>
                  <a:pt x="2644244" y="0"/>
                </a:lnTo>
                <a:lnTo>
                  <a:pt x="2644244" y="4516565"/>
                </a:lnTo>
                <a:lnTo>
                  <a:pt x="0" y="45165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0">
            <a:off x="-163153" y="8939277"/>
            <a:ext cx="4100910" cy="2878093"/>
          </a:xfrm>
          <a:custGeom>
            <a:avLst/>
            <a:gdLst/>
            <a:ahLst/>
            <a:cxnLst/>
            <a:rect r="r" b="b" t="t" l="l"/>
            <a:pathLst>
              <a:path h="2878093" w="4100910">
                <a:moveTo>
                  <a:pt x="0" y="0"/>
                </a:moveTo>
                <a:lnTo>
                  <a:pt x="4100910" y="0"/>
                </a:lnTo>
                <a:lnTo>
                  <a:pt x="4100910" y="2878093"/>
                </a:lnTo>
                <a:lnTo>
                  <a:pt x="0" y="28780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6" id="16"/>
          <p:cNvGrpSpPr/>
          <p:nvPr/>
        </p:nvGrpSpPr>
        <p:grpSpPr>
          <a:xfrm rot="0">
            <a:off x="10188667" y="8313662"/>
            <a:ext cx="7594543" cy="1824075"/>
            <a:chOff x="0" y="0"/>
            <a:chExt cx="1530507" cy="367601"/>
          </a:xfrm>
        </p:grpSpPr>
        <p:sp>
          <p:nvSpPr>
            <p:cNvPr name="Freeform 17" id="17"/>
            <p:cNvSpPr/>
            <p:nvPr/>
          </p:nvSpPr>
          <p:spPr>
            <a:xfrm flipH="false" flipV="false" rot="0">
              <a:off x="0" y="0"/>
              <a:ext cx="1530507" cy="367601"/>
            </a:xfrm>
            <a:custGeom>
              <a:avLst/>
              <a:gdLst/>
              <a:ahLst/>
              <a:cxnLst/>
              <a:rect r="r" b="b" t="t" l="l"/>
              <a:pathLst>
                <a:path h="367601" w="1530507">
                  <a:moveTo>
                    <a:pt x="67281" y="0"/>
                  </a:moveTo>
                  <a:lnTo>
                    <a:pt x="1463226" y="0"/>
                  </a:lnTo>
                  <a:cubicBezTo>
                    <a:pt x="1481070" y="0"/>
                    <a:pt x="1498183" y="7088"/>
                    <a:pt x="1510801" y="19706"/>
                  </a:cubicBezTo>
                  <a:cubicBezTo>
                    <a:pt x="1523419" y="32324"/>
                    <a:pt x="1530507" y="49437"/>
                    <a:pt x="1530507" y="67281"/>
                  </a:cubicBezTo>
                  <a:lnTo>
                    <a:pt x="1530507" y="300320"/>
                  </a:lnTo>
                  <a:cubicBezTo>
                    <a:pt x="1530507" y="337478"/>
                    <a:pt x="1500385" y="367601"/>
                    <a:pt x="1463226" y="367601"/>
                  </a:cubicBezTo>
                  <a:lnTo>
                    <a:pt x="67281" y="367601"/>
                  </a:lnTo>
                  <a:cubicBezTo>
                    <a:pt x="49437" y="367601"/>
                    <a:pt x="32324" y="360512"/>
                    <a:pt x="19706" y="347895"/>
                  </a:cubicBezTo>
                  <a:cubicBezTo>
                    <a:pt x="7088" y="335277"/>
                    <a:pt x="0" y="318164"/>
                    <a:pt x="0" y="300320"/>
                  </a:cubicBezTo>
                  <a:lnTo>
                    <a:pt x="0" y="67281"/>
                  </a:lnTo>
                  <a:cubicBezTo>
                    <a:pt x="0" y="49437"/>
                    <a:pt x="7088" y="32324"/>
                    <a:pt x="19706" y="19706"/>
                  </a:cubicBezTo>
                  <a:cubicBezTo>
                    <a:pt x="32324" y="7088"/>
                    <a:pt x="49437" y="0"/>
                    <a:pt x="67281" y="0"/>
                  </a:cubicBezTo>
                  <a:close/>
                </a:path>
              </a:pathLst>
            </a:custGeom>
            <a:solidFill>
              <a:srgbClr val="FAFDFF"/>
            </a:solidFill>
          </p:spPr>
        </p:sp>
        <p:sp>
          <p:nvSpPr>
            <p:cNvPr name="TextBox 18" id="18"/>
            <p:cNvSpPr txBox="true"/>
            <p:nvPr/>
          </p:nvSpPr>
          <p:spPr>
            <a:xfrm>
              <a:off x="0" y="-57150"/>
              <a:ext cx="1530507" cy="424751"/>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19" id="19"/>
          <p:cNvSpPr txBox="true"/>
          <p:nvPr/>
        </p:nvSpPr>
        <p:spPr>
          <a:xfrm rot="0">
            <a:off x="10506432" y="8599412"/>
            <a:ext cx="7159941" cy="1650470"/>
          </a:xfrm>
          <a:prstGeom prst="rect">
            <a:avLst/>
          </a:prstGeom>
        </p:spPr>
        <p:txBody>
          <a:bodyPr anchor="t" rtlCol="false" tIns="0" lIns="0" bIns="0" rIns="0">
            <a:spAutoFit/>
          </a:bodyPr>
          <a:lstStyle/>
          <a:p>
            <a:pPr algn="l">
              <a:lnSpc>
                <a:spcPts val="4456"/>
              </a:lnSpc>
            </a:pPr>
            <a:r>
              <a:rPr lang="en-US" sz="2606">
                <a:solidFill>
                  <a:srgbClr val="1C0140"/>
                </a:solidFill>
                <a:latin typeface="Proxima Nova"/>
                <a:ea typeface="Proxima Nova"/>
                <a:cs typeface="Proxima Nova"/>
                <a:sym typeface="Proxima Nova"/>
              </a:rPr>
              <a:t>Server (Máy chủ): Quản lý file tập trung, lắng nghe kết nối, xử lý yêu cầu và truyền dẫn dữ liệu.</a:t>
            </a:r>
          </a:p>
          <a:p>
            <a:pPr algn="l">
              <a:lnSpc>
                <a:spcPts val="4456"/>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grpSp>
        <p:nvGrpSpPr>
          <p:cNvPr name="Group 2" id="2"/>
          <p:cNvGrpSpPr/>
          <p:nvPr/>
        </p:nvGrpSpPr>
        <p:grpSpPr>
          <a:xfrm rot="0">
            <a:off x="411687" y="6835223"/>
            <a:ext cx="9247152" cy="2753235"/>
            <a:chOff x="0" y="0"/>
            <a:chExt cx="1863553" cy="554852"/>
          </a:xfrm>
        </p:grpSpPr>
        <p:sp>
          <p:nvSpPr>
            <p:cNvPr name="Freeform 3" id="3"/>
            <p:cNvSpPr/>
            <p:nvPr/>
          </p:nvSpPr>
          <p:spPr>
            <a:xfrm flipH="false" flipV="false" rot="0">
              <a:off x="0" y="0"/>
              <a:ext cx="1863553" cy="554852"/>
            </a:xfrm>
            <a:custGeom>
              <a:avLst/>
              <a:gdLst/>
              <a:ahLst/>
              <a:cxnLst/>
              <a:rect r="r" b="b" t="t" l="l"/>
              <a:pathLst>
                <a:path h="554852" w="1863553">
                  <a:moveTo>
                    <a:pt x="55257" y="0"/>
                  </a:moveTo>
                  <a:lnTo>
                    <a:pt x="1808296" y="0"/>
                  </a:lnTo>
                  <a:cubicBezTo>
                    <a:pt x="1838814" y="0"/>
                    <a:pt x="1863553" y="24739"/>
                    <a:pt x="1863553" y="55257"/>
                  </a:cubicBezTo>
                  <a:lnTo>
                    <a:pt x="1863553" y="499595"/>
                  </a:lnTo>
                  <a:cubicBezTo>
                    <a:pt x="1863553" y="530112"/>
                    <a:pt x="1838814" y="554852"/>
                    <a:pt x="1808296" y="554852"/>
                  </a:cubicBezTo>
                  <a:lnTo>
                    <a:pt x="55257" y="554852"/>
                  </a:lnTo>
                  <a:cubicBezTo>
                    <a:pt x="24739" y="554852"/>
                    <a:pt x="0" y="530112"/>
                    <a:pt x="0" y="499595"/>
                  </a:cubicBezTo>
                  <a:lnTo>
                    <a:pt x="0" y="55257"/>
                  </a:lnTo>
                  <a:cubicBezTo>
                    <a:pt x="0" y="24739"/>
                    <a:pt x="24739" y="0"/>
                    <a:pt x="55257" y="0"/>
                  </a:cubicBezTo>
                  <a:close/>
                </a:path>
              </a:pathLst>
            </a:custGeom>
            <a:solidFill>
              <a:srgbClr val="FAFDFF"/>
            </a:solidFill>
          </p:spPr>
        </p:sp>
        <p:sp>
          <p:nvSpPr>
            <p:cNvPr name="TextBox 4" id="4"/>
            <p:cNvSpPr txBox="true"/>
            <p:nvPr/>
          </p:nvSpPr>
          <p:spPr>
            <a:xfrm>
              <a:off x="0" y="-57150"/>
              <a:ext cx="1863553" cy="612002"/>
            </a:xfrm>
            <a:prstGeom prst="rect">
              <a:avLst/>
            </a:prstGeom>
          </p:spPr>
          <p:txBody>
            <a:bodyPr anchor="ctr" rtlCol="false" tIns="50800" lIns="50800" bIns="50800" rIns="50800"/>
            <a:lstStyle/>
            <a:p>
              <a:pPr algn="ctr">
                <a:lnSpc>
                  <a:spcPts val="3639"/>
                </a:lnSpc>
              </a:pPr>
            </a:p>
            <a:p>
              <a:pPr algn="ctr">
                <a:lnSpc>
                  <a:spcPts val="2800"/>
                </a:lnSpc>
              </a:pPr>
            </a:p>
          </p:txBody>
        </p:sp>
      </p:grpSp>
      <p:grpSp>
        <p:nvGrpSpPr>
          <p:cNvPr name="Group 5" id="5"/>
          <p:cNvGrpSpPr/>
          <p:nvPr/>
        </p:nvGrpSpPr>
        <p:grpSpPr>
          <a:xfrm rot="0">
            <a:off x="411687" y="3232002"/>
            <a:ext cx="9247152" cy="3155713"/>
            <a:chOff x="0" y="0"/>
            <a:chExt cx="1863553" cy="635962"/>
          </a:xfrm>
        </p:grpSpPr>
        <p:sp>
          <p:nvSpPr>
            <p:cNvPr name="Freeform 6" id="6"/>
            <p:cNvSpPr/>
            <p:nvPr/>
          </p:nvSpPr>
          <p:spPr>
            <a:xfrm flipH="false" flipV="false" rot="0">
              <a:off x="0" y="0"/>
              <a:ext cx="1863553" cy="635962"/>
            </a:xfrm>
            <a:custGeom>
              <a:avLst/>
              <a:gdLst/>
              <a:ahLst/>
              <a:cxnLst/>
              <a:rect r="r" b="b" t="t" l="l"/>
              <a:pathLst>
                <a:path h="635962" w="1863553">
                  <a:moveTo>
                    <a:pt x="55257" y="0"/>
                  </a:moveTo>
                  <a:lnTo>
                    <a:pt x="1808296" y="0"/>
                  </a:lnTo>
                  <a:cubicBezTo>
                    <a:pt x="1838814" y="0"/>
                    <a:pt x="1863553" y="24739"/>
                    <a:pt x="1863553" y="55257"/>
                  </a:cubicBezTo>
                  <a:lnTo>
                    <a:pt x="1863553" y="580705"/>
                  </a:lnTo>
                  <a:cubicBezTo>
                    <a:pt x="1863553" y="611223"/>
                    <a:pt x="1838814" y="635962"/>
                    <a:pt x="1808296" y="635962"/>
                  </a:cubicBezTo>
                  <a:lnTo>
                    <a:pt x="55257" y="635962"/>
                  </a:lnTo>
                  <a:cubicBezTo>
                    <a:pt x="24739" y="635962"/>
                    <a:pt x="0" y="611223"/>
                    <a:pt x="0" y="580705"/>
                  </a:cubicBezTo>
                  <a:lnTo>
                    <a:pt x="0" y="55257"/>
                  </a:lnTo>
                  <a:cubicBezTo>
                    <a:pt x="0" y="24739"/>
                    <a:pt x="24739" y="0"/>
                    <a:pt x="55257" y="0"/>
                  </a:cubicBezTo>
                  <a:close/>
                </a:path>
              </a:pathLst>
            </a:custGeom>
            <a:solidFill>
              <a:srgbClr val="FAFDFF"/>
            </a:solidFill>
          </p:spPr>
        </p:sp>
        <p:sp>
          <p:nvSpPr>
            <p:cNvPr name="TextBox 7" id="7"/>
            <p:cNvSpPr txBox="true"/>
            <p:nvPr/>
          </p:nvSpPr>
          <p:spPr>
            <a:xfrm>
              <a:off x="0" y="-57150"/>
              <a:ext cx="1863553" cy="693112"/>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Freeform 8" id="8"/>
          <p:cNvSpPr/>
          <p:nvPr/>
        </p:nvSpPr>
        <p:spPr>
          <a:xfrm flipH="false" flipV="false" rot="0">
            <a:off x="10501591" y="3118965"/>
            <a:ext cx="4341010" cy="3098396"/>
          </a:xfrm>
          <a:custGeom>
            <a:avLst/>
            <a:gdLst/>
            <a:ahLst/>
            <a:cxnLst/>
            <a:rect r="r" b="b" t="t" l="l"/>
            <a:pathLst>
              <a:path h="3098396" w="4341010">
                <a:moveTo>
                  <a:pt x="0" y="0"/>
                </a:moveTo>
                <a:lnTo>
                  <a:pt x="4341010" y="0"/>
                </a:lnTo>
                <a:lnTo>
                  <a:pt x="4341010" y="3098396"/>
                </a:lnTo>
                <a:lnTo>
                  <a:pt x="0" y="3098396"/>
                </a:lnTo>
                <a:lnTo>
                  <a:pt x="0" y="0"/>
                </a:lnTo>
                <a:close/>
              </a:path>
            </a:pathLst>
          </a:custGeom>
          <a:blipFill>
            <a:blip r:embed="rId2"/>
            <a:stretch>
              <a:fillRect l="0" t="0" r="0" b="0"/>
            </a:stretch>
          </a:blipFill>
        </p:spPr>
      </p:sp>
      <p:sp>
        <p:nvSpPr>
          <p:cNvPr name="Freeform 9" id="9"/>
          <p:cNvSpPr/>
          <p:nvPr/>
        </p:nvSpPr>
        <p:spPr>
          <a:xfrm flipH="false" flipV="false" rot="0">
            <a:off x="13481070" y="5884437"/>
            <a:ext cx="5658489" cy="4317546"/>
          </a:xfrm>
          <a:custGeom>
            <a:avLst/>
            <a:gdLst/>
            <a:ahLst/>
            <a:cxnLst/>
            <a:rect r="r" b="b" t="t" l="l"/>
            <a:pathLst>
              <a:path h="4317546" w="5658489">
                <a:moveTo>
                  <a:pt x="0" y="0"/>
                </a:moveTo>
                <a:lnTo>
                  <a:pt x="5658489" y="0"/>
                </a:lnTo>
                <a:lnTo>
                  <a:pt x="5658489" y="4317546"/>
                </a:lnTo>
                <a:lnTo>
                  <a:pt x="0" y="4317546"/>
                </a:lnTo>
                <a:lnTo>
                  <a:pt x="0" y="0"/>
                </a:lnTo>
                <a:close/>
              </a:path>
            </a:pathLst>
          </a:custGeom>
          <a:blipFill>
            <a:blip r:embed="rId3"/>
            <a:stretch>
              <a:fillRect l="0" t="0" r="-1736" b="0"/>
            </a:stretch>
          </a:blipFill>
        </p:spPr>
      </p:sp>
      <p:sp>
        <p:nvSpPr>
          <p:cNvPr name="Freeform 10" id="10"/>
          <p:cNvSpPr/>
          <p:nvPr/>
        </p:nvSpPr>
        <p:spPr>
          <a:xfrm flipH="false" flipV="false" rot="0">
            <a:off x="10359895" y="6835223"/>
            <a:ext cx="3178205" cy="3010386"/>
          </a:xfrm>
          <a:custGeom>
            <a:avLst/>
            <a:gdLst/>
            <a:ahLst/>
            <a:cxnLst/>
            <a:rect r="r" b="b" t="t" l="l"/>
            <a:pathLst>
              <a:path h="3010386" w="3178205">
                <a:moveTo>
                  <a:pt x="0" y="0"/>
                </a:moveTo>
                <a:lnTo>
                  <a:pt x="3178205" y="0"/>
                </a:lnTo>
                <a:lnTo>
                  <a:pt x="3178205" y="3010386"/>
                </a:lnTo>
                <a:lnTo>
                  <a:pt x="0" y="3010386"/>
                </a:lnTo>
                <a:lnTo>
                  <a:pt x="0" y="0"/>
                </a:lnTo>
                <a:close/>
              </a:path>
            </a:pathLst>
          </a:custGeom>
          <a:blipFill>
            <a:blip r:embed="rId4"/>
            <a:stretch>
              <a:fillRect l="0" t="-5574" r="0" b="0"/>
            </a:stretch>
          </a:blipFill>
        </p:spPr>
      </p:sp>
      <p:sp>
        <p:nvSpPr>
          <p:cNvPr name="TextBox 11" id="11"/>
          <p:cNvSpPr txBox="true"/>
          <p:nvPr/>
        </p:nvSpPr>
        <p:spPr>
          <a:xfrm rot="0">
            <a:off x="975234" y="7058247"/>
            <a:ext cx="8168766" cy="2282572"/>
          </a:xfrm>
          <a:prstGeom prst="rect">
            <a:avLst/>
          </a:prstGeom>
        </p:spPr>
        <p:txBody>
          <a:bodyPr anchor="t" rtlCol="false" tIns="0" lIns="0" bIns="0" rIns="0">
            <a:spAutoFit/>
          </a:bodyPr>
          <a:lstStyle/>
          <a:p>
            <a:pPr algn="l">
              <a:lnSpc>
                <a:spcPts val="4616"/>
              </a:lnSpc>
            </a:pPr>
            <a:r>
              <a:rPr lang="en-US" sz="2699">
                <a:solidFill>
                  <a:srgbClr val="1C0140"/>
                </a:solidFill>
                <a:latin typeface="Proxima Nova"/>
                <a:ea typeface="Proxima Nova"/>
                <a:cs typeface="Proxima Nova"/>
                <a:sym typeface="Proxima Nova"/>
              </a:rPr>
              <a:t>Socket:</a:t>
            </a:r>
          </a:p>
          <a:p>
            <a:pPr algn="l" marL="582927" indent="-291463" lvl="1">
              <a:lnSpc>
                <a:spcPts val="4616"/>
              </a:lnSpc>
              <a:buFont typeface="Arial"/>
              <a:buChar char="•"/>
            </a:pPr>
            <a:r>
              <a:rPr lang="en-US" sz="2699">
                <a:solidFill>
                  <a:srgbClr val="1C0140"/>
                </a:solidFill>
                <a:latin typeface="Proxima Nova"/>
                <a:ea typeface="Proxima Nova"/>
                <a:cs typeface="Proxima Nova"/>
                <a:sym typeface="Proxima Nova"/>
              </a:rPr>
              <a:t>Cửa ngõ (Endpoint) giao tiếp giữa quy trình mạng.</a:t>
            </a:r>
          </a:p>
          <a:p>
            <a:pPr algn="l" marL="582927" indent="-291463" lvl="1">
              <a:lnSpc>
                <a:spcPts val="4616"/>
              </a:lnSpc>
              <a:buFont typeface="Arial"/>
              <a:buChar char="•"/>
            </a:pPr>
            <a:r>
              <a:rPr lang="en-US" sz="2699">
                <a:solidFill>
                  <a:srgbClr val="1C0140"/>
                </a:solidFill>
                <a:latin typeface="Proxima Nova"/>
                <a:ea typeface="Proxima Nova"/>
                <a:cs typeface="Proxima Nova"/>
                <a:sym typeface="Proxima Nova"/>
              </a:rPr>
              <a:t>Chỉ định bằng định danh IP + Cổng (Port).</a:t>
            </a:r>
          </a:p>
          <a:p>
            <a:pPr algn="l">
              <a:lnSpc>
                <a:spcPts val="4616"/>
              </a:lnSpc>
            </a:pPr>
          </a:p>
        </p:txBody>
      </p:sp>
      <p:sp>
        <p:nvSpPr>
          <p:cNvPr name="TextBox 12" id="12"/>
          <p:cNvSpPr txBox="true"/>
          <p:nvPr/>
        </p:nvSpPr>
        <p:spPr>
          <a:xfrm rot="0">
            <a:off x="591196" y="858164"/>
            <a:ext cx="10116124" cy="2088788"/>
          </a:xfrm>
          <a:prstGeom prst="rect">
            <a:avLst/>
          </a:prstGeom>
        </p:spPr>
        <p:txBody>
          <a:bodyPr anchor="t" rtlCol="false" tIns="0" lIns="0" bIns="0" rIns="0">
            <a:spAutoFit/>
          </a:bodyPr>
          <a:lstStyle/>
          <a:p>
            <a:pPr algn="l">
              <a:lnSpc>
                <a:spcPts val="7898"/>
              </a:lnSpc>
            </a:pPr>
            <a:r>
              <a:rPr lang="en-US" sz="8975" spc="-565" b="true">
                <a:solidFill>
                  <a:srgbClr val="1C0140"/>
                </a:solidFill>
                <a:latin typeface="Proxima Nova Bold"/>
                <a:ea typeface="Proxima Nova Bold"/>
                <a:cs typeface="Proxima Nova Bold"/>
                <a:sym typeface="Proxima Nova Bold"/>
              </a:rPr>
              <a:t>02. Nền tảng TCP/IP &amp; Socket Programming</a:t>
            </a:r>
          </a:p>
        </p:txBody>
      </p:sp>
      <p:sp>
        <p:nvSpPr>
          <p:cNvPr name="TextBox 13" id="13"/>
          <p:cNvSpPr txBox="true"/>
          <p:nvPr/>
        </p:nvSpPr>
        <p:spPr>
          <a:xfrm rot="0">
            <a:off x="1012560" y="3524118"/>
            <a:ext cx="8131440" cy="2863597"/>
          </a:xfrm>
          <a:prstGeom prst="rect">
            <a:avLst/>
          </a:prstGeom>
        </p:spPr>
        <p:txBody>
          <a:bodyPr anchor="t" rtlCol="false" tIns="0" lIns="0" bIns="0" rIns="0">
            <a:spAutoFit/>
          </a:bodyPr>
          <a:lstStyle/>
          <a:p>
            <a:pPr algn="l">
              <a:lnSpc>
                <a:spcPts val="4616"/>
              </a:lnSpc>
            </a:pPr>
            <a:r>
              <a:rPr lang="en-US" sz="2699">
                <a:solidFill>
                  <a:srgbClr val="1C0140"/>
                </a:solidFill>
                <a:latin typeface="Proxima Nova"/>
                <a:ea typeface="Proxima Nova"/>
                <a:cs typeface="Proxima Nova"/>
                <a:sym typeface="Proxima Nova"/>
              </a:rPr>
              <a:t>Giao thức TCP/IP:</a:t>
            </a:r>
          </a:p>
          <a:p>
            <a:pPr algn="l" marL="582927" indent="-291463" lvl="1">
              <a:lnSpc>
                <a:spcPts val="4616"/>
              </a:lnSpc>
              <a:buFont typeface="Arial"/>
              <a:buChar char="•"/>
            </a:pPr>
            <a:r>
              <a:rPr lang="en-US" sz="2699">
                <a:solidFill>
                  <a:srgbClr val="1C0140"/>
                </a:solidFill>
                <a:latin typeface="Proxima Nova"/>
                <a:ea typeface="Proxima Nova"/>
                <a:cs typeface="Proxima Nova"/>
                <a:sym typeface="Proxima Nova"/>
              </a:rPr>
              <a:t>Đảm bảo dữ liệu truyền tải theo đúng thứ tự.</a:t>
            </a:r>
          </a:p>
          <a:p>
            <a:pPr algn="l" marL="582927" indent="-291463" lvl="1">
              <a:lnSpc>
                <a:spcPts val="4616"/>
              </a:lnSpc>
              <a:buFont typeface="Arial"/>
              <a:buChar char="•"/>
            </a:pPr>
            <a:r>
              <a:rPr lang="en-US" sz="2699">
                <a:solidFill>
                  <a:srgbClr val="1C0140"/>
                </a:solidFill>
                <a:latin typeface="Proxima Nova"/>
                <a:ea typeface="Proxima Nova"/>
                <a:cs typeface="Proxima Nova"/>
                <a:sym typeface="Proxima Nova"/>
              </a:rPr>
              <a:t>Độ tin cậy cao, sửa lỗi và cam kết không mất mát gói tin (packet).</a:t>
            </a:r>
          </a:p>
          <a:p>
            <a:pPr algn="l">
              <a:lnSpc>
                <a:spcPts val="4616"/>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true" flipV="false" rot="0">
            <a:off x="2611369" y="-756460"/>
            <a:ext cx="3375401" cy="4618087"/>
          </a:xfrm>
          <a:custGeom>
            <a:avLst/>
            <a:gdLst/>
            <a:ahLst/>
            <a:cxnLst/>
            <a:rect r="r" b="b" t="t" l="l"/>
            <a:pathLst>
              <a:path h="4618087" w="3375401">
                <a:moveTo>
                  <a:pt x="3375402" y="0"/>
                </a:moveTo>
                <a:lnTo>
                  <a:pt x="0" y="0"/>
                </a:lnTo>
                <a:lnTo>
                  <a:pt x="0" y="4618086"/>
                </a:lnTo>
                <a:lnTo>
                  <a:pt x="3375402" y="4618086"/>
                </a:lnTo>
                <a:lnTo>
                  <a:pt x="337540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406913" y="9421481"/>
            <a:ext cx="4142521" cy="2907297"/>
          </a:xfrm>
          <a:custGeom>
            <a:avLst/>
            <a:gdLst/>
            <a:ahLst/>
            <a:cxnLst/>
            <a:rect r="r" b="b" t="t" l="l"/>
            <a:pathLst>
              <a:path h="2907297" w="4142521">
                <a:moveTo>
                  <a:pt x="0" y="0"/>
                </a:moveTo>
                <a:lnTo>
                  <a:pt x="4142521" y="0"/>
                </a:lnTo>
                <a:lnTo>
                  <a:pt x="4142521" y="2907297"/>
                </a:lnTo>
                <a:lnTo>
                  <a:pt x="0" y="29072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205595" y="9297989"/>
            <a:ext cx="4900719" cy="3154281"/>
          </a:xfrm>
          <a:custGeom>
            <a:avLst/>
            <a:gdLst/>
            <a:ahLst/>
            <a:cxnLst/>
            <a:rect r="r" b="b" t="t" l="l"/>
            <a:pathLst>
              <a:path h="3154281" w="4900719">
                <a:moveTo>
                  <a:pt x="0" y="0"/>
                </a:moveTo>
                <a:lnTo>
                  <a:pt x="4900719" y="0"/>
                </a:lnTo>
                <a:lnTo>
                  <a:pt x="4900719" y="3154281"/>
                </a:lnTo>
                <a:lnTo>
                  <a:pt x="0" y="31542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692528" y="0"/>
            <a:ext cx="2640678" cy="3752902"/>
          </a:xfrm>
          <a:custGeom>
            <a:avLst/>
            <a:gdLst/>
            <a:ahLst/>
            <a:cxnLst/>
            <a:rect r="r" b="b" t="t" l="l"/>
            <a:pathLst>
              <a:path h="3752902" w="2640678">
                <a:moveTo>
                  <a:pt x="2640679" y="0"/>
                </a:moveTo>
                <a:lnTo>
                  <a:pt x="0" y="0"/>
                </a:lnTo>
                <a:lnTo>
                  <a:pt x="0" y="3752902"/>
                </a:lnTo>
                <a:lnTo>
                  <a:pt x="2640679" y="3752902"/>
                </a:lnTo>
                <a:lnTo>
                  <a:pt x="2640679"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false" rot="0">
            <a:off x="5166457" y="5689401"/>
            <a:ext cx="1302078" cy="2819460"/>
          </a:xfrm>
          <a:custGeom>
            <a:avLst/>
            <a:gdLst/>
            <a:ahLst/>
            <a:cxnLst/>
            <a:rect r="r" b="b" t="t" l="l"/>
            <a:pathLst>
              <a:path h="2819460" w="1302078">
                <a:moveTo>
                  <a:pt x="1302078" y="0"/>
                </a:moveTo>
                <a:lnTo>
                  <a:pt x="0" y="0"/>
                </a:lnTo>
                <a:lnTo>
                  <a:pt x="0" y="2819460"/>
                </a:lnTo>
                <a:lnTo>
                  <a:pt x="1302078" y="2819460"/>
                </a:lnTo>
                <a:lnTo>
                  <a:pt x="130207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7" id="7"/>
          <p:cNvGrpSpPr/>
          <p:nvPr/>
        </p:nvGrpSpPr>
        <p:grpSpPr>
          <a:xfrm rot="0">
            <a:off x="7705533" y="6451642"/>
            <a:ext cx="10295697" cy="3623308"/>
            <a:chOff x="0" y="0"/>
            <a:chExt cx="2074863" cy="730195"/>
          </a:xfrm>
        </p:grpSpPr>
        <p:sp>
          <p:nvSpPr>
            <p:cNvPr name="Freeform 8" id="8"/>
            <p:cNvSpPr/>
            <p:nvPr/>
          </p:nvSpPr>
          <p:spPr>
            <a:xfrm flipH="false" flipV="false" rot="0">
              <a:off x="0" y="0"/>
              <a:ext cx="2074863" cy="730195"/>
            </a:xfrm>
            <a:custGeom>
              <a:avLst/>
              <a:gdLst/>
              <a:ahLst/>
              <a:cxnLst/>
              <a:rect r="r" b="b" t="t" l="l"/>
              <a:pathLst>
                <a:path h="730195" w="2074863">
                  <a:moveTo>
                    <a:pt x="49629" y="0"/>
                  </a:moveTo>
                  <a:lnTo>
                    <a:pt x="2025234" y="0"/>
                  </a:lnTo>
                  <a:cubicBezTo>
                    <a:pt x="2052644" y="0"/>
                    <a:pt x="2074863" y="22220"/>
                    <a:pt x="2074863" y="49629"/>
                  </a:cubicBezTo>
                  <a:lnTo>
                    <a:pt x="2074863" y="680566"/>
                  </a:lnTo>
                  <a:cubicBezTo>
                    <a:pt x="2074863" y="707975"/>
                    <a:pt x="2052644" y="730195"/>
                    <a:pt x="2025234" y="730195"/>
                  </a:cubicBezTo>
                  <a:lnTo>
                    <a:pt x="49629" y="730195"/>
                  </a:lnTo>
                  <a:cubicBezTo>
                    <a:pt x="22220" y="730195"/>
                    <a:pt x="0" y="707975"/>
                    <a:pt x="0" y="680566"/>
                  </a:cubicBezTo>
                  <a:lnTo>
                    <a:pt x="0" y="49629"/>
                  </a:lnTo>
                  <a:cubicBezTo>
                    <a:pt x="0" y="22220"/>
                    <a:pt x="22220" y="0"/>
                    <a:pt x="49629" y="0"/>
                  </a:cubicBezTo>
                  <a:close/>
                </a:path>
              </a:pathLst>
            </a:custGeom>
            <a:solidFill>
              <a:srgbClr val="FAFDFF"/>
            </a:solidFill>
          </p:spPr>
        </p:sp>
        <p:sp>
          <p:nvSpPr>
            <p:cNvPr name="TextBox 9" id="9"/>
            <p:cNvSpPr txBox="true"/>
            <p:nvPr/>
          </p:nvSpPr>
          <p:spPr>
            <a:xfrm>
              <a:off x="0" y="-57150"/>
              <a:ext cx="2074863" cy="787345"/>
            </a:xfrm>
            <a:prstGeom prst="rect">
              <a:avLst/>
            </a:prstGeom>
          </p:spPr>
          <p:txBody>
            <a:bodyPr anchor="ctr" rtlCol="false" tIns="50800" lIns="50800" bIns="50800" rIns="50800"/>
            <a:lstStyle/>
            <a:p>
              <a:pPr algn="ctr">
                <a:lnSpc>
                  <a:spcPts val="3639"/>
                </a:lnSpc>
              </a:pPr>
            </a:p>
            <a:p>
              <a:pPr algn="ctr">
                <a:lnSpc>
                  <a:spcPts val="2800"/>
                </a:lnSpc>
              </a:pPr>
            </a:p>
          </p:txBody>
        </p:sp>
      </p:grpSp>
      <p:grpSp>
        <p:nvGrpSpPr>
          <p:cNvPr name="Group 10" id="10"/>
          <p:cNvGrpSpPr/>
          <p:nvPr/>
        </p:nvGrpSpPr>
        <p:grpSpPr>
          <a:xfrm rot="0">
            <a:off x="7705533" y="3598593"/>
            <a:ext cx="9454580" cy="2271216"/>
            <a:chOff x="0" y="0"/>
            <a:chExt cx="1905355" cy="457712"/>
          </a:xfrm>
        </p:grpSpPr>
        <p:sp>
          <p:nvSpPr>
            <p:cNvPr name="Freeform 11" id="11"/>
            <p:cNvSpPr/>
            <p:nvPr/>
          </p:nvSpPr>
          <p:spPr>
            <a:xfrm flipH="false" flipV="false" rot="0">
              <a:off x="0" y="0"/>
              <a:ext cx="1905355" cy="457712"/>
            </a:xfrm>
            <a:custGeom>
              <a:avLst/>
              <a:gdLst/>
              <a:ahLst/>
              <a:cxnLst/>
              <a:rect r="r" b="b" t="t" l="l"/>
              <a:pathLst>
                <a:path h="457712" w="1905355">
                  <a:moveTo>
                    <a:pt x="54044" y="0"/>
                  </a:moveTo>
                  <a:lnTo>
                    <a:pt x="1851311" y="0"/>
                  </a:lnTo>
                  <a:cubicBezTo>
                    <a:pt x="1865644" y="0"/>
                    <a:pt x="1879391" y="5694"/>
                    <a:pt x="1889526" y="15829"/>
                  </a:cubicBezTo>
                  <a:cubicBezTo>
                    <a:pt x="1899661" y="25965"/>
                    <a:pt x="1905355" y="39711"/>
                    <a:pt x="1905355" y="54044"/>
                  </a:cubicBezTo>
                  <a:lnTo>
                    <a:pt x="1905355" y="403668"/>
                  </a:lnTo>
                  <a:cubicBezTo>
                    <a:pt x="1905355" y="418001"/>
                    <a:pt x="1899661" y="431747"/>
                    <a:pt x="1889526" y="441883"/>
                  </a:cubicBezTo>
                  <a:cubicBezTo>
                    <a:pt x="1879391" y="452018"/>
                    <a:pt x="1865644" y="457712"/>
                    <a:pt x="1851311" y="457712"/>
                  </a:cubicBezTo>
                  <a:lnTo>
                    <a:pt x="54044" y="457712"/>
                  </a:lnTo>
                  <a:cubicBezTo>
                    <a:pt x="39711" y="457712"/>
                    <a:pt x="25965" y="452018"/>
                    <a:pt x="15829" y="441883"/>
                  </a:cubicBezTo>
                  <a:cubicBezTo>
                    <a:pt x="5694" y="431747"/>
                    <a:pt x="0" y="418001"/>
                    <a:pt x="0" y="403668"/>
                  </a:cubicBezTo>
                  <a:lnTo>
                    <a:pt x="0" y="54044"/>
                  </a:lnTo>
                  <a:cubicBezTo>
                    <a:pt x="0" y="39711"/>
                    <a:pt x="5694" y="25965"/>
                    <a:pt x="15829" y="15829"/>
                  </a:cubicBezTo>
                  <a:cubicBezTo>
                    <a:pt x="25965" y="5694"/>
                    <a:pt x="39711" y="0"/>
                    <a:pt x="54044" y="0"/>
                  </a:cubicBezTo>
                  <a:close/>
                </a:path>
              </a:pathLst>
            </a:custGeom>
            <a:solidFill>
              <a:srgbClr val="FAFDFF"/>
            </a:solidFill>
          </p:spPr>
        </p:sp>
        <p:sp>
          <p:nvSpPr>
            <p:cNvPr name="TextBox 12" id="12"/>
            <p:cNvSpPr txBox="true"/>
            <p:nvPr/>
          </p:nvSpPr>
          <p:spPr>
            <a:xfrm>
              <a:off x="0" y="-57150"/>
              <a:ext cx="1905355" cy="514862"/>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Freeform 13" id="13"/>
          <p:cNvSpPr/>
          <p:nvPr/>
        </p:nvSpPr>
        <p:spPr>
          <a:xfrm flipH="false" flipV="false" rot="0">
            <a:off x="126992" y="4327088"/>
            <a:ext cx="7103827" cy="4710520"/>
          </a:xfrm>
          <a:custGeom>
            <a:avLst/>
            <a:gdLst/>
            <a:ahLst/>
            <a:cxnLst/>
            <a:rect r="r" b="b" t="t" l="l"/>
            <a:pathLst>
              <a:path h="4710520" w="7103827">
                <a:moveTo>
                  <a:pt x="0" y="0"/>
                </a:moveTo>
                <a:lnTo>
                  <a:pt x="7103827" y="0"/>
                </a:lnTo>
                <a:lnTo>
                  <a:pt x="7103827" y="4710520"/>
                </a:lnTo>
                <a:lnTo>
                  <a:pt x="0" y="4710520"/>
                </a:lnTo>
                <a:lnTo>
                  <a:pt x="0" y="0"/>
                </a:lnTo>
                <a:close/>
              </a:path>
            </a:pathLst>
          </a:custGeom>
          <a:blipFill>
            <a:blip r:embed="rId12"/>
            <a:stretch>
              <a:fillRect l="0" t="0" r="0" b="-287"/>
            </a:stretch>
          </a:blipFill>
        </p:spPr>
      </p:sp>
      <p:sp>
        <p:nvSpPr>
          <p:cNvPr name="TextBox 14" id="14"/>
          <p:cNvSpPr txBox="true"/>
          <p:nvPr/>
        </p:nvSpPr>
        <p:spPr>
          <a:xfrm rot="0">
            <a:off x="8187335" y="6539473"/>
            <a:ext cx="9521432" cy="3843326"/>
          </a:xfrm>
          <a:prstGeom prst="rect">
            <a:avLst/>
          </a:prstGeom>
        </p:spPr>
        <p:txBody>
          <a:bodyPr anchor="t" rtlCol="false" tIns="0" lIns="0" bIns="0" rIns="0">
            <a:spAutoFit/>
          </a:bodyPr>
          <a:lstStyle/>
          <a:p>
            <a:pPr algn="l">
              <a:lnSpc>
                <a:spcPts val="5211"/>
              </a:lnSpc>
            </a:pPr>
            <a:r>
              <a:rPr lang="en-US" sz="3047">
                <a:solidFill>
                  <a:srgbClr val="1C0140"/>
                </a:solidFill>
                <a:latin typeface="Proxima Nova"/>
                <a:ea typeface="Proxima Nova"/>
                <a:cs typeface="Proxima Nova"/>
                <a:sym typeface="Proxima Nova"/>
              </a:rPr>
              <a:t>Quy trình Download đa luồng:</a:t>
            </a:r>
          </a:p>
          <a:p>
            <a:pPr algn="l" marL="657932" indent="-328966" lvl="1">
              <a:lnSpc>
                <a:spcPts val="5211"/>
              </a:lnSpc>
              <a:buFont typeface="Arial"/>
              <a:buChar char="•"/>
            </a:pPr>
            <a:r>
              <a:rPr lang="en-US" sz="3047">
                <a:solidFill>
                  <a:srgbClr val="1C0140"/>
                </a:solidFill>
                <a:latin typeface="Proxima Nova"/>
                <a:ea typeface="Proxima Nova"/>
                <a:cs typeface="Proxima Nova"/>
                <a:sym typeface="Proxima Nova"/>
              </a:rPr>
              <a:t>Mỗi file được cấp một luồng (thread) xử lý riêng biệt.</a:t>
            </a:r>
          </a:p>
          <a:p>
            <a:pPr algn="l" marL="657932" indent="-328966" lvl="1">
              <a:lnSpc>
                <a:spcPts val="5211"/>
              </a:lnSpc>
              <a:buFont typeface="Arial"/>
              <a:buChar char="•"/>
            </a:pPr>
            <a:r>
              <a:rPr lang="en-US" sz="3047">
                <a:solidFill>
                  <a:srgbClr val="1C0140"/>
                </a:solidFill>
                <a:latin typeface="Proxima Nova"/>
                <a:ea typeface="Proxima Nova"/>
                <a:cs typeface="Proxima Nova"/>
                <a:sym typeface="Proxima Nova"/>
              </a:rPr>
              <a:t>Giúp ứng dụng không bị "đơ" hay kẹt giao diện.</a:t>
            </a:r>
          </a:p>
          <a:p>
            <a:pPr algn="l" marL="657932" indent="-328966" lvl="1">
              <a:lnSpc>
                <a:spcPts val="5211"/>
              </a:lnSpc>
              <a:buFont typeface="Arial"/>
              <a:buChar char="•"/>
            </a:pPr>
            <a:r>
              <a:rPr lang="en-US" sz="3047">
                <a:solidFill>
                  <a:srgbClr val="1C0140"/>
                </a:solidFill>
                <a:latin typeface="Proxima Nova"/>
                <a:ea typeface="Proxima Nova"/>
                <a:cs typeface="Proxima Nova"/>
                <a:sym typeface="Proxima Nova"/>
              </a:rPr>
              <a:t>Tối ưu hóa tối đa băng thông, tốc độ và thời gian chờ của mạng.</a:t>
            </a:r>
          </a:p>
          <a:p>
            <a:pPr algn="l">
              <a:lnSpc>
                <a:spcPts val="5211"/>
              </a:lnSpc>
            </a:pPr>
          </a:p>
        </p:txBody>
      </p:sp>
      <p:sp>
        <p:nvSpPr>
          <p:cNvPr name="TextBox 15" id="15"/>
          <p:cNvSpPr txBox="true"/>
          <p:nvPr/>
        </p:nvSpPr>
        <p:spPr>
          <a:xfrm rot="0">
            <a:off x="7964618" y="3897361"/>
            <a:ext cx="9663127" cy="2097082"/>
          </a:xfrm>
          <a:prstGeom prst="rect">
            <a:avLst/>
          </a:prstGeom>
        </p:spPr>
        <p:txBody>
          <a:bodyPr anchor="t" rtlCol="false" tIns="0" lIns="0" bIns="0" rIns="0">
            <a:spAutoFit/>
          </a:bodyPr>
          <a:lstStyle/>
          <a:p>
            <a:pPr algn="l">
              <a:lnSpc>
                <a:spcPts val="5728"/>
              </a:lnSpc>
            </a:pPr>
            <a:r>
              <a:rPr lang="en-US" sz="3350">
                <a:solidFill>
                  <a:srgbClr val="1C0140"/>
                </a:solidFill>
                <a:latin typeface="Proxima Nova"/>
                <a:ea typeface="Proxima Nova"/>
                <a:cs typeface="Proxima Nova"/>
                <a:sym typeface="Proxima Nova"/>
              </a:rPr>
              <a:t>Khái niệm: Kỹ thuật chia nhỏ tác vụ để CPU thực hiện song song.</a:t>
            </a:r>
          </a:p>
          <a:p>
            <a:pPr algn="l">
              <a:lnSpc>
                <a:spcPts val="5728"/>
              </a:lnSpc>
            </a:pPr>
          </a:p>
        </p:txBody>
      </p:sp>
      <p:sp>
        <p:nvSpPr>
          <p:cNvPr name="TextBox 16" id="16"/>
          <p:cNvSpPr txBox="true"/>
          <p:nvPr/>
        </p:nvSpPr>
        <p:spPr>
          <a:xfrm rot="0">
            <a:off x="7457531" y="851736"/>
            <a:ext cx="10170214" cy="2293132"/>
          </a:xfrm>
          <a:prstGeom prst="rect">
            <a:avLst/>
          </a:prstGeom>
        </p:spPr>
        <p:txBody>
          <a:bodyPr anchor="t" rtlCol="false" tIns="0" lIns="0" bIns="0" rIns="0">
            <a:spAutoFit/>
          </a:bodyPr>
          <a:lstStyle/>
          <a:p>
            <a:pPr algn="l">
              <a:lnSpc>
                <a:spcPts val="8668"/>
              </a:lnSpc>
            </a:pPr>
            <a:r>
              <a:rPr lang="en-US" sz="9850" spc="-620" b="true">
                <a:solidFill>
                  <a:srgbClr val="1C0140"/>
                </a:solidFill>
                <a:latin typeface="Proxima Nova Bold"/>
                <a:ea typeface="Proxima Nova Bold"/>
                <a:cs typeface="Proxima Nova Bold"/>
                <a:sym typeface="Proxima Nova Bold"/>
              </a:rPr>
              <a:t>03. Cơ chế Đa luồng (Multithreading)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8907136" y="9456674"/>
            <a:ext cx="7607678" cy="4813586"/>
          </a:xfrm>
          <a:custGeom>
            <a:avLst/>
            <a:gdLst/>
            <a:ahLst/>
            <a:cxnLst/>
            <a:rect r="r" b="b" t="t" l="l"/>
            <a:pathLst>
              <a:path h="4813586" w="7607678">
                <a:moveTo>
                  <a:pt x="0" y="0"/>
                </a:moveTo>
                <a:lnTo>
                  <a:pt x="7607678" y="0"/>
                </a:lnTo>
                <a:lnTo>
                  <a:pt x="7607678" y="4813585"/>
                </a:lnTo>
                <a:lnTo>
                  <a:pt x="0" y="48135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869495" y="6552617"/>
            <a:ext cx="3292727" cy="5310849"/>
          </a:xfrm>
          <a:custGeom>
            <a:avLst/>
            <a:gdLst/>
            <a:ahLst/>
            <a:cxnLst/>
            <a:rect r="r" b="b" t="t" l="l"/>
            <a:pathLst>
              <a:path h="5310849" w="3292727">
                <a:moveTo>
                  <a:pt x="0" y="0"/>
                </a:moveTo>
                <a:lnTo>
                  <a:pt x="3292726" y="0"/>
                </a:lnTo>
                <a:lnTo>
                  <a:pt x="3292726" y="5310849"/>
                </a:lnTo>
                <a:lnTo>
                  <a:pt x="0" y="53108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259300" y="6258581"/>
            <a:ext cx="3168214" cy="4813586"/>
          </a:xfrm>
          <a:custGeom>
            <a:avLst/>
            <a:gdLst/>
            <a:ahLst/>
            <a:cxnLst/>
            <a:rect r="r" b="b" t="t" l="l"/>
            <a:pathLst>
              <a:path h="4813586" w="3168214">
                <a:moveTo>
                  <a:pt x="0" y="0"/>
                </a:moveTo>
                <a:lnTo>
                  <a:pt x="3168214" y="0"/>
                </a:lnTo>
                <a:lnTo>
                  <a:pt x="3168214" y="4813586"/>
                </a:lnTo>
                <a:lnTo>
                  <a:pt x="0" y="48135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51570" y="-2040017"/>
            <a:ext cx="2984423" cy="4813586"/>
          </a:xfrm>
          <a:custGeom>
            <a:avLst/>
            <a:gdLst/>
            <a:ahLst/>
            <a:cxnLst/>
            <a:rect r="r" b="b" t="t" l="l"/>
            <a:pathLst>
              <a:path h="4813586" w="2984423">
                <a:moveTo>
                  <a:pt x="0" y="0"/>
                </a:moveTo>
                <a:lnTo>
                  <a:pt x="2984423" y="0"/>
                </a:lnTo>
                <a:lnTo>
                  <a:pt x="2984423" y="4813585"/>
                </a:lnTo>
                <a:lnTo>
                  <a:pt x="0" y="48135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3101007" y="0"/>
            <a:ext cx="1523200" cy="3298268"/>
          </a:xfrm>
          <a:custGeom>
            <a:avLst/>
            <a:gdLst/>
            <a:ahLst/>
            <a:cxnLst/>
            <a:rect r="r" b="b" t="t" l="l"/>
            <a:pathLst>
              <a:path h="3298268" w="1523200">
                <a:moveTo>
                  <a:pt x="0" y="0"/>
                </a:moveTo>
                <a:lnTo>
                  <a:pt x="1523200" y="0"/>
                </a:lnTo>
                <a:lnTo>
                  <a:pt x="1523200" y="3298268"/>
                </a:lnTo>
                <a:lnTo>
                  <a:pt x="0" y="32982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2069475" y="6182736"/>
            <a:ext cx="1477446" cy="3199194"/>
          </a:xfrm>
          <a:custGeom>
            <a:avLst/>
            <a:gdLst/>
            <a:ahLst/>
            <a:cxnLst/>
            <a:rect r="r" b="b" t="t" l="l"/>
            <a:pathLst>
              <a:path h="3199194" w="1477446">
                <a:moveTo>
                  <a:pt x="0" y="0"/>
                </a:moveTo>
                <a:lnTo>
                  <a:pt x="1477446" y="0"/>
                </a:lnTo>
                <a:lnTo>
                  <a:pt x="1477446" y="3199195"/>
                </a:lnTo>
                <a:lnTo>
                  <a:pt x="0" y="31991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8" id="8"/>
          <p:cNvGrpSpPr/>
          <p:nvPr/>
        </p:nvGrpSpPr>
        <p:grpSpPr>
          <a:xfrm rot="0">
            <a:off x="1140641" y="3835574"/>
            <a:ext cx="16021580" cy="2272420"/>
            <a:chOff x="0" y="0"/>
            <a:chExt cx="3228784" cy="457954"/>
          </a:xfrm>
        </p:grpSpPr>
        <p:sp>
          <p:nvSpPr>
            <p:cNvPr name="Freeform 9" id="9"/>
            <p:cNvSpPr/>
            <p:nvPr/>
          </p:nvSpPr>
          <p:spPr>
            <a:xfrm flipH="false" flipV="false" rot="0">
              <a:off x="0" y="0"/>
              <a:ext cx="3228785" cy="457955"/>
            </a:xfrm>
            <a:custGeom>
              <a:avLst/>
              <a:gdLst/>
              <a:ahLst/>
              <a:cxnLst/>
              <a:rect r="r" b="b" t="t" l="l"/>
              <a:pathLst>
                <a:path h="457955" w="3228785">
                  <a:moveTo>
                    <a:pt x="31892" y="0"/>
                  </a:moveTo>
                  <a:lnTo>
                    <a:pt x="3196892" y="0"/>
                  </a:lnTo>
                  <a:cubicBezTo>
                    <a:pt x="3214506" y="0"/>
                    <a:pt x="3228785" y="14279"/>
                    <a:pt x="3228785" y="31892"/>
                  </a:cubicBezTo>
                  <a:lnTo>
                    <a:pt x="3228785" y="426062"/>
                  </a:lnTo>
                  <a:cubicBezTo>
                    <a:pt x="3228785" y="434520"/>
                    <a:pt x="3225424" y="442632"/>
                    <a:pt x="3219443" y="448613"/>
                  </a:cubicBezTo>
                  <a:cubicBezTo>
                    <a:pt x="3213462" y="454594"/>
                    <a:pt x="3205350" y="457955"/>
                    <a:pt x="3196892" y="457955"/>
                  </a:cubicBezTo>
                  <a:lnTo>
                    <a:pt x="31892" y="457955"/>
                  </a:lnTo>
                  <a:cubicBezTo>
                    <a:pt x="14279" y="457955"/>
                    <a:pt x="0" y="443676"/>
                    <a:pt x="0" y="426062"/>
                  </a:cubicBezTo>
                  <a:lnTo>
                    <a:pt x="0" y="31892"/>
                  </a:lnTo>
                  <a:cubicBezTo>
                    <a:pt x="0" y="14279"/>
                    <a:pt x="14279" y="0"/>
                    <a:pt x="31892" y="0"/>
                  </a:cubicBezTo>
                  <a:close/>
                </a:path>
              </a:pathLst>
            </a:custGeom>
            <a:solidFill>
              <a:srgbClr val="FAFDFF"/>
            </a:solidFill>
          </p:spPr>
        </p:sp>
        <p:sp>
          <p:nvSpPr>
            <p:cNvPr name="TextBox 10" id="10"/>
            <p:cNvSpPr txBox="true"/>
            <p:nvPr/>
          </p:nvSpPr>
          <p:spPr>
            <a:xfrm>
              <a:off x="0" y="-57150"/>
              <a:ext cx="3228784" cy="515104"/>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11" id="11"/>
          <p:cNvSpPr txBox="true"/>
          <p:nvPr/>
        </p:nvSpPr>
        <p:spPr>
          <a:xfrm rot="0">
            <a:off x="1675914" y="4611188"/>
            <a:ext cx="15820292" cy="1761442"/>
          </a:xfrm>
          <a:prstGeom prst="rect">
            <a:avLst/>
          </a:prstGeom>
        </p:spPr>
        <p:txBody>
          <a:bodyPr anchor="t" rtlCol="false" tIns="0" lIns="0" bIns="0" rIns="0">
            <a:spAutoFit/>
          </a:bodyPr>
          <a:lstStyle/>
          <a:p>
            <a:pPr algn="l">
              <a:lnSpc>
                <a:spcPts val="7049"/>
              </a:lnSpc>
            </a:pPr>
            <a:r>
              <a:rPr lang="en-US" sz="8010" spc="-504" b="true">
                <a:solidFill>
                  <a:srgbClr val="1C0140"/>
                </a:solidFill>
                <a:latin typeface="Proxima Nova Bold"/>
                <a:ea typeface="Proxima Nova Bold"/>
                <a:cs typeface="Proxima Nova Bold"/>
                <a:sym typeface="Proxima Nova Bold"/>
              </a:rPr>
              <a:t>PHÂN TÍCH VÀ THIẾT KẾ HỆ THỐNG</a:t>
            </a:r>
          </a:p>
          <a:p>
            <a:pPr algn="l">
              <a:lnSpc>
                <a:spcPts val="6312"/>
              </a:lnSpc>
            </a:pPr>
          </a:p>
        </p:txBody>
      </p:sp>
      <p:sp>
        <p:nvSpPr>
          <p:cNvPr name="Freeform 12" id="12"/>
          <p:cNvSpPr/>
          <p:nvPr/>
        </p:nvSpPr>
        <p:spPr>
          <a:xfrm flipH="false" flipV="false" rot="0">
            <a:off x="-5294321" y="891475"/>
            <a:ext cx="7607678" cy="4813586"/>
          </a:xfrm>
          <a:custGeom>
            <a:avLst/>
            <a:gdLst/>
            <a:ahLst/>
            <a:cxnLst/>
            <a:rect r="r" b="b" t="t" l="l"/>
            <a:pathLst>
              <a:path h="4813586" w="7607678">
                <a:moveTo>
                  <a:pt x="0" y="0"/>
                </a:moveTo>
                <a:lnTo>
                  <a:pt x="7607678" y="0"/>
                </a:lnTo>
                <a:lnTo>
                  <a:pt x="7607678" y="4813586"/>
                </a:lnTo>
                <a:lnTo>
                  <a:pt x="0" y="4813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2259869" y="8665374"/>
            <a:ext cx="5643383" cy="3652808"/>
          </a:xfrm>
          <a:custGeom>
            <a:avLst/>
            <a:gdLst/>
            <a:ahLst/>
            <a:cxnLst/>
            <a:rect r="r" b="b" t="t" l="l"/>
            <a:pathLst>
              <a:path h="3652808" w="5643383">
                <a:moveTo>
                  <a:pt x="0" y="0"/>
                </a:moveTo>
                <a:lnTo>
                  <a:pt x="5643382" y="0"/>
                </a:lnTo>
                <a:lnTo>
                  <a:pt x="5643382" y="3652808"/>
                </a:lnTo>
                <a:lnTo>
                  <a:pt x="0" y="365280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242462" y="6372630"/>
            <a:ext cx="6006838" cy="3800690"/>
          </a:xfrm>
          <a:custGeom>
            <a:avLst/>
            <a:gdLst/>
            <a:ahLst/>
            <a:cxnLst/>
            <a:rect r="r" b="b" t="t" l="l"/>
            <a:pathLst>
              <a:path h="3800690" w="6006838">
                <a:moveTo>
                  <a:pt x="0" y="0"/>
                </a:moveTo>
                <a:lnTo>
                  <a:pt x="6006838" y="0"/>
                </a:lnTo>
                <a:lnTo>
                  <a:pt x="6006838" y="3800691"/>
                </a:lnTo>
                <a:lnTo>
                  <a:pt x="0" y="38006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5173529" y="1487149"/>
            <a:ext cx="12760757" cy="1410880"/>
          </a:xfrm>
          <a:prstGeom prst="rect">
            <a:avLst/>
          </a:prstGeom>
        </p:spPr>
        <p:txBody>
          <a:bodyPr anchor="t" rtlCol="false" tIns="0" lIns="0" bIns="0" rIns="0">
            <a:spAutoFit/>
          </a:bodyPr>
          <a:lstStyle/>
          <a:p>
            <a:pPr algn="r">
              <a:lnSpc>
                <a:spcPts val="10131"/>
              </a:lnSpc>
            </a:pPr>
            <a:r>
              <a:rPr lang="en-US" b="true" sz="11513" spc="-725">
                <a:solidFill>
                  <a:srgbClr val="1C0140"/>
                </a:solidFill>
                <a:latin typeface="Proxima Nova Bold"/>
                <a:ea typeface="Proxima Nova Bold"/>
                <a:cs typeface="Proxima Nova Bold"/>
                <a:sym typeface="Proxima Nova Bold"/>
              </a:rPr>
              <a:t>Yêu cầu của hệ thống</a:t>
            </a:r>
          </a:p>
        </p:txBody>
      </p:sp>
      <p:grpSp>
        <p:nvGrpSpPr>
          <p:cNvPr name="Group 3" id="3"/>
          <p:cNvGrpSpPr/>
          <p:nvPr/>
        </p:nvGrpSpPr>
        <p:grpSpPr>
          <a:xfrm rot="0">
            <a:off x="7062550" y="3893306"/>
            <a:ext cx="3808286" cy="4936557"/>
            <a:chOff x="0" y="0"/>
            <a:chExt cx="1059212" cy="1373021"/>
          </a:xfrm>
        </p:grpSpPr>
        <p:sp>
          <p:nvSpPr>
            <p:cNvPr name="Freeform 4" id="4"/>
            <p:cNvSpPr/>
            <p:nvPr/>
          </p:nvSpPr>
          <p:spPr>
            <a:xfrm flipH="false" flipV="false" rot="0">
              <a:off x="0" y="0"/>
              <a:ext cx="1059212" cy="1373021"/>
            </a:xfrm>
            <a:custGeom>
              <a:avLst/>
              <a:gdLst/>
              <a:ahLst/>
              <a:cxnLst/>
              <a:rect r="r" b="b" t="t" l="l"/>
              <a:pathLst>
                <a:path h="1373021" w="1059212">
                  <a:moveTo>
                    <a:pt x="0" y="0"/>
                  </a:moveTo>
                  <a:lnTo>
                    <a:pt x="1059212" y="0"/>
                  </a:lnTo>
                  <a:lnTo>
                    <a:pt x="1059212" y="1373021"/>
                  </a:lnTo>
                  <a:lnTo>
                    <a:pt x="0" y="1373021"/>
                  </a:lnTo>
                  <a:close/>
                </a:path>
              </a:pathLst>
            </a:custGeom>
            <a:solidFill>
              <a:srgbClr val="5284FF">
                <a:alpha val="89804"/>
              </a:srgbClr>
            </a:solidFill>
          </p:spPr>
        </p:sp>
        <p:sp>
          <p:nvSpPr>
            <p:cNvPr name="TextBox 5" id="5"/>
            <p:cNvSpPr txBox="true"/>
            <p:nvPr/>
          </p:nvSpPr>
          <p:spPr>
            <a:xfrm>
              <a:off x="0" y="-38100"/>
              <a:ext cx="1059212" cy="1411121"/>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2410466" y="3893306"/>
            <a:ext cx="3723523" cy="4936557"/>
            <a:chOff x="0" y="0"/>
            <a:chExt cx="1035636" cy="1373021"/>
          </a:xfrm>
        </p:grpSpPr>
        <p:sp>
          <p:nvSpPr>
            <p:cNvPr name="Freeform 7" id="7"/>
            <p:cNvSpPr/>
            <p:nvPr/>
          </p:nvSpPr>
          <p:spPr>
            <a:xfrm flipH="false" flipV="false" rot="0">
              <a:off x="0" y="0"/>
              <a:ext cx="1035636" cy="1373021"/>
            </a:xfrm>
            <a:custGeom>
              <a:avLst/>
              <a:gdLst/>
              <a:ahLst/>
              <a:cxnLst/>
              <a:rect r="r" b="b" t="t" l="l"/>
              <a:pathLst>
                <a:path h="1373021" w="1035636">
                  <a:moveTo>
                    <a:pt x="0" y="0"/>
                  </a:moveTo>
                  <a:lnTo>
                    <a:pt x="1035636" y="0"/>
                  </a:lnTo>
                  <a:lnTo>
                    <a:pt x="1035636" y="1373021"/>
                  </a:lnTo>
                  <a:lnTo>
                    <a:pt x="0" y="1373021"/>
                  </a:lnTo>
                  <a:close/>
                </a:path>
              </a:pathLst>
            </a:custGeom>
            <a:solidFill>
              <a:srgbClr val="5284FF">
                <a:alpha val="89804"/>
              </a:srgbClr>
            </a:solidFill>
          </p:spPr>
        </p:sp>
        <p:sp>
          <p:nvSpPr>
            <p:cNvPr name="TextBox 8" id="8"/>
            <p:cNvSpPr txBox="true"/>
            <p:nvPr/>
          </p:nvSpPr>
          <p:spPr>
            <a:xfrm>
              <a:off x="0" y="-38100"/>
              <a:ext cx="1035636" cy="1411121"/>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7289263" y="5029200"/>
            <a:ext cx="3269644" cy="3670203"/>
          </a:xfrm>
          <a:prstGeom prst="rect">
            <a:avLst/>
          </a:prstGeom>
        </p:spPr>
        <p:txBody>
          <a:bodyPr anchor="t" rtlCol="false" tIns="0" lIns="0" bIns="0" rIns="0">
            <a:spAutoFit/>
          </a:bodyPr>
          <a:lstStyle/>
          <a:p>
            <a:pPr algn="l" marL="487579" indent="-243789" lvl="1">
              <a:lnSpc>
                <a:spcPts val="3861"/>
              </a:lnSpc>
              <a:buFont typeface="Arial"/>
              <a:buChar char="•"/>
            </a:pPr>
            <a:r>
              <a:rPr lang="en-US" sz="2258">
                <a:solidFill>
                  <a:srgbClr val="FFFFFF"/>
                </a:solidFill>
                <a:latin typeface="Proxima Nova"/>
                <a:ea typeface="Proxima Nova"/>
                <a:cs typeface="Proxima Nova"/>
                <a:sym typeface="Proxima Nova"/>
              </a:rPr>
              <a:t>Server đa nhiệm: Quản lý nhiều Client kết nối cùng một thời điểm.</a:t>
            </a:r>
          </a:p>
          <a:p>
            <a:pPr algn="just" marL="444398" indent="-222199" lvl="1">
              <a:lnSpc>
                <a:spcPts val="3519"/>
              </a:lnSpc>
              <a:buFont typeface="Arial"/>
              <a:buChar char="•"/>
            </a:pPr>
            <a:r>
              <a:rPr lang="en-US" sz="2058">
                <a:solidFill>
                  <a:srgbClr val="FFFFFF"/>
                </a:solidFill>
                <a:latin typeface="Proxima Nova"/>
                <a:ea typeface="Proxima Nova"/>
                <a:cs typeface="Proxima Nova"/>
                <a:sym typeface="Proxima Nova"/>
              </a:rPr>
              <a:t>Client tiếp nhận: Parse chuỗi dữ liệu (byte) thành Tệp hoàn chỉnh.</a:t>
            </a:r>
          </a:p>
          <a:p>
            <a:pPr algn="just">
              <a:lnSpc>
                <a:spcPts val="3519"/>
              </a:lnSpc>
            </a:pPr>
          </a:p>
        </p:txBody>
      </p:sp>
      <p:sp>
        <p:nvSpPr>
          <p:cNvPr name="TextBox 10" id="10"/>
          <p:cNvSpPr txBox="true"/>
          <p:nvPr/>
        </p:nvSpPr>
        <p:spPr>
          <a:xfrm rot="0">
            <a:off x="7571141" y="4647677"/>
            <a:ext cx="2791104" cy="307311"/>
          </a:xfrm>
          <a:prstGeom prst="rect">
            <a:avLst/>
          </a:prstGeom>
        </p:spPr>
        <p:txBody>
          <a:bodyPr anchor="t" rtlCol="false" tIns="0" lIns="0" bIns="0" rIns="0">
            <a:spAutoFit/>
          </a:bodyPr>
          <a:lstStyle/>
          <a:p>
            <a:pPr algn="ctr">
              <a:lnSpc>
                <a:spcPts val="2249"/>
              </a:lnSpc>
            </a:pPr>
            <a:r>
              <a:rPr lang="en-US" b="true" sz="2556" spc="-161">
                <a:solidFill>
                  <a:srgbClr val="FFFFFF"/>
                </a:solidFill>
                <a:latin typeface="Proxima Nova Bold"/>
                <a:ea typeface="Proxima Nova Bold"/>
                <a:cs typeface="Proxima Nova Bold"/>
                <a:sym typeface="Proxima Nova Bold"/>
              </a:rPr>
              <a:t>Yêu cầu chức năng</a:t>
            </a:r>
          </a:p>
        </p:txBody>
      </p:sp>
      <p:sp>
        <p:nvSpPr>
          <p:cNvPr name="TextBox 11" id="11"/>
          <p:cNvSpPr txBox="true"/>
          <p:nvPr/>
        </p:nvSpPr>
        <p:spPr>
          <a:xfrm rot="0">
            <a:off x="12805828" y="5084911"/>
            <a:ext cx="3119590" cy="3431909"/>
          </a:xfrm>
          <a:prstGeom prst="rect">
            <a:avLst/>
          </a:prstGeom>
        </p:spPr>
        <p:txBody>
          <a:bodyPr anchor="t" rtlCol="false" tIns="0" lIns="0" bIns="0" rIns="0">
            <a:spAutoFit/>
          </a:bodyPr>
          <a:lstStyle/>
          <a:p>
            <a:pPr algn="l" marL="498303" indent="-249152" lvl="1">
              <a:lnSpc>
                <a:spcPts val="3946"/>
              </a:lnSpc>
              <a:buFont typeface="Arial"/>
              <a:buChar char="•"/>
            </a:pPr>
            <a:r>
              <a:rPr lang="en-US" sz="2308">
                <a:solidFill>
                  <a:srgbClr val="FFFFFF"/>
                </a:solidFill>
                <a:latin typeface="Proxima Nova"/>
                <a:ea typeface="Proxima Nova"/>
                <a:cs typeface="Proxima Nova"/>
                <a:sym typeface="Proxima Nova"/>
              </a:rPr>
              <a:t>Tính ổn định (Hạn chế tối đa lỗi ngắt mạng hỏng file).</a:t>
            </a:r>
          </a:p>
          <a:p>
            <a:pPr algn="l" marL="498303" indent="-249152" lvl="1">
              <a:lnSpc>
                <a:spcPts val="3946"/>
              </a:lnSpc>
              <a:buFont typeface="Arial"/>
              <a:buChar char="•"/>
            </a:pPr>
            <a:r>
              <a:rPr lang="en-US" sz="2308">
                <a:solidFill>
                  <a:srgbClr val="FFFFFF"/>
                </a:solidFill>
                <a:latin typeface="Proxima Nova"/>
                <a:ea typeface="Proxima Nova"/>
                <a:cs typeface="Proxima Nova"/>
                <a:sym typeface="Proxima Nova"/>
              </a:rPr>
              <a:t>Tính mở rộng &amp; hiệu suất băng thông cao.</a:t>
            </a:r>
          </a:p>
          <a:p>
            <a:pPr algn="l">
              <a:lnSpc>
                <a:spcPts val="3946"/>
              </a:lnSpc>
            </a:pPr>
          </a:p>
        </p:txBody>
      </p:sp>
      <p:sp>
        <p:nvSpPr>
          <p:cNvPr name="TextBox 12" id="12"/>
          <p:cNvSpPr txBox="true"/>
          <p:nvPr/>
        </p:nvSpPr>
        <p:spPr>
          <a:xfrm rot="0">
            <a:off x="12805828" y="4647677"/>
            <a:ext cx="2932799" cy="307311"/>
          </a:xfrm>
          <a:prstGeom prst="rect">
            <a:avLst/>
          </a:prstGeom>
        </p:spPr>
        <p:txBody>
          <a:bodyPr anchor="t" rtlCol="false" tIns="0" lIns="0" bIns="0" rIns="0">
            <a:spAutoFit/>
          </a:bodyPr>
          <a:lstStyle/>
          <a:p>
            <a:pPr algn="ctr">
              <a:lnSpc>
                <a:spcPts val="2249"/>
              </a:lnSpc>
            </a:pPr>
            <a:r>
              <a:rPr lang="en-US" b="true" sz="2556" spc="-161">
                <a:solidFill>
                  <a:srgbClr val="FFFFFF"/>
                </a:solidFill>
                <a:latin typeface="Proxima Nova Bold"/>
                <a:ea typeface="Proxima Nova Bold"/>
                <a:cs typeface="Proxima Nova Bold"/>
                <a:sym typeface="Proxima Nova Bold"/>
              </a:rPr>
              <a:t>Yêu cầu phi chức năng</a:t>
            </a:r>
          </a:p>
        </p:txBody>
      </p:sp>
      <p:sp>
        <p:nvSpPr>
          <p:cNvPr name="Freeform 13" id="13"/>
          <p:cNvSpPr/>
          <p:nvPr/>
        </p:nvSpPr>
        <p:spPr>
          <a:xfrm flipH="false" flipV="false" rot="0">
            <a:off x="627923" y="-1257149"/>
            <a:ext cx="4106217" cy="4571699"/>
          </a:xfrm>
          <a:custGeom>
            <a:avLst/>
            <a:gdLst/>
            <a:ahLst/>
            <a:cxnLst/>
            <a:rect r="r" b="b" t="t" l="l"/>
            <a:pathLst>
              <a:path h="4571699" w="4106217">
                <a:moveTo>
                  <a:pt x="0" y="0"/>
                </a:moveTo>
                <a:lnTo>
                  <a:pt x="4106216" y="0"/>
                </a:lnTo>
                <a:lnTo>
                  <a:pt x="4106216" y="4571698"/>
                </a:lnTo>
                <a:lnTo>
                  <a:pt x="0" y="45716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2200587" y="-2810600"/>
            <a:ext cx="3898412" cy="4571699"/>
          </a:xfrm>
          <a:custGeom>
            <a:avLst/>
            <a:gdLst/>
            <a:ahLst/>
            <a:cxnLst/>
            <a:rect r="r" b="b" t="t" l="l"/>
            <a:pathLst>
              <a:path h="4571699" w="3898412">
                <a:moveTo>
                  <a:pt x="0" y="0"/>
                </a:moveTo>
                <a:lnTo>
                  <a:pt x="3898412" y="0"/>
                </a:lnTo>
                <a:lnTo>
                  <a:pt x="3898412" y="4571698"/>
                </a:lnTo>
                <a:lnTo>
                  <a:pt x="0" y="45716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2181425" y="3079723"/>
            <a:ext cx="3341496" cy="4571699"/>
          </a:xfrm>
          <a:custGeom>
            <a:avLst/>
            <a:gdLst/>
            <a:ahLst/>
            <a:cxnLst/>
            <a:rect r="r" b="b" t="t" l="l"/>
            <a:pathLst>
              <a:path h="4571699" w="3341496">
                <a:moveTo>
                  <a:pt x="0" y="0"/>
                </a:moveTo>
                <a:lnTo>
                  <a:pt x="3341496" y="0"/>
                </a:lnTo>
                <a:lnTo>
                  <a:pt x="3341496" y="4571699"/>
                </a:lnTo>
                <a:lnTo>
                  <a:pt x="0" y="45716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573503" y="3134857"/>
            <a:ext cx="2644244" cy="4516565"/>
          </a:xfrm>
          <a:custGeom>
            <a:avLst/>
            <a:gdLst/>
            <a:ahLst/>
            <a:cxnLst/>
            <a:rect r="r" b="b" t="t" l="l"/>
            <a:pathLst>
              <a:path h="4516565" w="2644244">
                <a:moveTo>
                  <a:pt x="0" y="0"/>
                </a:moveTo>
                <a:lnTo>
                  <a:pt x="2644244" y="0"/>
                </a:lnTo>
                <a:lnTo>
                  <a:pt x="2644244" y="4516565"/>
                </a:lnTo>
                <a:lnTo>
                  <a:pt x="0" y="45165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540424" y="827463"/>
            <a:ext cx="10582543" cy="1409228"/>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Kiến trúc tổng thể</a:t>
            </a:r>
          </a:p>
        </p:txBody>
      </p:sp>
      <p:grpSp>
        <p:nvGrpSpPr>
          <p:cNvPr name="Group 3" id="3"/>
          <p:cNvGrpSpPr/>
          <p:nvPr/>
        </p:nvGrpSpPr>
        <p:grpSpPr>
          <a:xfrm rot="0">
            <a:off x="540424" y="2434284"/>
            <a:ext cx="6163420" cy="1220432"/>
            <a:chOff x="0" y="0"/>
            <a:chExt cx="1242097" cy="245950"/>
          </a:xfrm>
        </p:grpSpPr>
        <p:sp>
          <p:nvSpPr>
            <p:cNvPr name="Freeform 4" id="4"/>
            <p:cNvSpPr/>
            <p:nvPr/>
          </p:nvSpPr>
          <p:spPr>
            <a:xfrm flipH="false" flipV="false" rot="0">
              <a:off x="0" y="0"/>
              <a:ext cx="1242097" cy="245950"/>
            </a:xfrm>
            <a:custGeom>
              <a:avLst/>
              <a:gdLst/>
              <a:ahLst/>
              <a:cxnLst/>
              <a:rect r="r" b="b" t="t" l="l"/>
              <a:pathLst>
                <a:path h="245950" w="1242097">
                  <a:moveTo>
                    <a:pt x="82903" y="0"/>
                  </a:moveTo>
                  <a:lnTo>
                    <a:pt x="1159194" y="0"/>
                  </a:lnTo>
                  <a:cubicBezTo>
                    <a:pt x="1204980" y="0"/>
                    <a:pt x="1242097" y="37117"/>
                    <a:pt x="1242097" y="82903"/>
                  </a:cubicBezTo>
                  <a:lnTo>
                    <a:pt x="1242097" y="163047"/>
                  </a:lnTo>
                  <a:cubicBezTo>
                    <a:pt x="1242097" y="185034"/>
                    <a:pt x="1233362" y="206121"/>
                    <a:pt x="1217815" y="221669"/>
                  </a:cubicBezTo>
                  <a:cubicBezTo>
                    <a:pt x="1202268" y="237216"/>
                    <a:pt x="1181181" y="245950"/>
                    <a:pt x="1159194" y="245950"/>
                  </a:cubicBezTo>
                  <a:lnTo>
                    <a:pt x="82903" y="245950"/>
                  </a:lnTo>
                  <a:cubicBezTo>
                    <a:pt x="37117" y="245950"/>
                    <a:pt x="0" y="208833"/>
                    <a:pt x="0" y="163047"/>
                  </a:cubicBezTo>
                  <a:lnTo>
                    <a:pt x="0" y="82903"/>
                  </a:lnTo>
                  <a:cubicBezTo>
                    <a:pt x="0" y="37117"/>
                    <a:pt x="37117" y="0"/>
                    <a:pt x="82903" y="0"/>
                  </a:cubicBezTo>
                  <a:close/>
                </a:path>
              </a:pathLst>
            </a:custGeom>
            <a:solidFill>
              <a:srgbClr val="FAFDFF"/>
            </a:solidFill>
          </p:spPr>
        </p:sp>
        <p:sp>
          <p:nvSpPr>
            <p:cNvPr name="TextBox 5" id="5"/>
            <p:cNvSpPr txBox="true"/>
            <p:nvPr/>
          </p:nvSpPr>
          <p:spPr>
            <a:xfrm>
              <a:off x="0" y="-57150"/>
              <a:ext cx="1242097" cy="303100"/>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6" id="6"/>
          <p:cNvSpPr txBox="true"/>
          <p:nvPr/>
        </p:nvSpPr>
        <p:spPr>
          <a:xfrm rot="0">
            <a:off x="1245274" y="2457516"/>
            <a:ext cx="4899914" cy="856205"/>
          </a:xfrm>
          <a:prstGeom prst="rect">
            <a:avLst/>
          </a:prstGeom>
        </p:spPr>
        <p:txBody>
          <a:bodyPr anchor="t" rtlCol="false" tIns="0" lIns="0" bIns="0" rIns="0">
            <a:spAutoFit/>
          </a:bodyPr>
          <a:lstStyle/>
          <a:p>
            <a:pPr algn="l">
              <a:lnSpc>
                <a:spcPts val="7450"/>
              </a:lnSpc>
            </a:pPr>
            <a:r>
              <a:rPr lang="en-US" sz="4357">
                <a:solidFill>
                  <a:srgbClr val="1C0140"/>
                </a:solidFill>
                <a:latin typeface="Proxima Nova"/>
                <a:ea typeface="Proxima Nova"/>
                <a:cs typeface="Proxima Nova"/>
                <a:sym typeface="Proxima Nova"/>
              </a:rPr>
              <a:t>Mô phỏng giao tiếp</a:t>
            </a:r>
          </a:p>
        </p:txBody>
      </p:sp>
      <p:grpSp>
        <p:nvGrpSpPr>
          <p:cNvPr name="Group 7" id="7"/>
          <p:cNvGrpSpPr/>
          <p:nvPr/>
        </p:nvGrpSpPr>
        <p:grpSpPr>
          <a:xfrm rot="0">
            <a:off x="1610308" y="4083341"/>
            <a:ext cx="3579698" cy="4129001"/>
            <a:chOff x="0" y="0"/>
            <a:chExt cx="995634" cy="1148413"/>
          </a:xfrm>
        </p:grpSpPr>
        <p:sp>
          <p:nvSpPr>
            <p:cNvPr name="Freeform 8" id="8"/>
            <p:cNvSpPr/>
            <p:nvPr/>
          </p:nvSpPr>
          <p:spPr>
            <a:xfrm flipH="false" flipV="false" rot="0">
              <a:off x="0" y="0"/>
              <a:ext cx="995634" cy="1148413"/>
            </a:xfrm>
            <a:custGeom>
              <a:avLst/>
              <a:gdLst/>
              <a:ahLst/>
              <a:cxnLst/>
              <a:rect r="r" b="b" t="t" l="l"/>
              <a:pathLst>
                <a:path h="1148413" w="995634">
                  <a:moveTo>
                    <a:pt x="0" y="0"/>
                  </a:moveTo>
                  <a:lnTo>
                    <a:pt x="995634" y="0"/>
                  </a:lnTo>
                  <a:lnTo>
                    <a:pt x="995634" y="1148413"/>
                  </a:lnTo>
                  <a:lnTo>
                    <a:pt x="0" y="1148413"/>
                  </a:lnTo>
                  <a:close/>
                </a:path>
              </a:pathLst>
            </a:custGeom>
            <a:solidFill>
              <a:srgbClr val="5284FF">
                <a:alpha val="89804"/>
              </a:srgbClr>
            </a:solidFill>
          </p:spPr>
        </p:sp>
        <p:sp>
          <p:nvSpPr>
            <p:cNvPr name="TextBox 9" id="9"/>
            <p:cNvSpPr txBox="true"/>
            <p:nvPr/>
          </p:nvSpPr>
          <p:spPr>
            <a:xfrm>
              <a:off x="0" y="-38100"/>
              <a:ext cx="995634" cy="1186513"/>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879971" y="4449268"/>
            <a:ext cx="3046890" cy="3273322"/>
          </a:xfrm>
          <a:prstGeom prst="rect">
            <a:avLst/>
          </a:prstGeom>
        </p:spPr>
        <p:txBody>
          <a:bodyPr anchor="t" rtlCol="false" tIns="0" lIns="0" bIns="0" rIns="0">
            <a:spAutoFit/>
          </a:bodyPr>
          <a:lstStyle/>
          <a:p>
            <a:pPr algn="l">
              <a:lnSpc>
                <a:spcPts val="4366"/>
              </a:lnSpc>
            </a:pPr>
            <a:r>
              <a:rPr lang="en-US" sz="2553" b="true">
                <a:solidFill>
                  <a:srgbClr val="FFFFFF"/>
                </a:solidFill>
                <a:latin typeface="Proxima Nova Bold"/>
                <a:ea typeface="Proxima Nova Bold"/>
                <a:cs typeface="Proxima Nova Bold"/>
                <a:sym typeface="Proxima Nova Bold"/>
              </a:rPr>
              <a:t>Server</a:t>
            </a:r>
            <a:r>
              <a:rPr lang="en-US" sz="2553">
                <a:solidFill>
                  <a:srgbClr val="FFFFFF"/>
                </a:solidFill>
                <a:latin typeface="Proxima Nova"/>
                <a:ea typeface="Proxima Nova"/>
                <a:cs typeface="Proxima Nova"/>
                <a:sym typeface="Proxima Nova"/>
              </a:rPr>
              <a:t>: </a:t>
            </a:r>
          </a:p>
          <a:p>
            <a:pPr algn="l">
              <a:lnSpc>
                <a:spcPts val="4366"/>
              </a:lnSpc>
            </a:pPr>
            <a:r>
              <a:rPr lang="en-US" sz="2553">
                <a:solidFill>
                  <a:srgbClr val="FFFFFF"/>
                </a:solidFill>
                <a:latin typeface="Proxima Nova"/>
                <a:ea typeface="Proxima Nova"/>
                <a:cs typeface="Proxima Nova"/>
                <a:sym typeface="Proxima Nova"/>
              </a:rPr>
              <a:t>Cổng (Port) 8888 mở, đón kết nối. Đọc dữ liệu nhị phân từ ổ cứng.</a:t>
            </a:r>
          </a:p>
          <a:p>
            <a:pPr algn="l">
              <a:lnSpc>
                <a:spcPts val="4366"/>
              </a:lnSpc>
            </a:pPr>
          </a:p>
        </p:txBody>
      </p:sp>
      <p:grpSp>
        <p:nvGrpSpPr>
          <p:cNvPr name="Group 11" id="11"/>
          <p:cNvGrpSpPr/>
          <p:nvPr/>
        </p:nvGrpSpPr>
        <p:grpSpPr>
          <a:xfrm rot="0">
            <a:off x="6936636" y="4083341"/>
            <a:ext cx="3579698" cy="4129001"/>
            <a:chOff x="0" y="0"/>
            <a:chExt cx="995634" cy="1148413"/>
          </a:xfrm>
        </p:grpSpPr>
        <p:sp>
          <p:nvSpPr>
            <p:cNvPr name="Freeform 12" id="12"/>
            <p:cNvSpPr/>
            <p:nvPr/>
          </p:nvSpPr>
          <p:spPr>
            <a:xfrm flipH="false" flipV="false" rot="0">
              <a:off x="0" y="0"/>
              <a:ext cx="995634" cy="1148413"/>
            </a:xfrm>
            <a:custGeom>
              <a:avLst/>
              <a:gdLst/>
              <a:ahLst/>
              <a:cxnLst/>
              <a:rect r="r" b="b" t="t" l="l"/>
              <a:pathLst>
                <a:path h="1148413" w="995634">
                  <a:moveTo>
                    <a:pt x="0" y="0"/>
                  </a:moveTo>
                  <a:lnTo>
                    <a:pt x="995634" y="0"/>
                  </a:lnTo>
                  <a:lnTo>
                    <a:pt x="995634" y="1148413"/>
                  </a:lnTo>
                  <a:lnTo>
                    <a:pt x="0" y="1148413"/>
                  </a:lnTo>
                  <a:close/>
                </a:path>
              </a:pathLst>
            </a:custGeom>
            <a:solidFill>
              <a:srgbClr val="5284FF">
                <a:alpha val="89804"/>
              </a:srgbClr>
            </a:solidFill>
          </p:spPr>
        </p:sp>
        <p:sp>
          <p:nvSpPr>
            <p:cNvPr name="TextBox 13" id="13"/>
            <p:cNvSpPr txBox="true"/>
            <p:nvPr/>
          </p:nvSpPr>
          <p:spPr>
            <a:xfrm>
              <a:off x="0" y="-38100"/>
              <a:ext cx="995634" cy="1186513"/>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7195955" y="4642864"/>
            <a:ext cx="3061059" cy="1063390"/>
          </a:xfrm>
          <a:prstGeom prst="rect">
            <a:avLst/>
          </a:prstGeom>
        </p:spPr>
        <p:txBody>
          <a:bodyPr anchor="t" rtlCol="false" tIns="0" lIns="0" bIns="0" rIns="0">
            <a:spAutoFit/>
          </a:bodyPr>
          <a:lstStyle/>
          <a:p>
            <a:pPr algn="l">
              <a:lnSpc>
                <a:spcPts val="4366"/>
              </a:lnSpc>
            </a:pPr>
            <a:r>
              <a:rPr lang="en-US" sz="2553" b="true">
                <a:solidFill>
                  <a:srgbClr val="FFFFFF"/>
                </a:solidFill>
                <a:latin typeface="Proxima Nova Bold"/>
                <a:ea typeface="Proxima Nova Bold"/>
                <a:cs typeface="Proxima Nova Bold"/>
                <a:sym typeface="Proxima Nova Bold"/>
              </a:rPr>
              <a:t>Giao thức truyền</a:t>
            </a:r>
            <a:r>
              <a:rPr lang="en-US" sz="2553">
                <a:solidFill>
                  <a:srgbClr val="FFFFFF"/>
                </a:solidFill>
                <a:latin typeface="Proxima Nova"/>
                <a:ea typeface="Proxima Nova"/>
                <a:cs typeface="Proxima Nova"/>
                <a:sym typeface="Proxima Nova"/>
              </a:rPr>
              <a:t>: TCP Stream</a:t>
            </a:r>
          </a:p>
        </p:txBody>
      </p:sp>
      <p:grpSp>
        <p:nvGrpSpPr>
          <p:cNvPr name="Group 15" id="15"/>
          <p:cNvGrpSpPr/>
          <p:nvPr/>
        </p:nvGrpSpPr>
        <p:grpSpPr>
          <a:xfrm rot="0">
            <a:off x="12262963" y="4083341"/>
            <a:ext cx="3537189" cy="4129001"/>
            <a:chOff x="0" y="0"/>
            <a:chExt cx="983811" cy="1148413"/>
          </a:xfrm>
        </p:grpSpPr>
        <p:sp>
          <p:nvSpPr>
            <p:cNvPr name="Freeform 16" id="16"/>
            <p:cNvSpPr/>
            <p:nvPr/>
          </p:nvSpPr>
          <p:spPr>
            <a:xfrm flipH="false" flipV="false" rot="0">
              <a:off x="0" y="0"/>
              <a:ext cx="983811" cy="1148413"/>
            </a:xfrm>
            <a:custGeom>
              <a:avLst/>
              <a:gdLst/>
              <a:ahLst/>
              <a:cxnLst/>
              <a:rect r="r" b="b" t="t" l="l"/>
              <a:pathLst>
                <a:path h="1148413" w="983811">
                  <a:moveTo>
                    <a:pt x="0" y="0"/>
                  </a:moveTo>
                  <a:lnTo>
                    <a:pt x="983811" y="0"/>
                  </a:lnTo>
                  <a:lnTo>
                    <a:pt x="983811" y="1148413"/>
                  </a:lnTo>
                  <a:lnTo>
                    <a:pt x="0" y="1148413"/>
                  </a:lnTo>
                  <a:close/>
                </a:path>
              </a:pathLst>
            </a:custGeom>
            <a:solidFill>
              <a:srgbClr val="5284FF">
                <a:alpha val="89804"/>
              </a:srgbClr>
            </a:solidFill>
          </p:spPr>
        </p:sp>
        <p:sp>
          <p:nvSpPr>
            <p:cNvPr name="TextBox 17" id="17"/>
            <p:cNvSpPr txBox="true"/>
            <p:nvPr/>
          </p:nvSpPr>
          <p:spPr>
            <a:xfrm>
              <a:off x="0" y="-38100"/>
              <a:ext cx="983811" cy="1186513"/>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2526108" y="4642864"/>
            <a:ext cx="3061059" cy="2720839"/>
          </a:xfrm>
          <a:prstGeom prst="rect">
            <a:avLst/>
          </a:prstGeom>
        </p:spPr>
        <p:txBody>
          <a:bodyPr anchor="t" rtlCol="false" tIns="0" lIns="0" bIns="0" rIns="0">
            <a:spAutoFit/>
          </a:bodyPr>
          <a:lstStyle/>
          <a:p>
            <a:pPr algn="l">
              <a:lnSpc>
                <a:spcPts val="4366"/>
              </a:lnSpc>
            </a:pPr>
            <a:r>
              <a:rPr lang="en-US" sz="2553" b="true">
                <a:solidFill>
                  <a:srgbClr val="FFFFFF"/>
                </a:solidFill>
                <a:latin typeface="Proxima Nova Bold"/>
                <a:ea typeface="Proxima Nova Bold"/>
                <a:cs typeface="Proxima Nova Bold"/>
                <a:sym typeface="Proxima Nova Bold"/>
              </a:rPr>
              <a:t>Client: </a:t>
            </a:r>
            <a:r>
              <a:rPr lang="en-US" sz="2553">
                <a:solidFill>
                  <a:srgbClr val="FFFFFF"/>
                </a:solidFill>
                <a:latin typeface="Proxima Nova"/>
                <a:ea typeface="Proxima Nova"/>
                <a:cs typeface="Proxima Nova"/>
                <a:sym typeface="Proxima Nova"/>
              </a:rPr>
              <a:t>Kết nối bằng IP + 8888. Nhận Stream và Build ra file vật lý ở thư mục Downloads</a:t>
            </a:r>
          </a:p>
        </p:txBody>
      </p:sp>
      <p:sp>
        <p:nvSpPr>
          <p:cNvPr name="Freeform 19" id="19"/>
          <p:cNvSpPr/>
          <p:nvPr/>
        </p:nvSpPr>
        <p:spPr>
          <a:xfrm flipH="false" flipV="false" rot="0">
            <a:off x="-4174318" y="7835624"/>
            <a:ext cx="7574475" cy="4902751"/>
          </a:xfrm>
          <a:custGeom>
            <a:avLst/>
            <a:gdLst/>
            <a:ahLst/>
            <a:cxnLst/>
            <a:rect r="r" b="b" t="t" l="l"/>
            <a:pathLst>
              <a:path h="4902751" w="7574475">
                <a:moveTo>
                  <a:pt x="0" y="0"/>
                </a:moveTo>
                <a:lnTo>
                  <a:pt x="7574475" y="0"/>
                </a:lnTo>
                <a:lnTo>
                  <a:pt x="7574475" y="4902752"/>
                </a:lnTo>
                <a:lnTo>
                  <a:pt x="0" y="49027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12262963" y="-1904633"/>
            <a:ext cx="3898412" cy="4571699"/>
          </a:xfrm>
          <a:custGeom>
            <a:avLst/>
            <a:gdLst/>
            <a:ahLst/>
            <a:cxnLst/>
            <a:rect r="r" b="b" t="t" l="l"/>
            <a:pathLst>
              <a:path h="4571699" w="3898412">
                <a:moveTo>
                  <a:pt x="0" y="0"/>
                </a:moveTo>
                <a:lnTo>
                  <a:pt x="3898413" y="0"/>
                </a:lnTo>
                <a:lnTo>
                  <a:pt x="3898413" y="4571699"/>
                </a:lnTo>
                <a:lnTo>
                  <a:pt x="0" y="45716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15216796" y="7289294"/>
            <a:ext cx="3071204" cy="3419357"/>
          </a:xfrm>
          <a:custGeom>
            <a:avLst/>
            <a:gdLst/>
            <a:ahLst/>
            <a:cxnLst/>
            <a:rect r="r" b="b" t="t" l="l"/>
            <a:pathLst>
              <a:path h="3419357" w="3071204">
                <a:moveTo>
                  <a:pt x="0" y="0"/>
                </a:moveTo>
                <a:lnTo>
                  <a:pt x="3071204" y="0"/>
                </a:lnTo>
                <a:lnTo>
                  <a:pt x="3071204" y="3419356"/>
                </a:lnTo>
                <a:lnTo>
                  <a:pt x="0" y="341935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5426927" y="898457"/>
            <a:ext cx="5511729" cy="3868232"/>
          </a:xfrm>
          <a:custGeom>
            <a:avLst/>
            <a:gdLst/>
            <a:ahLst/>
            <a:cxnLst/>
            <a:rect r="r" b="b" t="t" l="l"/>
            <a:pathLst>
              <a:path h="3868232" w="5511729">
                <a:moveTo>
                  <a:pt x="0" y="0"/>
                </a:moveTo>
                <a:lnTo>
                  <a:pt x="5511729" y="0"/>
                </a:lnTo>
                <a:lnTo>
                  <a:pt x="5511729" y="3868232"/>
                </a:lnTo>
                <a:lnTo>
                  <a:pt x="0" y="386823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2509653" y="789378"/>
            <a:ext cx="14395408" cy="1409228"/>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Phân quyền chức năng</a:t>
            </a:r>
          </a:p>
        </p:txBody>
      </p:sp>
      <p:grpSp>
        <p:nvGrpSpPr>
          <p:cNvPr name="Group 3" id="3"/>
          <p:cNvGrpSpPr/>
          <p:nvPr/>
        </p:nvGrpSpPr>
        <p:grpSpPr>
          <a:xfrm rot="0">
            <a:off x="2509653" y="2979628"/>
            <a:ext cx="5816342" cy="6932093"/>
            <a:chOff x="0" y="0"/>
            <a:chExt cx="1531876" cy="1825736"/>
          </a:xfrm>
        </p:grpSpPr>
        <p:sp>
          <p:nvSpPr>
            <p:cNvPr name="Freeform 4" id="4"/>
            <p:cNvSpPr/>
            <p:nvPr/>
          </p:nvSpPr>
          <p:spPr>
            <a:xfrm flipH="false" flipV="false" rot="0">
              <a:off x="0" y="0"/>
              <a:ext cx="1531876" cy="1825736"/>
            </a:xfrm>
            <a:custGeom>
              <a:avLst/>
              <a:gdLst/>
              <a:ahLst/>
              <a:cxnLst/>
              <a:rect r="r" b="b" t="t" l="l"/>
              <a:pathLst>
                <a:path h="1825736" w="1531876">
                  <a:moveTo>
                    <a:pt x="30614" y="0"/>
                  </a:moveTo>
                  <a:lnTo>
                    <a:pt x="1501262" y="0"/>
                  </a:lnTo>
                  <a:cubicBezTo>
                    <a:pt x="1518170" y="0"/>
                    <a:pt x="1531876" y="13707"/>
                    <a:pt x="1531876" y="30614"/>
                  </a:cubicBezTo>
                  <a:lnTo>
                    <a:pt x="1531876" y="1795122"/>
                  </a:lnTo>
                  <a:cubicBezTo>
                    <a:pt x="1531876" y="1812030"/>
                    <a:pt x="1518170" y="1825736"/>
                    <a:pt x="1501262" y="1825736"/>
                  </a:cubicBezTo>
                  <a:lnTo>
                    <a:pt x="30614" y="1825736"/>
                  </a:lnTo>
                  <a:cubicBezTo>
                    <a:pt x="22495" y="1825736"/>
                    <a:pt x="14708" y="1822511"/>
                    <a:pt x="8967" y="1816770"/>
                  </a:cubicBezTo>
                  <a:cubicBezTo>
                    <a:pt x="3225" y="1811028"/>
                    <a:pt x="0" y="1803241"/>
                    <a:pt x="0" y="1795122"/>
                  </a:cubicBezTo>
                  <a:lnTo>
                    <a:pt x="0" y="30614"/>
                  </a:lnTo>
                  <a:cubicBezTo>
                    <a:pt x="0" y="22495"/>
                    <a:pt x="3225" y="14708"/>
                    <a:pt x="8967" y="8967"/>
                  </a:cubicBezTo>
                  <a:cubicBezTo>
                    <a:pt x="14708" y="3225"/>
                    <a:pt x="22495" y="0"/>
                    <a:pt x="30614" y="0"/>
                  </a:cubicBezTo>
                  <a:close/>
                </a:path>
              </a:pathLst>
            </a:custGeom>
            <a:ln w="114300" cap="rnd">
              <a:solidFill>
                <a:srgbClr val="5C2A36"/>
              </a:solidFill>
              <a:prstDash val="sysDot"/>
              <a:round/>
            </a:ln>
          </p:spPr>
        </p:sp>
        <p:sp>
          <p:nvSpPr>
            <p:cNvPr name="TextBox 5" id="5"/>
            <p:cNvSpPr txBox="true"/>
            <p:nvPr/>
          </p:nvSpPr>
          <p:spPr>
            <a:xfrm>
              <a:off x="0" y="9525"/>
              <a:ext cx="1531876" cy="1816211"/>
            </a:xfrm>
            <a:prstGeom prst="rect">
              <a:avLst/>
            </a:prstGeom>
          </p:spPr>
          <p:txBody>
            <a:bodyPr anchor="ctr" rtlCol="false" tIns="50800" lIns="50800" bIns="50800" rIns="50800"/>
            <a:lstStyle/>
            <a:p>
              <a:pPr algn="ctr">
                <a:lnSpc>
                  <a:spcPts val="2879"/>
                </a:lnSpc>
              </a:pPr>
            </a:p>
          </p:txBody>
        </p:sp>
      </p:grpSp>
      <p:grpSp>
        <p:nvGrpSpPr>
          <p:cNvPr name="Group 6" id="6"/>
          <p:cNvGrpSpPr/>
          <p:nvPr/>
        </p:nvGrpSpPr>
        <p:grpSpPr>
          <a:xfrm rot="0">
            <a:off x="2778795" y="2283953"/>
            <a:ext cx="5278059" cy="1642897"/>
            <a:chOff x="0" y="0"/>
            <a:chExt cx="7037412" cy="2190529"/>
          </a:xfrm>
        </p:grpSpPr>
        <p:grpSp>
          <p:nvGrpSpPr>
            <p:cNvPr name="Group 7" id="7"/>
            <p:cNvGrpSpPr/>
            <p:nvPr/>
          </p:nvGrpSpPr>
          <p:grpSpPr>
            <a:xfrm rot="0">
              <a:off x="0" y="0"/>
              <a:ext cx="7037412" cy="2190529"/>
              <a:chOff x="0" y="0"/>
              <a:chExt cx="1581568" cy="492293"/>
            </a:xfrm>
          </p:grpSpPr>
          <p:sp>
            <p:nvSpPr>
              <p:cNvPr name="Freeform 8" id="8"/>
              <p:cNvSpPr/>
              <p:nvPr/>
            </p:nvSpPr>
            <p:spPr>
              <a:xfrm flipH="false" flipV="false" rot="0">
                <a:off x="0" y="0"/>
                <a:ext cx="1581568" cy="492293"/>
              </a:xfrm>
              <a:custGeom>
                <a:avLst/>
                <a:gdLst/>
                <a:ahLst/>
                <a:cxnLst/>
                <a:rect r="r" b="b" t="t" l="l"/>
                <a:pathLst>
                  <a:path h="492293" w="1581568">
                    <a:moveTo>
                      <a:pt x="44004" y="0"/>
                    </a:moveTo>
                    <a:lnTo>
                      <a:pt x="1537563" y="0"/>
                    </a:lnTo>
                    <a:cubicBezTo>
                      <a:pt x="1549234" y="0"/>
                      <a:pt x="1560427" y="4636"/>
                      <a:pt x="1568679" y="12889"/>
                    </a:cubicBezTo>
                    <a:cubicBezTo>
                      <a:pt x="1576932" y="21141"/>
                      <a:pt x="1581568" y="32334"/>
                      <a:pt x="1581568" y="44004"/>
                    </a:cubicBezTo>
                    <a:lnTo>
                      <a:pt x="1581568" y="448289"/>
                    </a:lnTo>
                    <a:cubicBezTo>
                      <a:pt x="1581568" y="472592"/>
                      <a:pt x="1561866" y="492293"/>
                      <a:pt x="1537563" y="492293"/>
                    </a:cubicBezTo>
                    <a:lnTo>
                      <a:pt x="44004" y="492293"/>
                    </a:lnTo>
                    <a:cubicBezTo>
                      <a:pt x="32334" y="492293"/>
                      <a:pt x="21141" y="487657"/>
                      <a:pt x="12889" y="479405"/>
                    </a:cubicBezTo>
                    <a:cubicBezTo>
                      <a:pt x="4636" y="471152"/>
                      <a:pt x="0" y="459959"/>
                      <a:pt x="0" y="448289"/>
                    </a:cubicBezTo>
                    <a:lnTo>
                      <a:pt x="0" y="44004"/>
                    </a:lnTo>
                    <a:cubicBezTo>
                      <a:pt x="0" y="32334"/>
                      <a:pt x="4636" y="21141"/>
                      <a:pt x="12889" y="12889"/>
                    </a:cubicBezTo>
                    <a:cubicBezTo>
                      <a:pt x="21141" y="4636"/>
                      <a:pt x="32334" y="0"/>
                      <a:pt x="44004" y="0"/>
                    </a:cubicBezTo>
                    <a:close/>
                  </a:path>
                </a:pathLst>
              </a:custGeom>
              <a:solidFill>
                <a:srgbClr val="FFFFFF"/>
              </a:solidFill>
              <a:ln cap="rnd">
                <a:noFill/>
                <a:prstDash val="solid"/>
                <a:round/>
              </a:ln>
            </p:spPr>
          </p:sp>
          <p:sp>
            <p:nvSpPr>
              <p:cNvPr name="TextBox 9" id="9"/>
              <p:cNvSpPr txBox="true"/>
              <p:nvPr/>
            </p:nvSpPr>
            <p:spPr>
              <a:xfrm>
                <a:off x="0" y="9525"/>
                <a:ext cx="1581568" cy="482768"/>
              </a:xfrm>
              <a:prstGeom prst="rect">
                <a:avLst/>
              </a:prstGeom>
            </p:spPr>
            <p:txBody>
              <a:bodyPr anchor="ctr" rtlCol="false" tIns="50800" lIns="50800" bIns="50800" rIns="50800"/>
              <a:lstStyle/>
              <a:p>
                <a:pPr algn="ctr">
                  <a:lnSpc>
                    <a:spcPts val="2879"/>
                  </a:lnSpc>
                </a:pPr>
              </a:p>
            </p:txBody>
          </p:sp>
        </p:grpSp>
        <p:grpSp>
          <p:nvGrpSpPr>
            <p:cNvPr name="Group 10" id="10"/>
            <p:cNvGrpSpPr/>
            <p:nvPr/>
          </p:nvGrpSpPr>
          <p:grpSpPr>
            <a:xfrm rot="0">
              <a:off x="201791" y="293097"/>
              <a:ext cx="6608709" cy="1604335"/>
              <a:chOff x="0" y="0"/>
              <a:chExt cx="1485222" cy="360554"/>
            </a:xfrm>
          </p:grpSpPr>
          <p:sp>
            <p:nvSpPr>
              <p:cNvPr name="Freeform 11" id="11"/>
              <p:cNvSpPr/>
              <p:nvPr/>
            </p:nvSpPr>
            <p:spPr>
              <a:xfrm flipH="false" flipV="false" rot="0">
                <a:off x="0" y="0"/>
                <a:ext cx="1485222" cy="360554"/>
              </a:xfrm>
              <a:custGeom>
                <a:avLst/>
                <a:gdLst/>
                <a:ahLst/>
                <a:cxnLst/>
                <a:rect r="r" b="b" t="t" l="l"/>
                <a:pathLst>
                  <a:path h="360554" w="1485222">
                    <a:moveTo>
                      <a:pt x="31239" y="0"/>
                    </a:moveTo>
                    <a:lnTo>
                      <a:pt x="1453983" y="0"/>
                    </a:lnTo>
                    <a:cubicBezTo>
                      <a:pt x="1471236" y="0"/>
                      <a:pt x="1485222" y="13986"/>
                      <a:pt x="1485222" y="31239"/>
                    </a:cubicBezTo>
                    <a:lnTo>
                      <a:pt x="1485222" y="329314"/>
                    </a:lnTo>
                    <a:cubicBezTo>
                      <a:pt x="1485222" y="346567"/>
                      <a:pt x="1471236" y="360554"/>
                      <a:pt x="1453983" y="360554"/>
                    </a:cubicBezTo>
                    <a:lnTo>
                      <a:pt x="31239" y="360554"/>
                    </a:lnTo>
                    <a:cubicBezTo>
                      <a:pt x="13986" y="360554"/>
                      <a:pt x="0" y="346567"/>
                      <a:pt x="0" y="329314"/>
                    </a:cubicBezTo>
                    <a:lnTo>
                      <a:pt x="0" y="31239"/>
                    </a:lnTo>
                    <a:cubicBezTo>
                      <a:pt x="0" y="13986"/>
                      <a:pt x="13986" y="0"/>
                      <a:pt x="31239" y="0"/>
                    </a:cubicBezTo>
                    <a:close/>
                  </a:path>
                </a:pathLst>
              </a:custGeom>
              <a:ln w="38100" cap="sq">
                <a:solidFill>
                  <a:srgbClr val="004AAD"/>
                </a:solidFill>
                <a:prstDash val="sysDot"/>
                <a:miter/>
              </a:ln>
            </p:spPr>
          </p:sp>
          <p:sp>
            <p:nvSpPr>
              <p:cNvPr name="TextBox 12" id="12"/>
              <p:cNvSpPr txBox="true"/>
              <p:nvPr/>
            </p:nvSpPr>
            <p:spPr>
              <a:xfrm>
                <a:off x="0" y="9525"/>
                <a:ext cx="1485222" cy="351029"/>
              </a:xfrm>
              <a:prstGeom prst="rect">
                <a:avLst/>
              </a:prstGeom>
            </p:spPr>
            <p:txBody>
              <a:bodyPr anchor="ctr" rtlCol="false" tIns="50800" lIns="50800" bIns="50800" rIns="50800"/>
              <a:lstStyle/>
              <a:p>
                <a:pPr algn="ctr">
                  <a:lnSpc>
                    <a:spcPts val="2879"/>
                  </a:lnSpc>
                </a:pPr>
              </a:p>
            </p:txBody>
          </p:sp>
        </p:grpSp>
        <p:sp>
          <p:nvSpPr>
            <p:cNvPr name="TextBox 13" id="13"/>
            <p:cNvSpPr txBox="true"/>
            <p:nvPr/>
          </p:nvSpPr>
          <p:spPr>
            <a:xfrm rot="0">
              <a:off x="634094" y="777002"/>
              <a:ext cx="5744104" cy="654728"/>
            </a:xfrm>
            <a:prstGeom prst="rect">
              <a:avLst/>
            </a:prstGeom>
          </p:spPr>
          <p:txBody>
            <a:bodyPr anchor="t" rtlCol="false" tIns="0" lIns="0" bIns="0" rIns="0">
              <a:spAutoFit/>
            </a:bodyPr>
            <a:lstStyle/>
            <a:p>
              <a:pPr algn="ctr">
                <a:lnSpc>
                  <a:spcPts val="4171"/>
                </a:lnSpc>
              </a:pPr>
              <a:r>
                <a:rPr lang="en-US" sz="2979">
                  <a:solidFill>
                    <a:srgbClr val="1C0140"/>
                  </a:solidFill>
                  <a:latin typeface="UTM Alexander"/>
                  <a:ea typeface="UTM Alexander"/>
                  <a:cs typeface="UTM Alexander"/>
                  <a:sym typeface="UTM Alexander"/>
                </a:rPr>
                <a:t>Phía Server (Máy chủ</a:t>
              </a:r>
            </a:p>
          </p:txBody>
        </p:sp>
      </p:grpSp>
      <p:sp>
        <p:nvSpPr>
          <p:cNvPr name="TextBox 14" id="14"/>
          <p:cNvSpPr txBox="true"/>
          <p:nvPr/>
        </p:nvSpPr>
        <p:spPr>
          <a:xfrm rot="0">
            <a:off x="2978773" y="4471469"/>
            <a:ext cx="4878103" cy="533384"/>
          </a:xfrm>
          <a:prstGeom prst="rect">
            <a:avLst/>
          </a:prstGeom>
        </p:spPr>
        <p:txBody>
          <a:bodyPr anchor="t" rtlCol="false" tIns="0" lIns="0" bIns="0" rIns="0">
            <a:spAutoFit/>
          </a:bodyPr>
          <a:lstStyle/>
          <a:p>
            <a:pPr algn="l">
              <a:lnSpc>
                <a:spcPts val="4200"/>
              </a:lnSpc>
            </a:pPr>
            <a:r>
              <a:rPr lang="en-US" sz="3500">
                <a:solidFill>
                  <a:srgbClr val="1C0140"/>
                </a:solidFill>
                <a:latin typeface="UTM Alexander"/>
                <a:ea typeface="UTM Alexander"/>
                <a:cs typeface="UTM Alexander"/>
                <a:sym typeface="UTM Alexander"/>
              </a:rPr>
              <a:t>Lắng</a:t>
            </a:r>
            <a:r>
              <a:rPr lang="en-US" sz="3500">
                <a:solidFill>
                  <a:srgbClr val="1C0140"/>
                </a:solidFill>
                <a:latin typeface="UTM Alexander"/>
                <a:ea typeface="UTM Alexander"/>
                <a:cs typeface="UTM Alexander"/>
                <a:sym typeface="UTM Alexander"/>
              </a:rPr>
              <a:t> nghe qua cổng TCP.</a:t>
            </a:r>
          </a:p>
        </p:txBody>
      </p:sp>
      <p:sp>
        <p:nvSpPr>
          <p:cNvPr name="TextBox 15" id="15"/>
          <p:cNvSpPr txBox="true"/>
          <p:nvPr/>
        </p:nvSpPr>
        <p:spPr>
          <a:xfrm rot="0">
            <a:off x="2978773" y="5753053"/>
            <a:ext cx="4878103" cy="1066767"/>
          </a:xfrm>
          <a:prstGeom prst="rect">
            <a:avLst/>
          </a:prstGeom>
        </p:spPr>
        <p:txBody>
          <a:bodyPr anchor="t" rtlCol="false" tIns="0" lIns="0" bIns="0" rIns="0">
            <a:spAutoFit/>
          </a:bodyPr>
          <a:lstStyle/>
          <a:p>
            <a:pPr algn="l">
              <a:lnSpc>
                <a:spcPts val="4200"/>
              </a:lnSpc>
            </a:pPr>
            <a:r>
              <a:rPr lang="en-US" sz="3500">
                <a:solidFill>
                  <a:srgbClr val="1C0140"/>
                </a:solidFill>
                <a:latin typeface="UTM Alexander"/>
                <a:ea typeface="UTM Alexander"/>
                <a:cs typeface="UTM Alexander"/>
                <a:sym typeface="UTM Alexander"/>
              </a:rPr>
              <a:t>Kiểm chứng sự tồn tại của file.</a:t>
            </a:r>
          </a:p>
        </p:txBody>
      </p:sp>
      <p:sp>
        <p:nvSpPr>
          <p:cNvPr name="TextBox 16" id="16"/>
          <p:cNvSpPr txBox="true"/>
          <p:nvPr/>
        </p:nvSpPr>
        <p:spPr>
          <a:xfrm rot="0">
            <a:off x="2978773" y="7568038"/>
            <a:ext cx="4878103" cy="1600150"/>
          </a:xfrm>
          <a:prstGeom prst="rect">
            <a:avLst/>
          </a:prstGeom>
        </p:spPr>
        <p:txBody>
          <a:bodyPr anchor="t" rtlCol="false" tIns="0" lIns="0" bIns="0" rIns="0">
            <a:spAutoFit/>
          </a:bodyPr>
          <a:lstStyle/>
          <a:p>
            <a:pPr algn="l">
              <a:lnSpc>
                <a:spcPts val="4200"/>
              </a:lnSpc>
            </a:pPr>
            <a:r>
              <a:rPr lang="en-US" sz="3500">
                <a:solidFill>
                  <a:srgbClr val="1C0140"/>
                </a:solidFill>
                <a:latin typeface="UTM Alexander"/>
                <a:ea typeface="UTM Alexander"/>
                <a:cs typeface="UTM Alexander"/>
                <a:sym typeface="UTM Alexander"/>
              </a:rPr>
              <a:t>Gói (Stream) dữ</a:t>
            </a:r>
            <a:r>
              <a:rPr lang="en-US" sz="3500">
                <a:solidFill>
                  <a:srgbClr val="1C0140"/>
                </a:solidFill>
                <a:latin typeface="UTM Alexander"/>
                <a:ea typeface="UTM Alexander"/>
                <a:cs typeface="UTM Alexander"/>
                <a:sym typeface="UTM Alexander"/>
              </a:rPr>
              <a:t> liệu gửi liên tục về Client qua Network Stream.</a:t>
            </a:r>
          </a:p>
        </p:txBody>
      </p:sp>
      <p:grpSp>
        <p:nvGrpSpPr>
          <p:cNvPr name="Group 17" id="17"/>
          <p:cNvGrpSpPr/>
          <p:nvPr/>
        </p:nvGrpSpPr>
        <p:grpSpPr>
          <a:xfrm rot="0">
            <a:off x="10217719" y="2979628"/>
            <a:ext cx="5816342" cy="6932093"/>
            <a:chOff x="0" y="0"/>
            <a:chExt cx="1531876" cy="1825736"/>
          </a:xfrm>
        </p:grpSpPr>
        <p:sp>
          <p:nvSpPr>
            <p:cNvPr name="Freeform 18" id="18"/>
            <p:cNvSpPr/>
            <p:nvPr/>
          </p:nvSpPr>
          <p:spPr>
            <a:xfrm flipH="false" flipV="false" rot="0">
              <a:off x="0" y="0"/>
              <a:ext cx="1531876" cy="1825736"/>
            </a:xfrm>
            <a:custGeom>
              <a:avLst/>
              <a:gdLst/>
              <a:ahLst/>
              <a:cxnLst/>
              <a:rect r="r" b="b" t="t" l="l"/>
              <a:pathLst>
                <a:path h="1825736" w="1531876">
                  <a:moveTo>
                    <a:pt x="30614" y="0"/>
                  </a:moveTo>
                  <a:lnTo>
                    <a:pt x="1501262" y="0"/>
                  </a:lnTo>
                  <a:cubicBezTo>
                    <a:pt x="1518170" y="0"/>
                    <a:pt x="1531876" y="13707"/>
                    <a:pt x="1531876" y="30614"/>
                  </a:cubicBezTo>
                  <a:lnTo>
                    <a:pt x="1531876" y="1795122"/>
                  </a:lnTo>
                  <a:cubicBezTo>
                    <a:pt x="1531876" y="1812030"/>
                    <a:pt x="1518170" y="1825736"/>
                    <a:pt x="1501262" y="1825736"/>
                  </a:cubicBezTo>
                  <a:lnTo>
                    <a:pt x="30614" y="1825736"/>
                  </a:lnTo>
                  <a:cubicBezTo>
                    <a:pt x="22495" y="1825736"/>
                    <a:pt x="14708" y="1822511"/>
                    <a:pt x="8967" y="1816770"/>
                  </a:cubicBezTo>
                  <a:cubicBezTo>
                    <a:pt x="3225" y="1811028"/>
                    <a:pt x="0" y="1803241"/>
                    <a:pt x="0" y="1795122"/>
                  </a:cubicBezTo>
                  <a:lnTo>
                    <a:pt x="0" y="30614"/>
                  </a:lnTo>
                  <a:cubicBezTo>
                    <a:pt x="0" y="22495"/>
                    <a:pt x="3225" y="14708"/>
                    <a:pt x="8967" y="8967"/>
                  </a:cubicBezTo>
                  <a:cubicBezTo>
                    <a:pt x="14708" y="3225"/>
                    <a:pt x="22495" y="0"/>
                    <a:pt x="30614" y="0"/>
                  </a:cubicBezTo>
                  <a:close/>
                </a:path>
              </a:pathLst>
            </a:custGeom>
            <a:ln w="114300" cap="rnd">
              <a:solidFill>
                <a:srgbClr val="5C2A36"/>
              </a:solidFill>
              <a:prstDash val="sysDot"/>
              <a:round/>
            </a:ln>
          </p:spPr>
        </p:sp>
        <p:sp>
          <p:nvSpPr>
            <p:cNvPr name="TextBox 19" id="19"/>
            <p:cNvSpPr txBox="true"/>
            <p:nvPr/>
          </p:nvSpPr>
          <p:spPr>
            <a:xfrm>
              <a:off x="0" y="9525"/>
              <a:ext cx="1531876" cy="1816211"/>
            </a:xfrm>
            <a:prstGeom prst="rect">
              <a:avLst/>
            </a:prstGeom>
          </p:spPr>
          <p:txBody>
            <a:bodyPr anchor="ctr" rtlCol="false" tIns="50800" lIns="50800" bIns="50800" rIns="50800"/>
            <a:lstStyle/>
            <a:p>
              <a:pPr algn="ctr">
                <a:lnSpc>
                  <a:spcPts val="2879"/>
                </a:lnSpc>
              </a:pPr>
            </a:p>
          </p:txBody>
        </p:sp>
      </p:grpSp>
      <p:grpSp>
        <p:nvGrpSpPr>
          <p:cNvPr name="Group 20" id="20"/>
          <p:cNvGrpSpPr/>
          <p:nvPr/>
        </p:nvGrpSpPr>
        <p:grpSpPr>
          <a:xfrm rot="0">
            <a:off x="10486861" y="2283953"/>
            <a:ext cx="5278059" cy="1642897"/>
            <a:chOff x="0" y="0"/>
            <a:chExt cx="7037412" cy="2190529"/>
          </a:xfrm>
        </p:grpSpPr>
        <p:grpSp>
          <p:nvGrpSpPr>
            <p:cNvPr name="Group 21" id="21"/>
            <p:cNvGrpSpPr/>
            <p:nvPr/>
          </p:nvGrpSpPr>
          <p:grpSpPr>
            <a:xfrm rot="0">
              <a:off x="0" y="0"/>
              <a:ext cx="7037412" cy="2190529"/>
              <a:chOff x="0" y="0"/>
              <a:chExt cx="1581568" cy="492293"/>
            </a:xfrm>
          </p:grpSpPr>
          <p:sp>
            <p:nvSpPr>
              <p:cNvPr name="Freeform 22" id="22"/>
              <p:cNvSpPr/>
              <p:nvPr/>
            </p:nvSpPr>
            <p:spPr>
              <a:xfrm flipH="false" flipV="false" rot="0">
                <a:off x="0" y="0"/>
                <a:ext cx="1581568" cy="492293"/>
              </a:xfrm>
              <a:custGeom>
                <a:avLst/>
                <a:gdLst/>
                <a:ahLst/>
                <a:cxnLst/>
                <a:rect r="r" b="b" t="t" l="l"/>
                <a:pathLst>
                  <a:path h="492293" w="1581568">
                    <a:moveTo>
                      <a:pt x="44004" y="0"/>
                    </a:moveTo>
                    <a:lnTo>
                      <a:pt x="1537563" y="0"/>
                    </a:lnTo>
                    <a:cubicBezTo>
                      <a:pt x="1549234" y="0"/>
                      <a:pt x="1560427" y="4636"/>
                      <a:pt x="1568679" y="12889"/>
                    </a:cubicBezTo>
                    <a:cubicBezTo>
                      <a:pt x="1576932" y="21141"/>
                      <a:pt x="1581568" y="32334"/>
                      <a:pt x="1581568" y="44004"/>
                    </a:cubicBezTo>
                    <a:lnTo>
                      <a:pt x="1581568" y="448289"/>
                    </a:lnTo>
                    <a:cubicBezTo>
                      <a:pt x="1581568" y="472592"/>
                      <a:pt x="1561866" y="492293"/>
                      <a:pt x="1537563" y="492293"/>
                    </a:cubicBezTo>
                    <a:lnTo>
                      <a:pt x="44004" y="492293"/>
                    </a:lnTo>
                    <a:cubicBezTo>
                      <a:pt x="32334" y="492293"/>
                      <a:pt x="21141" y="487657"/>
                      <a:pt x="12889" y="479405"/>
                    </a:cubicBezTo>
                    <a:cubicBezTo>
                      <a:pt x="4636" y="471152"/>
                      <a:pt x="0" y="459959"/>
                      <a:pt x="0" y="448289"/>
                    </a:cubicBezTo>
                    <a:lnTo>
                      <a:pt x="0" y="44004"/>
                    </a:lnTo>
                    <a:cubicBezTo>
                      <a:pt x="0" y="32334"/>
                      <a:pt x="4636" y="21141"/>
                      <a:pt x="12889" y="12889"/>
                    </a:cubicBezTo>
                    <a:cubicBezTo>
                      <a:pt x="21141" y="4636"/>
                      <a:pt x="32334" y="0"/>
                      <a:pt x="44004" y="0"/>
                    </a:cubicBezTo>
                    <a:close/>
                  </a:path>
                </a:pathLst>
              </a:custGeom>
              <a:solidFill>
                <a:srgbClr val="FFFFFF"/>
              </a:solidFill>
              <a:ln cap="rnd">
                <a:noFill/>
                <a:prstDash val="solid"/>
                <a:round/>
              </a:ln>
            </p:spPr>
          </p:sp>
          <p:sp>
            <p:nvSpPr>
              <p:cNvPr name="TextBox 23" id="23"/>
              <p:cNvSpPr txBox="true"/>
              <p:nvPr/>
            </p:nvSpPr>
            <p:spPr>
              <a:xfrm>
                <a:off x="0" y="9525"/>
                <a:ext cx="1581568" cy="482768"/>
              </a:xfrm>
              <a:prstGeom prst="rect">
                <a:avLst/>
              </a:prstGeom>
            </p:spPr>
            <p:txBody>
              <a:bodyPr anchor="ctr" rtlCol="false" tIns="50800" lIns="50800" bIns="50800" rIns="50800"/>
              <a:lstStyle/>
              <a:p>
                <a:pPr algn="ctr">
                  <a:lnSpc>
                    <a:spcPts val="2879"/>
                  </a:lnSpc>
                </a:pPr>
              </a:p>
            </p:txBody>
          </p:sp>
        </p:grpSp>
        <p:grpSp>
          <p:nvGrpSpPr>
            <p:cNvPr name="Group 24" id="24"/>
            <p:cNvGrpSpPr/>
            <p:nvPr/>
          </p:nvGrpSpPr>
          <p:grpSpPr>
            <a:xfrm rot="0">
              <a:off x="201791" y="293097"/>
              <a:ext cx="6608709" cy="1604335"/>
              <a:chOff x="0" y="0"/>
              <a:chExt cx="1485222" cy="360554"/>
            </a:xfrm>
          </p:grpSpPr>
          <p:sp>
            <p:nvSpPr>
              <p:cNvPr name="Freeform 25" id="25"/>
              <p:cNvSpPr/>
              <p:nvPr/>
            </p:nvSpPr>
            <p:spPr>
              <a:xfrm flipH="false" flipV="false" rot="0">
                <a:off x="0" y="0"/>
                <a:ext cx="1485222" cy="360554"/>
              </a:xfrm>
              <a:custGeom>
                <a:avLst/>
                <a:gdLst/>
                <a:ahLst/>
                <a:cxnLst/>
                <a:rect r="r" b="b" t="t" l="l"/>
                <a:pathLst>
                  <a:path h="360554" w="1485222">
                    <a:moveTo>
                      <a:pt x="31239" y="0"/>
                    </a:moveTo>
                    <a:lnTo>
                      <a:pt x="1453983" y="0"/>
                    </a:lnTo>
                    <a:cubicBezTo>
                      <a:pt x="1471236" y="0"/>
                      <a:pt x="1485222" y="13986"/>
                      <a:pt x="1485222" y="31239"/>
                    </a:cubicBezTo>
                    <a:lnTo>
                      <a:pt x="1485222" y="329314"/>
                    </a:lnTo>
                    <a:cubicBezTo>
                      <a:pt x="1485222" y="346567"/>
                      <a:pt x="1471236" y="360554"/>
                      <a:pt x="1453983" y="360554"/>
                    </a:cubicBezTo>
                    <a:lnTo>
                      <a:pt x="31239" y="360554"/>
                    </a:lnTo>
                    <a:cubicBezTo>
                      <a:pt x="13986" y="360554"/>
                      <a:pt x="0" y="346567"/>
                      <a:pt x="0" y="329314"/>
                    </a:cubicBezTo>
                    <a:lnTo>
                      <a:pt x="0" y="31239"/>
                    </a:lnTo>
                    <a:cubicBezTo>
                      <a:pt x="0" y="13986"/>
                      <a:pt x="13986" y="0"/>
                      <a:pt x="31239" y="0"/>
                    </a:cubicBezTo>
                    <a:close/>
                  </a:path>
                </a:pathLst>
              </a:custGeom>
              <a:ln w="38100" cap="sq">
                <a:solidFill>
                  <a:srgbClr val="004AAD"/>
                </a:solidFill>
                <a:prstDash val="sysDot"/>
                <a:miter/>
              </a:ln>
            </p:spPr>
          </p:sp>
          <p:sp>
            <p:nvSpPr>
              <p:cNvPr name="TextBox 26" id="26"/>
              <p:cNvSpPr txBox="true"/>
              <p:nvPr/>
            </p:nvSpPr>
            <p:spPr>
              <a:xfrm>
                <a:off x="0" y="9525"/>
                <a:ext cx="1485222" cy="351029"/>
              </a:xfrm>
              <a:prstGeom prst="rect">
                <a:avLst/>
              </a:prstGeom>
            </p:spPr>
            <p:txBody>
              <a:bodyPr anchor="ctr" rtlCol="false" tIns="50800" lIns="50800" bIns="50800" rIns="50800"/>
              <a:lstStyle/>
              <a:p>
                <a:pPr algn="ctr">
                  <a:lnSpc>
                    <a:spcPts val="2879"/>
                  </a:lnSpc>
                </a:pPr>
              </a:p>
            </p:txBody>
          </p:sp>
        </p:grpSp>
        <p:sp>
          <p:nvSpPr>
            <p:cNvPr name="TextBox 27" id="27"/>
            <p:cNvSpPr txBox="true"/>
            <p:nvPr/>
          </p:nvSpPr>
          <p:spPr>
            <a:xfrm rot="0">
              <a:off x="634094" y="777002"/>
              <a:ext cx="5744104" cy="654728"/>
            </a:xfrm>
            <a:prstGeom prst="rect">
              <a:avLst/>
            </a:prstGeom>
          </p:spPr>
          <p:txBody>
            <a:bodyPr anchor="t" rtlCol="false" tIns="0" lIns="0" bIns="0" rIns="0">
              <a:spAutoFit/>
            </a:bodyPr>
            <a:lstStyle/>
            <a:p>
              <a:pPr algn="ctr">
                <a:lnSpc>
                  <a:spcPts val="4171"/>
                </a:lnSpc>
              </a:pPr>
              <a:r>
                <a:rPr lang="en-US" sz="2979">
                  <a:solidFill>
                    <a:srgbClr val="1C0140"/>
                  </a:solidFill>
                  <a:latin typeface="UTM Alexander"/>
                  <a:ea typeface="UTM Alexander"/>
                  <a:cs typeface="UTM Alexander"/>
                  <a:sym typeface="UTM Alexander"/>
                </a:rPr>
                <a:t>Phía Client (Người dùng)</a:t>
              </a:r>
            </a:p>
          </p:txBody>
        </p:sp>
      </p:grpSp>
      <p:sp>
        <p:nvSpPr>
          <p:cNvPr name="TextBox 28" id="28"/>
          <p:cNvSpPr txBox="true"/>
          <p:nvPr/>
        </p:nvSpPr>
        <p:spPr>
          <a:xfrm rot="0">
            <a:off x="10686839" y="4204769"/>
            <a:ext cx="4878103" cy="1066767"/>
          </a:xfrm>
          <a:prstGeom prst="rect">
            <a:avLst/>
          </a:prstGeom>
        </p:spPr>
        <p:txBody>
          <a:bodyPr anchor="t" rtlCol="false" tIns="0" lIns="0" bIns="0" rIns="0">
            <a:spAutoFit/>
          </a:bodyPr>
          <a:lstStyle/>
          <a:p>
            <a:pPr algn="l">
              <a:lnSpc>
                <a:spcPts val="4200"/>
              </a:lnSpc>
            </a:pPr>
            <a:r>
              <a:rPr lang="en-US" sz="3500">
                <a:solidFill>
                  <a:srgbClr val="1C0140"/>
                </a:solidFill>
                <a:latin typeface="UTM Alexander"/>
                <a:ea typeface="UTM Alexander"/>
                <a:cs typeface="UTM Alexander"/>
                <a:sym typeface="UTM Alexander"/>
              </a:rPr>
              <a:t>Mà</a:t>
            </a:r>
            <a:r>
              <a:rPr lang="en-US" sz="3500">
                <a:solidFill>
                  <a:srgbClr val="1C0140"/>
                </a:solidFill>
                <a:latin typeface="UTM Alexander"/>
                <a:ea typeface="UTM Alexander"/>
                <a:cs typeface="UTM Alexander"/>
                <a:sym typeface="UTM Alexander"/>
              </a:rPr>
              <a:t>n</a:t>
            </a:r>
            <a:r>
              <a:rPr lang="en-US" sz="3500">
                <a:solidFill>
                  <a:srgbClr val="1C0140"/>
                </a:solidFill>
                <a:latin typeface="UTM Alexander"/>
                <a:ea typeface="UTM Alexander"/>
                <a:cs typeface="UTM Alexander"/>
                <a:sym typeface="UTM Alexander"/>
              </a:rPr>
              <a:t> hình tùy chọn kết nối (IP:Port)</a:t>
            </a:r>
          </a:p>
        </p:txBody>
      </p:sp>
      <p:sp>
        <p:nvSpPr>
          <p:cNvPr name="TextBox 29" id="29"/>
          <p:cNvSpPr txBox="true"/>
          <p:nvPr/>
        </p:nvSpPr>
        <p:spPr>
          <a:xfrm rot="0">
            <a:off x="10686839" y="5753053"/>
            <a:ext cx="4878103" cy="1066767"/>
          </a:xfrm>
          <a:prstGeom prst="rect">
            <a:avLst/>
          </a:prstGeom>
        </p:spPr>
        <p:txBody>
          <a:bodyPr anchor="t" rtlCol="false" tIns="0" lIns="0" bIns="0" rIns="0">
            <a:spAutoFit/>
          </a:bodyPr>
          <a:lstStyle/>
          <a:p>
            <a:pPr algn="l">
              <a:lnSpc>
                <a:spcPts val="4200"/>
              </a:lnSpc>
            </a:pPr>
            <a:r>
              <a:rPr lang="en-US" sz="3500">
                <a:solidFill>
                  <a:srgbClr val="1C0140"/>
                </a:solidFill>
                <a:latin typeface="UTM Alexander"/>
                <a:ea typeface="UTM Alexander"/>
                <a:cs typeface="UTM Alexander"/>
                <a:sym typeface="UTM Alexander"/>
              </a:rPr>
              <a:t>L</a:t>
            </a:r>
            <a:r>
              <a:rPr lang="en-US" sz="3500">
                <a:solidFill>
                  <a:srgbClr val="1C0140"/>
                </a:solidFill>
                <a:latin typeface="UTM Alexander"/>
                <a:ea typeface="UTM Alexander"/>
                <a:cs typeface="UTM Alexander"/>
                <a:sym typeface="UTM Alexander"/>
              </a:rPr>
              <a:t>ist danh sách file được phép tải về</a:t>
            </a:r>
          </a:p>
        </p:txBody>
      </p:sp>
      <p:sp>
        <p:nvSpPr>
          <p:cNvPr name="TextBox 30" id="30"/>
          <p:cNvSpPr txBox="true"/>
          <p:nvPr/>
        </p:nvSpPr>
        <p:spPr>
          <a:xfrm rot="0">
            <a:off x="10686839" y="7568038"/>
            <a:ext cx="4878103" cy="1600150"/>
          </a:xfrm>
          <a:prstGeom prst="rect">
            <a:avLst/>
          </a:prstGeom>
        </p:spPr>
        <p:txBody>
          <a:bodyPr anchor="t" rtlCol="false" tIns="0" lIns="0" bIns="0" rIns="0">
            <a:spAutoFit/>
          </a:bodyPr>
          <a:lstStyle/>
          <a:p>
            <a:pPr algn="l">
              <a:lnSpc>
                <a:spcPts val="4200"/>
              </a:lnSpc>
            </a:pPr>
            <a:r>
              <a:rPr lang="en-US" sz="3500">
                <a:solidFill>
                  <a:srgbClr val="1C0140"/>
                </a:solidFill>
                <a:latin typeface="UTM Alexander"/>
                <a:ea typeface="UTM Alexander"/>
                <a:cs typeface="UTM Alexander"/>
                <a:sym typeface="UTM Alexander"/>
              </a:rPr>
              <a:t>Cập nhật phần</a:t>
            </a:r>
            <a:r>
              <a:rPr lang="en-US" sz="3500">
                <a:solidFill>
                  <a:srgbClr val="1C0140"/>
                </a:solidFill>
                <a:latin typeface="UTM Alexander"/>
                <a:ea typeface="UTM Alexander"/>
                <a:cs typeface="UTM Alexander"/>
                <a:sym typeface="UTM Alexander"/>
              </a:rPr>
              <a:t> trăm (%)</a:t>
            </a:r>
            <a:r>
              <a:rPr lang="en-US" sz="3500">
                <a:solidFill>
                  <a:srgbClr val="1C0140"/>
                </a:solidFill>
                <a:latin typeface="UTM Alexander"/>
                <a:ea typeface="UTM Alexander"/>
                <a:cs typeface="UTM Alexander"/>
                <a:sym typeface="UTM Alexander"/>
              </a:rPr>
              <a:t> tiến độ cho mỗi luồng riêng biệt.</a:t>
            </a:r>
          </a:p>
        </p:txBody>
      </p:sp>
      <p:sp>
        <p:nvSpPr>
          <p:cNvPr name="Freeform 31" id="31"/>
          <p:cNvSpPr/>
          <p:nvPr/>
        </p:nvSpPr>
        <p:spPr>
          <a:xfrm flipH="false" flipV="false" rot="0">
            <a:off x="15127263" y="8098139"/>
            <a:ext cx="3555597" cy="3958661"/>
          </a:xfrm>
          <a:custGeom>
            <a:avLst/>
            <a:gdLst/>
            <a:ahLst/>
            <a:cxnLst/>
            <a:rect r="r" b="b" t="t" l="l"/>
            <a:pathLst>
              <a:path h="3958661" w="3555597">
                <a:moveTo>
                  <a:pt x="0" y="0"/>
                </a:moveTo>
                <a:lnTo>
                  <a:pt x="3555597" y="0"/>
                </a:lnTo>
                <a:lnTo>
                  <a:pt x="3555597" y="3958661"/>
                </a:lnTo>
                <a:lnTo>
                  <a:pt x="0" y="39586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2" id="32"/>
          <p:cNvSpPr/>
          <p:nvPr/>
        </p:nvSpPr>
        <p:spPr>
          <a:xfrm flipH="false" flipV="false" rot="0">
            <a:off x="16756882" y="4283215"/>
            <a:ext cx="2814723" cy="4539876"/>
          </a:xfrm>
          <a:custGeom>
            <a:avLst/>
            <a:gdLst/>
            <a:ahLst/>
            <a:cxnLst/>
            <a:rect r="r" b="b" t="t" l="l"/>
            <a:pathLst>
              <a:path h="4539876" w="2814723">
                <a:moveTo>
                  <a:pt x="0" y="0"/>
                </a:moveTo>
                <a:lnTo>
                  <a:pt x="2814724" y="0"/>
                </a:lnTo>
                <a:lnTo>
                  <a:pt x="2814724" y="4539877"/>
                </a:lnTo>
                <a:lnTo>
                  <a:pt x="0" y="45398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3" id="33"/>
          <p:cNvSpPr/>
          <p:nvPr/>
        </p:nvSpPr>
        <p:spPr>
          <a:xfrm flipH="false" flipV="false" rot="0">
            <a:off x="-1670748" y="6972451"/>
            <a:ext cx="3341496" cy="4571699"/>
          </a:xfrm>
          <a:custGeom>
            <a:avLst/>
            <a:gdLst/>
            <a:ahLst/>
            <a:cxnLst/>
            <a:rect r="r" b="b" t="t" l="l"/>
            <a:pathLst>
              <a:path h="4571699" w="3341496">
                <a:moveTo>
                  <a:pt x="0" y="0"/>
                </a:moveTo>
                <a:lnTo>
                  <a:pt x="3341496" y="0"/>
                </a:lnTo>
                <a:lnTo>
                  <a:pt x="3341496" y="4571698"/>
                </a:lnTo>
                <a:lnTo>
                  <a:pt x="0" y="4571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4" id="34"/>
          <p:cNvSpPr/>
          <p:nvPr/>
        </p:nvSpPr>
        <p:spPr>
          <a:xfrm flipH="false" flipV="false" rot="0">
            <a:off x="-2227664" y="1233270"/>
            <a:ext cx="3898412" cy="4571699"/>
          </a:xfrm>
          <a:custGeom>
            <a:avLst/>
            <a:gdLst/>
            <a:ahLst/>
            <a:cxnLst/>
            <a:rect r="r" b="b" t="t" l="l"/>
            <a:pathLst>
              <a:path h="4571699" w="3898412">
                <a:moveTo>
                  <a:pt x="0" y="0"/>
                </a:moveTo>
                <a:lnTo>
                  <a:pt x="3898412" y="0"/>
                </a:lnTo>
                <a:lnTo>
                  <a:pt x="3898412" y="4571699"/>
                </a:lnTo>
                <a:lnTo>
                  <a:pt x="0" y="457169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35" id="35"/>
          <p:cNvSpPr/>
          <p:nvPr/>
        </p:nvSpPr>
        <p:spPr>
          <a:xfrm flipH="false" flipV="false" rot="-6610410">
            <a:off x="15600164" y="267644"/>
            <a:ext cx="7574475" cy="4902751"/>
          </a:xfrm>
          <a:custGeom>
            <a:avLst/>
            <a:gdLst/>
            <a:ahLst/>
            <a:cxnLst/>
            <a:rect r="r" b="b" t="t" l="l"/>
            <a:pathLst>
              <a:path h="4902751" w="7574475">
                <a:moveTo>
                  <a:pt x="0" y="0"/>
                </a:moveTo>
                <a:lnTo>
                  <a:pt x="7574475" y="0"/>
                </a:lnTo>
                <a:lnTo>
                  <a:pt x="7574475" y="4902751"/>
                </a:lnTo>
                <a:lnTo>
                  <a:pt x="0" y="490275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608707" y="3465072"/>
            <a:ext cx="1605120" cy="1216585"/>
          </a:xfrm>
          <a:prstGeom prst="rect">
            <a:avLst/>
          </a:prstGeom>
        </p:spPr>
        <p:txBody>
          <a:bodyPr anchor="t" rtlCol="false" tIns="0" lIns="0" bIns="0" rIns="0">
            <a:spAutoFit/>
          </a:bodyPr>
          <a:lstStyle/>
          <a:p>
            <a:pPr algn="l">
              <a:lnSpc>
                <a:spcPts val="8812"/>
              </a:lnSpc>
            </a:pPr>
            <a:r>
              <a:rPr lang="en-US" sz="10013" spc="-630">
                <a:solidFill>
                  <a:srgbClr val="1C0140"/>
                </a:solidFill>
                <a:latin typeface="Proxima Nova"/>
                <a:ea typeface="Proxima Nova"/>
                <a:cs typeface="Proxima Nova"/>
                <a:sym typeface="Proxima Nova"/>
              </a:rPr>
              <a:t>1.</a:t>
            </a:r>
          </a:p>
        </p:txBody>
      </p:sp>
      <p:grpSp>
        <p:nvGrpSpPr>
          <p:cNvPr name="Group 3" id="3"/>
          <p:cNvGrpSpPr/>
          <p:nvPr/>
        </p:nvGrpSpPr>
        <p:grpSpPr>
          <a:xfrm rot="0">
            <a:off x="1411267" y="3286513"/>
            <a:ext cx="3610721" cy="1667205"/>
            <a:chOff x="0" y="0"/>
            <a:chExt cx="727658" cy="335987"/>
          </a:xfrm>
        </p:grpSpPr>
        <p:sp>
          <p:nvSpPr>
            <p:cNvPr name="Freeform 4" id="4"/>
            <p:cNvSpPr/>
            <p:nvPr/>
          </p:nvSpPr>
          <p:spPr>
            <a:xfrm flipH="false" flipV="false" rot="0">
              <a:off x="0" y="0"/>
              <a:ext cx="727658" cy="335987"/>
            </a:xfrm>
            <a:custGeom>
              <a:avLst/>
              <a:gdLst/>
              <a:ahLst/>
              <a:cxnLst/>
              <a:rect r="r" b="b" t="t" l="l"/>
              <a:pathLst>
                <a:path h="335987" w="727658">
                  <a:moveTo>
                    <a:pt x="141514" y="0"/>
                  </a:moveTo>
                  <a:lnTo>
                    <a:pt x="586145" y="0"/>
                  </a:lnTo>
                  <a:cubicBezTo>
                    <a:pt x="664301" y="0"/>
                    <a:pt x="727658" y="63358"/>
                    <a:pt x="727658" y="141514"/>
                  </a:cubicBezTo>
                  <a:lnTo>
                    <a:pt x="727658" y="194473"/>
                  </a:lnTo>
                  <a:cubicBezTo>
                    <a:pt x="727658" y="232005"/>
                    <a:pt x="712749" y="268000"/>
                    <a:pt x="686210" y="294539"/>
                  </a:cubicBezTo>
                  <a:cubicBezTo>
                    <a:pt x="659671" y="321078"/>
                    <a:pt x="623677" y="335987"/>
                    <a:pt x="586145" y="335987"/>
                  </a:cubicBezTo>
                  <a:lnTo>
                    <a:pt x="141514" y="335987"/>
                  </a:lnTo>
                  <a:cubicBezTo>
                    <a:pt x="103982" y="335987"/>
                    <a:pt x="67987" y="321078"/>
                    <a:pt x="41448" y="294539"/>
                  </a:cubicBezTo>
                  <a:cubicBezTo>
                    <a:pt x="14909" y="268000"/>
                    <a:pt x="0" y="232005"/>
                    <a:pt x="0" y="194473"/>
                  </a:cubicBezTo>
                  <a:lnTo>
                    <a:pt x="0" y="141514"/>
                  </a:lnTo>
                  <a:cubicBezTo>
                    <a:pt x="0" y="103982"/>
                    <a:pt x="14909" y="67987"/>
                    <a:pt x="41448" y="41448"/>
                  </a:cubicBezTo>
                  <a:cubicBezTo>
                    <a:pt x="67987" y="14909"/>
                    <a:pt x="103982" y="0"/>
                    <a:pt x="141514" y="0"/>
                  </a:cubicBezTo>
                  <a:close/>
                </a:path>
              </a:pathLst>
            </a:custGeom>
            <a:solidFill>
              <a:srgbClr val="FAFDFF"/>
            </a:solidFill>
          </p:spPr>
        </p:sp>
        <p:sp>
          <p:nvSpPr>
            <p:cNvPr name="TextBox 5" id="5"/>
            <p:cNvSpPr txBox="true"/>
            <p:nvPr/>
          </p:nvSpPr>
          <p:spPr>
            <a:xfrm>
              <a:off x="0" y="-57150"/>
              <a:ext cx="727658" cy="393137"/>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6" id="6"/>
          <p:cNvSpPr txBox="true"/>
          <p:nvPr/>
        </p:nvSpPr>
        <p:spPr>
          <a:xfrm rot="0">
            <a:off x="2934228" y="7333714"/>
            <a:ext cx="1605120" cy="1216585"/>
          </a:xfrm>
          <a:prstGeom prst="rect">
            <a:avLst/>
          </a:prstGeom>
        </p:spPr>
        <p:txBody>
          <a:bodyPr anchor="t" rtlCol="false" tIns="0" lIns="0" bIns="0" rIns="0">
            <a:spAutoFit/>
          </a:bodyPr>
          <a:lstStyle/>
          <a:p>
            <a:pPr algn="l">
              <a:lnSpc>
                <a:spcPts val="8812"/>
              </a:lnSpc>
            </a:pPr>
            <a:r>
              <a:rPr lang="en-US" sz="10013" spc="-630">
                <a:solidFill>
                  <a:srgbClr val="1C0140"/>
                </a:solidFill>
                <a:latin typeface="Proxima Nova"/>
                <a:ea typeface="Proxima Nova"/>
                <a:cs typeface="Proxima Nova"/>
                <a:sym typeface="Proxima Nova"/>
              </a:rPr>
              <a:t>2.</a:t>
            </a:r>
          </a:p>
        </p:txBody>
      </p:sp>
      <p:grpSp>
        <p:nvGrpSpPr>
          <p:cNvPr name="Group 7" id="7"/>
          <p:cNvGrpSpPr/>
          <p:nvPr/>
        </p:nvGrpSpPr>
        <p:grpSpPr>
          <a:xfrm rot="0">
            <a:off x="3889131" y="7028914"/>
            <a:ext cx="3455833" cy="1963552"/>
            <a:chOff x="0" y="0"/>
            <a:chExt cx="696444" cy="395709"/>
          </a:xfrm>
        </p:grpSpPr>
        <p:sp>
          <p:nvSpPr>
            <p:cNvPr name="Freeform 8" id="8"/>
            <p:cNvSpPr/>
            <p:nvPr/>
          </p:nvSpPr>
          <p:spPr>
            <a:xfrm flipH="false" flipV="false" rot="0">
              <a:off x="0" y="0"/>
              <a:ext cx="696444" cy="395709"/>
            </a:xfrm>
            <a:custGeom>
              <a:avLst/>
              <a:gdLst/>
              <a:ahLst/>
              <a:cxnLst/>
              <a:rect r="r" b="b" t="t" l="l"/>
              <a:pathLst>
                <a:path h="395709" w="696444">
                  <a:moveTo>
                    <a:pt x="147856" y="0"/>
                  </a:moveTo>
                  <a:lnTo>
                    <a:pt x="548588" y="0"/>
                  </a:lnTo>
                  <a:cubicBezTo>
                    <a:pt x="630247" y="0"/>
                    <a:pt x="696444" y="66198"/>
                    <a:pt x="696444" y="147856"/>
                  </a:cubicBezTo>
                  <a:lnTo>
                    <a:pt x="696444" y="247853"/>
                  </a:lnTo>
                  <a:cubicBezTo>
                    <a:pt x="696444" y="287067"/>
                    <a:pt x="680867" y="324675"/>
                    <a:pt x="653138" y="352403"/>
                  </a:cubicBezTo>
                  <a:cubicBezTo>
                    <a:pt x="625410" y="380131"/>
                    <a:pt x="587802" y="395709"/>
                    <a:pt x="548588" y="395709"/>
                  </a:cubicBezTo>
                  <a:lnTo>
                    <a:pt x="147856" y="395709"/>
                  </a:lnTo>
                  <a:cubicBezTo>
                    <a:pt x="66198" y="395709"/>
                    <a:pt x="0" y="329512"/>
                    <a:pt x="0" y="247853"/>
                  </a:cubicBezTo>
                  <a:lnTo>
                    <a:pt x="0" y="147856"/>
                  </a:lnTo>
                  <a:cubicBezTo>
                    <a:pt x="0" y="66198"/>
                    <a:pt x="66198" y="0"/>
                    <a:pt x="147856" y="0"/>
                  </a:cubicBezTo>
                  <a:close/>
                </a:path>
              </a:pathLst>
            </a:custGeom>
            <a:solidFill>
              <a:srgbClr val="FAFDFF"/>
            </a:solidFill>
          </p:spPr>
        </p:sp>
        <p:sp>
          <p:nvSpPr>
            <p:cNvPr name="TextBox 9" id="9"/>
            <p:cNvSpPr txBox="true"/>
            <p:nvPr/>
          </p:nvSpPr>
          <p:spPr>
            <a:xfrm>
              <a:off x="0" y="-57150"/>
              <a:ext cx="696444" cy="452859"/>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Freeform 10" id="10"/>
          <p:cNvSpPr/>
          <p:nvPr/>
        </p:nvSpPr>
        <p:spPr>
          <a:xfrm flipH="false" flipV="false" rot="0">
            <a:off x="2005962" y="5037001"/>
            <a:ext cx="702799" cy="2100757"/>
          </a:xfrm>
          <a:custGeom>
            <a:avLst/>
            <a:gdLst/>
            <a:ahLst/>
            <a:cxnLst/>
            <a:rect r="r" b="b" t="t" l="l"/>
            <a:pathLst>
              <a:path h="2100757" w="702799">
                <a:moveTo>
                  <a:pt x="0" y="0"/>
                </a:moveTo>
                <a:lnTo>
                  <a:pt x="702799" y="0"/>
                </a:lnTo>
                <a:lnTo>
                  <a:pt x="702799" y="2100757"/>
                </a:lnTo>
                <a:lnTo>
                  <a:pt x="0" y="21007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5557610" y="4681657"/>
            <a:ext cx="1787355" cy="2286151"/>
          </a:xfrm>
          <a:custGeom>
            <a:avLst/>
            <a:gdLst/>
            <a:ahLst/>
            <a:cxnLst/>
            <a:rect r="r" b="b" t="t" l="l"/>
            <a:pathLst>
              <a:path h="2286151" w="1787355">
                <a:moveTo>
                  <a:pt x="0" y="0"/>
                </a:moveTo>
                <a:lnTo>
                  <a:pt x="1787354" y="0"/>
                </a:lnTo>
                <a:lnTo>
                  <a:pt x="1787354" y="2286152"/>
                </a:lnTo>
                <a:lnTo>
                  <a:pt x="0" y="2286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6862872" y="3439233"/>
            <a:ext cx="1605120" cy="1216585"/>
          </a:xfrm>
          <a:prstGeom prst="rect">
            <a:avLst/>
          </a:prstGeom>
        </p:spPr>
        <p:txBody>
          <a:bodyPr anchor="t" rtlCol="false" tIns="0" lIns="0" bIns="0" rIns="0">
            <a:spAutoFit/>
          </a:bodyPr>
          <a:lstStyle/>
          <a:p>
            <a:pPr algn="l">
              <a:lnSpc>
                <a:spcPts val="8812"/>
              </a:lnSpc>
            </a:pPr>
            <a:r>
              <a:rPr lang="en-US" sz="10013" spc="-630">
                <a:solidFill>
                  <a:srgbClr val="1C0140"/>
                </a:solidFill>
                <a:latin typeface="Proxima Nova"/>
                <a:ea typeface="Proxima Nova"/>
                <a:cs typeface="Proxima Nova"/>
                <a:sym typeface="Proxima Nova"/>
              </a:rPr>
              <a:t>3.</a:t>
            </a:r>
          </a:p>
        </p:txBody>
      </p:sp>
      <p:grpSp>
        <p:nvGrpSpPr>
          <p:cNvPr name="Group 13" id="13"/>
          <p:cNvGrpSpPr/>
          <p:nvPr/>
        </p:nvGrpSpPr>
        <p:grpSpPr>
          <a:xfrm rot="0">
            <a:off x="7987664" y="3367282"/>
            <a:ext cx="3709670" cy="2332424"/>
            <a:chOff x="0" y="0"/>
            <a:chExt cx="747600" cy="470047"/>
          </a:xfrm>
        </p:grpSpPr>
        <p:sp>
          <p:nvSpPr>
            <p:cNvPr name="Freeform 14" id="14"/>
            <p:cNvSpPr/>
            <p:nvPr/>
          </p:nvSpPr>
          <p:spPr>
            <a:xfrm flipH="false" flipV="false" rot="0">
              <a:off x="0" y="0"/>
              <a:ext cx="747600" cy="470047"/>
            </a:xfrm>
            <a:custGeom>
              <a:avLst/>
              <a:gdLst/>
              <a:ahLst/>
              <a:cxnLst/>
              <a:rect r="r" b="b" t="t" l="l"/>
              <a:pathLst>
                <a:path h="470047" w="747600">
                  <a:moveTo>
                    <a:pt x="137739" y="0"/>
                  </a:moveTo>
                  <a:lnTo>
                    <a:pt x="609860" y="0"/>
                  </a:lnTo>
                  <a:cubicBezTo>
                    <a:pt x="646391" y="0"/>
                    <a:pt x="681426" y="14512"/>
                    <a:pt x="707257" y="40343"/>
                  </a:cubicBezTo>
                  <a:cubicBezTo>
                    <a:pt x="733088" y="66174"/>
                    <a:pt x="747600" y="101208"/>
                    <a:pt x="747600" y="137739"/>
                  </a:cubicBezTo>
                  <a:lnTo>
                    <a:pt x="747600" y="332308"/>
                  </a:lnTo>
                  <a:cubicBezTo>
                    <a:pt x="747600" y="368838"/>
                    <a:pt x="733088" y="403873"/>
                    <a:pt x="707257" y="429704"/>
                  </a:cubicBezTo>
                  <a:cubicBezTo>
                    <a:pt x="681426" y="455535"/>
                    <a:pt x="646391" y="470047"/>
                    <a:pt x="609860" y="470047"/>
                  </a:cubicBezTo>
                  <a:lnTo>
                    <a:pt x="137739" y="470047"/>
                  </a:lnTo>
                  <a:cubicBezTo>
                    <a:pt x="101208" y="470047"/>
                    <a:pt x="66174" y="455535"/>
                    <a:pt x="40343" y="429704"/>
                  </a:cubicBezTo>
                  <a:cubicBezTo>
                    <a:pt x="14512" y="403873"/>
                    <a:pt x="0" y="368838"/>
                    <a:pt x="0" y="332308"/>
                  </a:cubicBezTo>
                  <a:lnTo>
                    <a:pt x="0" y="137739"/>
                  </a:lnTo>
                  <a:cubicBezTo>
                    <a:pt x="0" y="101208"/>
                    <a:pt x="14512" y="66174"/>
                    <a:pt x="40343" y="40343"/>
                  </a:cubicBezTo>
                  <a:cubicBezTo>
                    <a:pt x="66174" y="14512"/>
                    <a:pt x="101208" y="0"/>
                    <a:pt x="137739" y="0"/>
                  </a:cubicBezTo>
                  <a:close/>
                </a:path>
              </a:pathLst>
            </a:custGeom>
            <a:solidFill>
              <a:srgbClr val="FAFDFF"/>
            </a:solidFill>
          </p:spPr>
        </p:sp>
        <p:sp>
          <p:nvSpPr>
            <p:cNvPr name="TextBox 15" id="15"/>
            <p:cNvSpPr txBox="true"/>
            <p:nvPr/>
          </p:nvSpPr>
          <p:spPr>
            <a:xfrm>
              <a:off x="0" y="-57150"/>
              <a:ext cx="747600" cy="527197"/>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Freeform 16" id="16"/>
          <p:cNvSpPr/>
          <p:nvPr/>
        </p:nvSpPr>
        <p:spPr>
          <a:xfrm flipH="false" flipV="false" rot="0">
            <a:off x="9169185" y="5915898"/>
            <a:ext cx="694429" cy="1873708"/>
          </a:xfrm>
          <a:custGeom>
            <a:avLst/>
            <a:gdLst/>
            <a:ahLst/>
            <a:cxnLst/>
            <a:rect r="r" b="b" t="t" l="l"/>
            <a:pathLst>
              <a:path h="1873708" w="694429">
                <a:moveTo>
                  <a:pt x="0" y="0"/>
                </a:moveTo>
                <a:lnTo>
                  <a:pt x="694430" y="0"/>
                </a:lnTo>
                <a:lnTo>
                  <a:pt x="694430" y="1873708"/>
                </a:lnTo>
                <a:lnTo>
                  <a:pt x="0" y="18737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10092215" y="7442558"/>
            <a:ext cx="1605120" cy="1216585"/>
          </a:xfrm>
          <a:prstGeom prst="rect">
            <a:avLst/>
          </a:prstGeom>
        </p:spPr>
        <p:txBody>
          <a:bodyPr anchor="t" rtlCol="false" tIns="0" lIns="0" bIns="0" rIns="0">
            <a:spAutoFit/>
          </a:bodyPr>
          <a:lstStyle/>
          <a:p>
            <a:pPr algn="l">
              <a:lnSpc>
                <a:spcPts val="8812"/>
              </a:lnSpc>
            </a:pPr>
            <a:r>
              <a:rPr lang="en-US" sz="10013" spc="-630">
                <a:solidFill>
                  <a:srgbClr val="1C0140"/>
                </a:solidFill>
                <a:latin typeface="Proxima Nova"/>
                <a:ea typeface="Proxima Nova"/>
                <a:cs typeface="Proxima Nova"/>
                <a:sym typeface="Proxima Nova"/>
              </a:rPr>
              <a:t>4.</a:t>
            </a:r>
          </a:p>
        </p:txBody>
      </p:sp>
      <p:grpSp>
        <p:nvGrpSpPr>
          <p:cNvPr name="Group 18" id="18"/>
          <p:cNvGrpSpPr/>
          <p:nvPr/>
        </p:nvGrpSpPr>
        <p:grpSpPr>
          <a:xfrm rot="0">
            <a:off x="11009445" y="6768245"/>
            <a:ext cx="3948134" cy="2793758"/>
            <a:chOff x="0" y="0"/>
            <a:chExt cx="795656" cy="563018"/>
          </a:xfrm>
        </p:grpSpPr>
        <p:sp>
          <p:nvSpPr>
            <p:cNvPr name="Freeform 19" id="19"/>
            <p:cNvSpPr/>
            <p:nvPr/>
          </p:nvSpPr>
          <p:spPr>
            <a:xfrm flipH="false" flipV="false" rot="0">
              <a:off x="0" y="0"/>
              <a:ext cx="795656" cy="563018"/>
            </a:xfrm>
            <a:custGeom>
              <a:avLst/>
              <a:gdLst/>
              <a:ahLst/>
              <a:cxnLst/>
              <a:rect r="r" b="b" t="t" l="l"/>
              <a:pathLst>
                <a:path h="563018" w="795656">
                  <a:moveTo>
                    <a:pt x="129420" y="0"/>
                  </a:moveTo>
                  <a:lnTo>
                    <a:pt x="666237" y="0"/>
                  </a:lnTo>
                  <a:cubicBezTo>
                    <a:pt x="737713" y="0"/>
                    <a:pt x="795656" y="57943"/>
                    <a:pt x="795656" y="129420"/>
                  </a:cubicBezTo>
                  <a:lnTo>
                    <a:pt x="795656" y="433598"/>
                  </a:lnTo>
                  <a:cubicBezTo>
                    <a:pt x="795656" y="505075"/>
                    <a:pt x="737713" y="563018"/>
                    <a:pt x="666237" y="563018"/>
                  </a:cubicBezTo>
                  <a:lnTo>
                    <a:pt x="129420" y="563018"/>
                  </a:lnTo>
                  <a:cubicBezTo>
                    <a:pt x="57943" y="563018"/>
                    <a:pt x="0" y="505075"/>
                    <a:pt x="0" y="433598"/>
                  </a:cubicBezTo>
                  <a:lnTo>
                    <a:pt x="0" y="129420"/>
                  </a:lnTo>
                  <a:cubicBezTo>
                    <a:pt x="0" y="57943"/>
                    <a:pt x="57943" y="0"/>
                    <a:pt x="129420" y="0"/>
                  </a:cubicBezTo>
                  <a:close/>
                </a:path>
              </a:pathLst>
            </a:custGeom>
            <a:solidFill>
              <a:srgbClr val="FAFDFF"/>
            </a:solidFill>
          </p:spPr>
        </p:sp>
        <p:sp>
          <p:nvSpPr>
            <p:cNvPr name="TextBox 20" id="20"/>
            <p:cNvSpPr txBox="true"/>
            <p:nvPr/>
          </p:nvSpPr>
          <p:spPr>
            <a:xfrm>
              <a:off x="0" y="-57150"/>
              <a:ext cx="795656" cy="620168"/>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Freeform 21" id="21"/>
          <p:cNvSpPr/>
          <p:nvPr/>
        </p:nvSpPr>
        <p:spPr>
          <a:xfrm flipH="false" flipV="false" rot="0">
            <a:off x="15184291" y="5896927"/>
            <a:ext cx="1657262" cy="2634375"/>
          </a:xfrm>
          <a:custGeom>
            <a:avLst/>
            <a:gdLst/>
            <a:ahLst/>
            <a:cxnLst/>
            <a:rect r="r" b="b" t="t" l="l"/>
            <a:pathLst>
              <a:path h="2634375" w="1657262">
                <a:moveTo>
                  <a:pt x="0" y="0"/>
                </a:moveTo>
                <a:lnTo>
                  <a:pt x="1657262" y="0"/>
                </a:lnTo>
                <a:lnTo>
                  <a:pt x="1657262" y="2634375"/>
                </a:lnTo>
                <a:lnTo>
                  <a:pt x="0" y="26343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2" id="22"/>
          <p:cNvSpPr txBox="true"/>
          <p:nvPr/>
        </p:nvSpPr>
        <p:spPr>
          <a:xfrm rot="0">
            <a:off x="1411267" y="635834"/>
            <a:ext cx="17567048" cy="2126405"/>
          </a:xfrm>
          <a:prstGeom prst="rect">
            <a:avLst/>
          </a:prstGeom>
        </p:spPr>
        <p:txBody>
          <a:bodyPr anchor="t" rtlCol="false" tIns="0" lIns="0" bIns="0" rIns="0">
            <a:spAutoFit/>
          </a:bodyPr>
          <a:lstStyle/>
          <a:p>
            <a:pPr algn="l">
              <a:lnSpc>
                <a:spcPts val="8008"/>
              </a:lnSpc>
            </a:pPr>
            <a:r>
              <a:rPr lang="en-US" sz="9100" spc="-573" b="true">
                <a:solidFill>
                  <a:srgbClr val="1C0140"/>
                </a:solidFill>
                <a:latin typeface="Proxima Nova Bold"/>
                <a:ea typeface="Proxima Nova Bold"/>
                <a:cs typeface="Proxima Nova Bold"/>
                <a:sym typeface="Proxima Nova Bold"/>
              </a:rPr>
              <a:t>Luồng hoạt động của hệ thống (Workflow)</a:t>
            </a:r>
          </a:p>
        </p:txBody>
      </p:sp>
      <p:sp>
        <p:nvSpPr>
          <p:cNvPr name="TextBox 23" id="23"/>
          <p:cNvSpPr txBox="true"/>
          <p:nvPr/>
        </p:nvSpPr>
        <p:spPr>
          <a:xfrm rot="0">
            <a:off x="1703911" y="3588222"/>
            <a:ext cx="3025431" cy="987586"/>
          </a:xfrm>
          <a:prstGeom prst="rect">
            <a:avLst/>
          </a:prstGeom>
        </p:spPr>
        <p:txBody>
          <a:bodyPr anchor="t" rtlCol="false" tIns="0" lIns="0" bIns="0" rIns="0">
            <a:spAutoFit/>
          </a:bodyPr>
          <a:lstStyle/>
          <a:p>
            <a:pPr algn="l">
              <a:lnSpc>
                <a:spcPts val="4103"/>
              </a:lnSpc>
            </a:pPr>
            <a:r>
              <a:rPr lang="en-US" sz="2399">
                <a:solidFill>
                  <a:srgbClr val="1C0140"/>
                </a:solidFill>
                <a:latin typeface="Proxima Nova"/>
                <a:ea typeface="Proxima Nova"/>
                <a:cs typeface="Proxima Nova"/>
                <a:sym typeface="Proxima Nova"/>
              </a:rPr>
              <a:t>Client gửi lệnh: </a:t>
            </a:r>
          </a:p>
          <a:p>
            <a:pPr algn="l">
              <a:lnSpc>
                <a:spcPts val="4103"/>
              </a:lnSpc>
            </a:pPr>
            <a:r>
              <a:rPr lang="en-US" sz="2399">
                <a:solidFill>
                  <a:srgbClr val="1C0140"/>
                </a:solidFill>
                <a:latin typeface="Proxima Nova"/>
                <a:ea typeface="Proxima Nova"/>
                <a:cs typeface="Proxima Nova"/>
                <a:sym typeface="Proxima Nova"/>
              </a:rPr>
              <a:t>“Cho tôi tải file X”.</a:t>
            </a:r>
          </a:p>
        </p:txBody>
      </p:sp>
      <p:sp>
        <p:nvSpPr>
          <p:cNvPr name="TextBox 24" id="24"/>
          <p:cNvSpPr txBox="true"/>
          <p:nvPr/>
        </p:nvSpPr>
        <p:spPr>
          <a:xfrm rot="0">
            <a:off x="4054822" y="7459747"/>
            <a:ext cx="3124452" cy="987586"/>
          </a:xfrm>
          <a:prstGeom prst="rect">
            <a:avLst/>
          </a:prstGeom>
        </p:spPr>
        <p:txBody>
          <a:bodyPr anchor="t" rtlCol="false" tIns="0" lIns="0" bIns="0" rIns="0">
            <a:spAutoFit/>
          </a:bodyPr>
          <a:lstStyle/>
          <a:p>
            <a:pPr algn="l">
              <a:lnSpc>
                <a:spcPts val="4103"/>
              </a:lnSpc>
            </a:pPr>
            <a:r>
              <a:rPr lang="en-US" sz="2399">
                <a:solidFill>
                  <a:srgbClr val="1C0140"/>
                </a:solidFill>
                <a:latin typeface="Proxima Nova"/>
                <a:ea typeface="Proxima Nova"/>
                <a:cs typeface="Proxima Nova"/>
                <a:sym typeface="Proxima Nova"/>
              </a:rPr>
              <a:t>Server tiếp nhận - Kiểm tra File X - Mở File X.</a:t>
            </a:r>
          </a:p>
        </p:txBody>
      </p:sp>
      <p:sp>
        <p:nvSpPr>
          <p:cNvPr name="TextBox 25" id="25"/>
          <p:cNvSpPr txBox="true"/>
          <p:nvPr/>
        </p:nvSpPr>
        <p:spPr>
          <a:xfrm rot="0">
            <a:off x="8249363" y="3725368"/>
            <a:ext cx="3447971" cy="1501952"/>
          </a:xfrm>
          <a:prstGeom prst="rect">
            <a:avLst/>
          </a:prstGeom>
        </p:spPr>
        <p:txBody>
          <a:bodyPr anchor="t" rtlCol="false" tIns="0" lIns="0" bIns="0" rIns="0">
            <a:spAutoFit/>
          </a:bodyPr>
          <a:lstStyle/>
          <a:p>
            <a:pPr algn="l">
              <a:lnSpc>
                <a:spcPts val="4103"/>
              </a:lnSpc>
            </a:pPr>
            <a:r>
              <a:rPr lang="en-US" sz="2399">
                <a:solidFill>
                  <a:srgbClr val="1C0140"/>
                </a:solidFill>
                <a:latin typeface="Proxima Nova"/>
                <a:ea typeface="Proxima Nova"/>
                <a:cs typeface="Proxima Nova"/>
                <a:sym typeface="Proxima Nova"/>
              </a:rPr>
              <a:t>Chia tệp tin X thành các Packet Byte và bắt đầu quá trình truyền mạng.</a:t>
            </a:r>
          </a:p>
        </p:txBody>
      </p:sp>
      <p:sp>
        <p:nvSpPr>
          <p:cNvPr name="TextBox 26" id="26"/>
          <p:cNvSpPr txBox="true"/>
          <p:nvPr/>
        </p:nvSpPr>
        <p:spPr>
          <a:xfrm rot="0">
            <a:off x="11276076" y="7356998"/>
            <a:ext cx="3495193" cy="1501952"/>
          </a:xfrm>
          <a:prstGeom prst="rect">
            <a:avLst/>
          </a:prstGeom>
        </p:spPr>
        <p:txBody>
          <a:bodyPr anchor="t" rtlCol="false" tIns="0" lIns="0" bIns="0" rIns="0">
            <a:spAutoFit/>
          </a:bodyPr>
          <a:lstStyle/>
          <a:p>
            <a:pPr algn="l">
              <a:lnSpc>
                <a:spcPts val="4103"/>
              </a:lnSpc>
            </a:pPr>
            <a:r>
              <a:rPr lang="en-US" sz="2399">
                <a:solidFill>
                  <a:srgbClr val="1C0140"/>
                </a:solidFill>
                <a:latin typeface="Proxima Nova"/>
                <a:ea typeface="Proxima Nova"/>
                <a:cs typeface="Proxima Nova"/>
                <a:sym typeface="Proxima Nova"/>
              </a:rPr>
              <a:t>Client nhận luồng dữ liệu liên tục và thực hiện ghi trực tiếp xuống ổ đĩa </a:t>
            </a:r>
          </a:p>
        </p:txBody>
      </p:sp>
      <p:sp>
        <p:nvSpPr>
          <p:cNvPr name="TextBox 27" id="27"/>
          <p:cNvSpPr txBox="true"/>
          <p:nvPr/>
        </p:nvSpPr>
        <p:spPr>
          <a:xfrm rot="0">
            <a:off x="13166149" y="3591313"/>
            <a:ext cx="1605120" cy="1216585"/>
          </a:xfrm>
          <a:prstGeom prst="rect">
            <a:avLst/>
          </a:prstGeom>
        </p:spPr>
        <p:txBody>
          <a:bodyPr anchor="t" rtlCol="false" tIns="0" lIns="0" bIns="0" rIns="0">
            <a:spAutoFit/>
          </a:bodyPr>
          <a:lstStyle/>
          <a:p>
            <a:pPr algn="l">
              <a:lnSpc>
                <a:spcPts val="8812"/>
              </a:lnSpc>
            </a:pPr>
            <a:r>
              <a:rPr lang="en-US" sz="10013" spc="-630">
                <a:solidFill>
                  <a:srgbClr val="1C0140"/>
                </a:solidFill>
                <a:latin typeface="Proxima Nova"/>
                <a:ea typeface="Proxima Nova"/>
                <a:cs typeface="Proxima Nova"/>
                <a:sym typeface="Proxima Nova"/>
              </a:rPr>
              <a:t>5.</a:t>
            </a:r>
          </a:p>
        </p:txBody>
      </p:sp>
      <p:grpSp>
        <p:nvGrpSpPr>
          <p:cNvPr name="Group 28" id="28"/>
          <p:cNvGrpSpPr/>
          <p:nvPr/>
        </p:nvGrpSpPr>
        <p:grpSpPr>
          <a:xfrm rot="0">
            <a:off x="14167870" y="2597930"/>
            <a:ext cx="3940356" cy="3144260"/>
            <a:chOff x="0" y="0"/>
            <a:chExt cx="794089" cy="633654"/>
          </a:xfrm>
        </p:grpSpPr>
        <p:sp>
          <p:nvSpPr>
            <p:cNvPr name="Freeform 29" id="29"/>
            <p:cNvSpPr/>
            <p:nvPr/>
          </p:nvSpPr>
          <p:spPr>
            <a:xfrm flipH="false" flipV="false" rot="0">
              <a:off x="0" y="0"/>
              <a:ext cx="794089" cy="633654"/>
            </a:xfrm>
            <a:custGeom>
              <a:avLst/>
              <a:gdLst/>
              <a:ahLst/>
              <a:cxnLst/>
              <a:rect r="r" b="b" t="t" l="l"/>
              <a:pathLst>
                <a:path h="633654" w="794089">
                  <a:moveTo>
                    <a:pt x="129675" y="0"/>
                  </a:moveTo>
                  <a:lnTo>
                    <a:pt x="664414" y="0"/>
                  </a:lnTo>
                  <a:cubicBezTo>
                    <a:pt x="736031" y="0"/>
                    <a:pt x="794089" y="58058"/>
                    <a:pt x="794089" y="129675"/>
                  </a:cubicBezTo>
                  <a:lnTo>
                    <a:pt x="794089" y="503979"/>
                  </a:lnTo>
                  <a:cubicBezTo>
                    <a:pt x="794089" y="575596"/>
                    <a:pt x="736031" y="633654"/>
                    <a:pt x="664414" y="633654"/>
                  </a:cubicBezTo>
                  <a:lnTo>
                    <a:pt x="129675" y="633654"/>
                  </a:lnTo>
                  <a:cubicBezTo>
                    <a:pt x="58058" y="633654"/>
                    <a:pt x="0" y="575596"/>
                    <a:pt x="0" y="503979"/>
                  </a:cubicBezTo>
                  <a:lnTo>
                    <a:pt x="0" y="129675"/>
                  </a:lnTo>
                  <a:cubicBezTo>
                    <a:pt x="0" y="58058"/>
                    <a:pt x="58058" y="0"/>
                    <a:pt x="129675" y="0"/>
                  </a:cubicBezTo>
                  <a:close/>
                </a:path>
              </a:pathLst>
            </a:custGeom>
            <a:solidFill>
              <a:srgbClr val="FAFDFF"/>
            </a:solidFill>
          </p:spPr>
        </p:sp>
        <p:sp>
          <p:nvSpPr>
            <p:cNvPr name="TextBox 30" id="30"/>
            <p:cNvSpPr txBox="true"/>
            <p:nvPr/>
          </p:nvSpPr>
          <p:spPr>
            <a:xfrm>
              <a:off x="0" y="-57150"/>
              <a:ext cx="794089" cy="690804"/>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31" id="31"/>
          <p:cNvSpPr txBox="true"/>
          <p:nvPr/>
        </p:nvSpPr>
        <p:spPr>
          <a:xfrm rot="0">
            <a:off x="14360844" y="3172213"/>
            <a:ext cx="3747381" cy="2016319"/>
          </a:xfrm>
          <a:prstGeom prst="rect">
            <a:avLst/>
          </a:prstGeom>
        </p:spPr>
        <p:txBody>
          <a:bodyPr anchor="t" rtlCol="false" tIns="0" lIns="0" bIns="0" rIns="0">
            <a:spAutoFit/>
          </a:bodyPr>
          <a:lstStyle/>
          <a:p>
            <a:pPr algn="l">
              <a:lnSpc>
                <a:spcPts val="4103"/>
              </a:lnSpc>
            </a:pPr>
            <a:r>
              <a:rPr lang="en-US" sz="2399">
                <a:solidFill>
                  <a:srgbClr val="1C0140"/>
                </a:solidFill>
                <a:latin typeface="Proxima Nova"/>
                <a:ea typeface="Proxima Nova"/>
                <a:cs typeface="Proxima Nova"/>
                <a:sym typeface="Proxima Nova"/>
              </a:rPr>
              <a:t>Khi 100% dung lượng hoàn thành vòng lặp Stream. Cập nhật giao diện. Hoàn thành kịch bản.</a:t>
            </a:r>
          </a:p>
        </p:txBody>
      </p:sp>
      <p:sp>
        <p:nvSpPr>
          <p:cNvPr name="Freeform 32" id="32"/>
          <p:cNvSpPr/>
          <p:nvPr/>
        </p:nvSpPr>
        <p:spPr>
          <a:xfrm flipH="false" flipV="false" rot="0">
            <a:off x="-3422906" y="8229600"/>
            <a:ext cx="6357135" cy="4114800"/>
          </a:xfrm>
          <a:custGeom>
            <a:avLst/>
            <a:gdLst/>
            <a:ahLst/>
            <a:cxnLst/>
            <a:rect r="r" b="b" t="t" l="l"/>
            <a:pathLst>
              <a:path h="4114800" w="6357135">
                <a:moveTo>
                  <a:pt x="0" y="0"/>
                </a:moveTo>
                <a:lnTo>
                  <a:pt x="6357134" y="0"/>
                </a:lnTo>
                <a:lnTo>
                  <a:pt x="6357134"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3" id="33"/>
          <p:cNvSpPr/>
          <p:nvPr/>
        </p:nvSpPr>
        <p:spPr>
          <a:xfrm flipH="false" flipV="false" rot="0">
            <a:off x="14957579" y="8165124"/>
            <a:ext cx="6503276" cy="4114800"/>
          </a:xfrm>
          <a:custGeom>
            <a:avLst/>
            <a:gdLst/>
            <a:ahLst/>
            <a:cxnLst/>
            <a:rect r="r" b="b" t="t" l="l"/>
            <a:pathLst>
              <a:path h="4114800" w="6503276">
                <a:moveTo>
                  <a:pt x="0" y="0"/>
                </a:moveTo>
                <a:lnTo>
                  <a:pt x="6503276" y="0"/>
                </a:lnTo>
                <a:lnTo>
                  <a:pt x="6503276"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false" flipV="false" rot="0">
            <a:off x="15646766" y="-1941947"/>
            <a:ext cx="2814723" cy="4539876"/>
          </a:xfrm>
          <a:custGeom>
            <a:avLst/>
            <a:gdLst/>
            <a:ahLst/>
            <a:cxnLst/>
            <a:rect r="r" b="b" t="t" l="l"/>
            <a:pathLst>
              <a:path h="4539876" w="2814723">
                <a:moveTo>
                  <a:pt x="0" y="0"/>
                </a:moveTo>
                <a:lnTo>
                  <a:pt x="2814723" y="0"/>
                </a:lnTo>
                <a:lnTo>
                  <a:pt x="2814723" y="4539877"/>
                </a:lnTo>
                <a:lnTo>
                  <a:pt x="0" y="453987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7605871" y="3201295"/>
            <a:ext cx="9920749" cy="2693453"/>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Cài đặt và kết quả thực nghiệm</a:t>
            </a:r>
          </a:p>
        </p:txBody>
      </p:sp>
      <p:sp>
        <p:nvSpPr>
          <p:cNvPr name="Freeform 3" id="3"/>
          <p:cNvSpPr/>
          <p:nvPr/>
        </p:nvSpPr>
        <p:spPr>
          <a:xfrm flipH="false" flipV="false" rot="0">
            <a:off x="821320" y="5615759"/>
            <a:ext cx="6503276" cy="4114800"/>
          </a:xfrm>
          <a:custGeom>
            <a:avLst/>
            <a:gdLst/>
            <a:ahLst/>
            <a:cxnLst/>
            <a:rect r="r" b="b" t="t" l="l"/>
            <a:pathLst>
              <a:path h="4114800" w="6503276">
                <a:moveTo>
                  <a:pt x="0" y="0"/>
                </a:moveTo>
                <a:lnTo>
                  <a:pt x="6503276" y="0"/>
                </a:lnTo>
                <a:lnTo>
                  <a:pt x="6503276"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786864" y="2106633"/>
            <a:ext cx="2814723" cy="4539876"/>
          </a:xfrm>
          <a:custGeom>
            <a:avLst/>
            <a:gdLst/>
            <a:ahLst/>
            <a:cxnLst/>
            <a:rect r="r" b="b" t="t" l="l"/>
            <a:pathLst>
              <a:path h="4539876" w="2814723">
                <a:moveTo>
                  <a:pt x="0" y="0"/>
                </a:moveTo>
                <a:lnTo>
                  <a:pt x="2814724" y="0"/>
                </a:lnTo>
                <a:lnTo>
                  <a:pt x="2814724" y="4539876"/>
                </a:lnTo>
                <a:lnTo>
                  <a:pt x="0" y="45398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555416" y="8291512"/>
            <a:ext cx="4100910" cy="2878093"/>
          </a:xfrm>
          <a:custGeom>
            <a:avLst/>
            <a:gdLst/>
            <a:ahLst/>
            <a:cxnLst/>
            <a:rect r="r" b="b" t="t" l="l"/>
            <a:pathLst>
              <a:path h="2878093" w="4100910">
                <a:moveTo>
                  <a:pt x="0" y="0"/>
                </a:moveTo>
                <a:lnTo>
                  <a:pt x="4100910" y="0"/>
                </a:lnTo>
                <a:lnTo>
                  <a:pt x="4100910" y="2878094"/>
                </a:lnTo>
                <a:lnTo>
                  <a:pt x="0" y="28780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338904" y="2531709"/>
            <a:ext cx="2708287" cy="4114800"/>
          </a:xfrm>
          <a:custGeom>
            <a:avLst/>
            <a:gdLst/>
            <a:ahLst/>
            <a:cxnLst/>
            <a:rect r="r" b="b" t="t" l="l"/>
            <a:pathLst>
              <a:path h="4114800" w="2708287">
                <a:moveTo>
                  <a:pt x="0" y="0"/>
                </a:moveTo>
                <a:lnTo>
                  <a:pt x="2708286" y="0"/>
                </a:lnTo>
                <a:lnTo>
                  <a:pt x="2708286"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true" flipV="false" rot="0">
            <a:off x="-454268" y="-1028700"/>
            <a:ext cx="2551176" cy="4114800"/>
          </a:xfrm>
          <a:custGeom>
            <a:avLst/>
            <a:gdLst/>
            <a:ahLst/>
            <a:cxnLst/>
            <a:rect r="r" b="b" t="t" l="l"/>
            <a:pathLst>
              <a:path h="4114800" w="2551176">
                <a:moveTo>
                  <a:pt x="2551176" y="0"/>
                </a:moveTo>
                <a:lnTo>
                  <a:pt x="0" y="0"/>
                </a:lnTo>
                <a:lnTo>
                  <a:pt x="0" y="4114800"/>
                </a:lnTo>
                <a:lnTo>
                  <a:pt x="2551176" y="4114800"/>
                </a:lnTo>
                <a:lnTo>
                  <a:pt x="255117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3995855" y="-1101234"/>
            <a:ext cx="4106217" cy="4571699"/>
          </a:xfrm>
          <a:custGeom>
            <a:avLst/>
            <a:gdLst/>
            <a:ahLst/>
            <a:cxnLst/>
            <a:rect r="r" b="b" t="t" l="l"/>
            <a:pathLst>
              <a:path h="4571699" w="4106217">
                <a:moveTo>
                  <a:pt x="0" y="0"/>
                </a:moveTo>
                <a:lnTo>
                  <a:pt x="4106216" y="0"/>
                </a:lnTo>
                <a:lnTo>
                  <a:pt x="4106216" y="4571699"/>
                </a:lnTo>
                <a:lnTo>
                  <a:pt x="0" y="45716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0019" y="-2868480"/>
            <a:ext cx="3898412" cy="4571699"/>
          </a:xfrm>
          <a:custGeom>
            <a:avLst/>
            <a:gdLst/>
            <a:ahLst/>
            <a:cxnLst/>
            <a:rect r="r" b="b" t="t" l="l"/>
            <a:pathLst>
              <a:path h="4571699" w="3898412">
                <a:moveTo>
                  <a:pt x="0" y="0"/>
                </a:moveTo>
                <a:lnTo>
                  <a:pt x="3898412" y="0"/>
                </a:lnTo>
                <a:lnTo>
                  <a:pt x="3898412" y="4571698"/>
                </a:lnTo>
                <a:lnTo>
                  <a:pt x="0" y="45716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9554603" y="821073"/>
            <a:ext cx="7723740" cy="8644854"/>
            <a:chOff x="0" y="0"/>
            <a:chExt cx="1674127" cy="1873587"/>
          </a:xfrm>
        </p:grpSpPr>
        <p:sp>
          <p:nvSpPr>
            <p:cNvPr name="Freeform 5" id="5"/>
            <p:cNvSpPr/>
            <p:nvPr/>
          </p:nvSpPr>
          <p:spPr>
            <a:xfrm flipH="false" flipV="false" rot="0">
              <a:off x="0" y="0"/>
              <a:ext cx="1674127" cy="1873587"/>
            </a:xfrm>
            <a:custGeom>
              <a:avLst/>
              <a:gdLst/>
              <a:ahLst/>
              <a:cxnLst/>
              <a:rect r="r" b="b" t="t" l="l"/>
              <a:pathLst>
                <a:path h="1873587" w="1674127">
                  <a:moveTo>
                    <a:pt x="1674127" y="66155"/>
                  </a:moveTo>
                  <a:lnTo>
                    <a:pt x="1674127" y="1807432"/>
                  </a:lnTo>
                  <a:cubicBezTo>
                    <a:pt x="1674127" y="1824978"/>
                    <a:pt x="1667157" y="1841804"/>
                    <a:pt x="1654750" y="1854211"/>
                  </a:cubicBezTo>
                  <a:cubicBezTo>
                    <a:pt x="1642344" y="1866617"/>
                    <a:pt x="1625517" y="1873587"/>
                    <a:pt x="1607971" y="1873587"/>
                  </a:cubicBezTo>
                  <a:lnTo>
                    <a:pt x="66155" y="1873587"/>
                  </a:lnTo>
                  <a:cubicBezTo>
                    <a:pt x="48610" y="1873587"/>
                    <a:pt x="31783" y="1866617"/>
                    <a:pt x="19376" y="1854211"/>
                  </a:cubicBezTo>
                  <a:cubicBezTo>
                    <a:pt x="6970" y="1841804"/>
                    <a:pt x="0" y="1824978"/>
                    <a:pt x="0" y="1807432"/>
                  </a:cubicBezTo>
                  <a:lnTo>
                    <a:pt x="0" y="66155"/>
                  </a:lnTo>
                  <a:cubicBezTo>
                    <a:pt x="0" y="48610"/>
                    <a:pt x="6970" y="31783"/>
                    <a:pt x="19376" y="19376"/>
                  </a:cubicBezTo>
                  <a:cubicBezTo>
                    <a:pt x="31783" y="6970"/>
                    <a:pt x="48610" y="0"/>
                    <a:pt x="66155" y="0"/>
                  </a:cubicBezTo>
                  <a:lnTo>
                    <a:pt x="1607971" y="0"/>
                  </a:lnTo>
                  <a:cubicBezTo>
                    <a:pt x="1625517" y="0"/>
                    <a:pt x="1642344" y="6970"/>
                    <a:pt x="1654750" y="19376"/>
                  </a:cubicBezTo>
                  <a:cubicBezTo>
                    <a:pt x="1667157" y="31783"/>
                    <a:pt x="1674127" y="48610"/>
                    <a:pt x="1674127" y="66155"/>
                  </a:cubicBezTo>
                  <a:close/>
                </a:path>
              </a:pathLst>
            </a:custGeom>
            <a:solidFill>
              <a:srgbClr val="FAFDFF"/>
            </a:solidFill>
          </p:spPr>
        </p:sp>
        <p:sp>
          <p:nvSpPr>
            <p:cNvPr name="TextBox 6" id="6"/>
            <p:cNvSpPr txBox="true"/>
            <p:nvPr/>
          </p:nvSpPr>
          <p:spPr>
            <a:xfrm>
              <a:off x="0" y="-38100"/>
              <a:ext cx="1674127" cy="1911687"/>
            </a:xfrm>
            <a:prstGeom prst="rect">
              <a:avLst/>
            </a:prstGeom>
          </p:spPr>
          <p:txBody>
            <a:bodyPr anchor="ctr" rtlCol="false" tIns="50800" lIns="50800" bIns="50800" rIns="50800"/>
            <a:lstStyle/>
            <a:p>
              <a:pPr algn="l">
                <a:lnSpc>
                  <a:spcPts val="2940"/>
                </a:lnSpc>
              </a:pPr>
            </a:p>
          </p:txBody>
        </p:sp>
      </p:grpSp>
      <p:sp>
        <p:nvSpPr>
          <p:cNvPr name="Freeform 7" id="7"/>
          <p:cNvSpPr/>
          <p:nvPr/>
        </p:nvSpPr>
        <p:spPr>
          <a:xfrm flipH="false" flipV="false" rot="0">
            <a:off x="4378215" y="3739242"/>
            <a:ext cx="3341496" cy="4571699"/>
          </a:xfrm>
          <a:custGeom>
            <a:avLst/>
            <a:gdLst/>
            <a:ahLst/>
            <a:cxnLst/>
            <a:rect r="r" b="b" t="t" l="l"/>
            <a:pathLst>
              <a:path h="4571699" w="3341496">
                <a:moveTo>
                  <a:pt x="0" y="0"/>
                </a:moveTo>
                <a:lnTo>
                  <a:pt x="3341496" y="0"/>
                </a:lnTo>
                <a:lnTo>
                  <a:pt x="3341496" y="4571698"/>
                </a:lnTo>
                <a:lnTo>
                  <a:pt x="0" y="45716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51611" y="2097427"/>
            <a:ext cx="2644244" cy="4516565"/>
          </a:xfrm>
          <a:custGeom>
            <a:avLst/>
            <a:gdLst/>
            <a:ahLst/>
            <a:cxnLst/>
            <a:rect r="r" b="b" t="t" l="l"/>
            <a:pathLst>
              <a:path h="4516565" w="2644244">
                <a:moveTo>
                  <a:pt x="0" y="0"/>
                </a:moveTo>
                <a:lnTo>
                  <a:pt x="2644244" y="0"/>
                </a:lnTo>
                <a:lnTo>
                  <a:pt x="2644244" y="4516565"/>
                </a:lnTo>
                <a:lnTo>
                  <a:pt x="0" y="45165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346321" y="7004517"/>
            <a:ext cx="4486171" cy="3148477"/>
          </a:xfrm>
          <a:custGeom>
            <a:avLst/>
            <a:gdLst/>
            <a:ahLst/>
            <a:cxnLst/>
            <a:rect r="r" b="b" t="t" l="l"/>
            <a:pathLst>
              <a:path h="3148477" w="4486171">
                <a:moveTo>
                  <a:pt x="0" y="0"/>
                </a:moveTo>
                <a:lnTo>
                  <a:pt x="4486172" y="0"/>
                </a:lnTo>
                <a:lnTo>
                  <a:pt x="4486172" y="3148477"/>
                </a:lnTo>
                <a:lnTo>
                  <a:pt x="0" y="31484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3399225" y="8701465"/>
            <a:ext cx="4510398" cy="2903056"/>
          </a:xfrm>
          <a:custGeom>
            <a:avLst/>
            <a:gdLst/>
            <a:ahLst/>
            <a:cxnLst/>
            <a:rect r="r" b="b" t="t" l="l"/>
            <a:pathLst>
              <a:path h="2903056" w="4510398">
                <a:moveTo>
                  <a:pt x="0" y="0"/>
                </a:moveTo>
                <a:lnTo>
                  <a:pt x="4510398" y="0"/>
                </a:lnTo>
                <a:lnTo>
                  <a:pt x="4510398" y="2903057"/>
                </a:lnTo>
                <a:lnTo>
                  <a:pt x="0" y="290305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6295422" y="7779562"/>
            <a:ext cx="2848578" cy="1843807"/>
          </a:xfrm>
          <a:custGeom>
            <a:avLst/>
            <a:gdLst/>
            <a:ahLst/>
            <a:cxnLst/>
            <a:rect r="r" b="b" t="t" l="l"/>
            <a:pathLst>
              <a:path h="1843807" w="2848578">
                <a:moveTo>
                  <a:pt x="0" y="0"/>
                </a:moveTo>
                <a:lnTo>
                  <a:pt x="2848578" y="0"/>
                </a:lnTo>
                <a:lnTo>
                  <a:pt x="2848578" y="1843807"/>
                </a:lnTo>
                <a:lnTo>
                  <a:pt x="0" y="184380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2" id="12"/>
          <p:cNvSpPr txBox="true"/>
          <p:nvPr/>
        </p:nvSpPr>
        <p:spPr>
          <a:xfrm rot="0">
            <a:off x="10086975" y="4129284"/>
            <a:ext cx="6658997" cy="2548890"/>
          </a:xfrm>
          <a:prstGeom prst="rect">
            <a:avLst/>
          </a:prstGeom>
        </p:spPr>
        <p:txBody>
          <a:bodyPr anchor="t" rtlCol="false" tIns="0" lIns="0" bIns="0" rIns="0">
            <a:spAutoFit/>
          </a:bodyPr>
          <a:lstStyle/>
          <a:p>
            <a:pPr algn="l">
              <a:lnSpc>
                <a:spcPts val="5130"/>
              </a:lnSpc>
            </a:pPr>
            <a:r>
              <a:rPr lang="en-US" sz="3000">
                <a:solidFill>
                  <a:srgbClr val="1C0140"/>
                </a:solidFill>
                <a:latin typeface="Proxima Nova"/>
                <a:ea typeface="Proxima Nova"/>
                <a:cs typeface="Proxima Nova"/>
                <a:sym typeface="Proxima Nova"/>
              </a:rPr>
              <a:t>+Lắng nghe kết nối qua TCP(port 8888)</a:t>
            </a:r>
          </a:p>
          <a:p>
            <a:pPr algn="l">
              <a:lnSpc>
                <a:spcPts val="5130"/>
              </a:lnSpc>
            </a:pPr>
            <a:r>
              <a:rPr lang="en-US" sz="3000">
                <a:solidFill>
                  <a:srgbClr val="1C0140"/>
                </a:solidFill>
                <a:latin typeface="Proxima Nova"/>
                <a:ea typeface="Proxima Nova"/>
                <a:cs typeface="Proxima Nova"/>
                <a:sym typeface="Proxima Nova"/>
              </a:rPr>
              <a:t>+Xử lý nhiều client bằng đa luồng</a:t>
            </a:r>
          </a:p>
          <a:p>
            <a:pPr algn="l">
              <a:lnSpc>
                <a:spcPts val="5130"/>
              </a:lnSpc>
            </a:pPr>
            <a:r>
              <a:rPr lang="en-US" sz="3000">
                <a:solidFill>
                  <a:srgbClr val="1C0140"/>
                </a:solidFill>
                <a:latin typeface="Proxima Nova"/>
                <a:ea typeface="Proxima Nova"/>
                <a:cs typeface="Proxima Nova"/>
                <a:sym typeface="Proxima Nova"/>
              </a:rPr>
              <a:t>+Đọc file và gửi dữ liệu dạng byte qua network stream</a:t>
            </a:r>
          </a:p>
        </p:txBody>
      </p:sp>
      <p:sp>
        <p:nvSpPr>
          <p:cNvPr name="TextBox 13" id="13"/>
          <p:cNvSpPr txBox="true"/>
          <p:nvPr/>
        </p:nvSpPr>
        <p:spPr>
          <a:xfrm rot="0">
            <a:off x="10086975" y="3576245"/>
            <a:ext cx="5481737" cy="605790"/>
          </a:xfrm>
          <a:prstGeom prst="rect">
            <a:avLst/>
          </a:prstGeom>
        </p:spPr>
        <p:txBody>
          <a:bodyPr anchor="t" rtlCol="false" tIns="0" lIns="0" bIns="0" rIns="0">
            <a:spAutoFit/>
          </a:bodyPr>
          <a:lstStyle/>
          <a:p>
            <a:pPr algn="l">
              <a:lnSpc>
                <a:spcPts val="5130"/>
              </a:lnSpc>
            </a:pPr>
            <a:r>
              <a:rPr lang="en-US" sz="3000" b="true">
                <a:solidFill>
                  <a:srgbClr val="1C0140"/>
                </a:solidFill>
                <a:latin typeface="Proxima Nova Bold"/>
                <a:ea typeface="Proxima Nova Bold"/>
                <a:cs typeface="Proxima Nova Bold"/>
                <a:sym typeface="Proxima Nova Bold"/>
              </a:rPr>
              <a:t>2. Xây dựng Server</a:t>
            </a:r>
          </a:p>
        </p:txBody>
      </p:sp>
      <p:sp>
        <p:nvSpPr>
          <p:cNvPr name="TextBox 14" id="14"/>
          <p:cNvSpPr txBox="true"/>
          <p:nvPr/>
        </p:nvSpPr>
        <p:spPr>
          <a:xfrm rot="0">
            <a:off x="10086975" y="1110637"/>
            <a:ext cx="5481737" cy="605790"/>
          </a:xfrm>
          <a:prstGeom prst="rect">
            <a:avLst/>
          </a:prstGeom>
        </p:spPr>
        <p:txBody>
          <a:bodyPr anchor="t" rtlCol="false" tIns="0" lIns="0" bIns="0" rIns="0">
            <a:spAutoFit/>
          </a:bodyPr>
          <a:lstStyle/>
          <a:p>
            <a:pPr algn="l">
              <a:lnSpc>
                <a:spcPts val="5130"/>
              </a:lnSpc>
            </a:pPr>
            <a:r>
              <a:rPr lang="en-US" sz="3000" b="true">
                <a:solidFill>
                  <a:srgbClr val="1C0140"/>
                </a:solidFill>
                <a:latin typeface="Proxima Nova Bold"/>
                <a:ea typeface="Proxima Nova Bold"/>
                <a:cs typeface="Proxima Nova Bold"/>
                <a:sym typeface="Proxima Nova Bold"/>
              </a:rPr>
              <a:t>1. Công nghê sử dụng</a:t>
            </a:r>
          </a:p>
        </p:txBody>
      </p:sp>
      <p:sp>
        <p:nvSpPr>
          <p:cNvPr name="TextBox 15" id="15"/>
          <p:cNvSpPr txBox="true"/>
          <p:nvPr/>
        </p:nvSpPr>
        <p:spPr>
          <a:xfrm rot="0">
            <a:off x="10086975" y="1694105"/>
            <a:ext cx="6658997" cy="1901190"/>
          </a:xfrm>
          <a:prstGeom prst="rect">
            <a:avLst/>
          </a:prstGeom>
        </p:spPr>
        <p:txBody>
          <a:bodyPr anchor="t" rtlCol="false" tIns="0" lIns="0" bIns="0" rIns="0">
            <a:spAutoFit/>
          </a:bodyPr>
          <a:lstStyle/>
          <a:p>
            <a:pPr algn="l">
              <a:lnSpc>
                <a:spcPts val="5130"/>
              </a:lnSpc>
            </a:pPr>
            <a:r>
              <a:rPr lang="en-US" sz="3000">
                <a:solidFill>
                  <a:srgbClr val="1C0140"/>
                </a:solidFill>
                <a:latin typeface="Proxima Nova"/>
                <a:ea typeface="Proxima Nova"/>
                <a:cs typeface="Proxima Nova"/>
                <a:sym typeface="Proxima Nova"/>
              </a:rPr>
              <a:t>+Ngôn ngữ: C#</a:t>
            </a:r>
          </a:p>
          <a:p>
            <a:pPr algn="l">
              <a:lnSpc>
                <a:spcPts val="5130"/>
              </a:lnSpc>
            </a:pPr>
            <a:r>
              <a:rPr lang="en-US" sz="3000">
                <a:solidFill>
                  <a:srgbClr val="1C0140"/>
                </a:solidFill>
                <a:latin typeface="Proxima Nova"/>
                <a:ea typeface="Proxima Nova"/>
                <a:cs typeface="Proxima Nova"/>
                <a:sym typeface="Proxima Nova"/>
              </a:rPr>
              <a:t>+Công cụ sử dụng: Visual Studio, .NET Framework, System.Net.Sockets</a:t>
            </a:r>
          </a:p>
        </p:txBody>
      </p:sp>
      <p:sp>
        <p:nvSpPr>
          <p:cNvPr name="TextBox 16" id="16"/>
          <p:cNvSpPr txBox="true"/>
          <p:nvPr/>
        </p:nvSpPr>
        <p:spPr>
          <a:xfrm rot="0">
            <a:off x="10086975" y="6625422"/>
            <a:ext cx="5481737" cy="605790"/>
          </a:xfrm>
          <a:prstGeom prst="rect">
            <a:avLst/>
          </a:prstGeom>
        </p:spPr>
        <p:txBody>
          <a:bodyPr anchor="t" rtlCol="false" tIns="0" lIns="0" bIns="0" rIns="0">
            <a:spAutoFit/>
          </a:bodyPr>
          <a:lstStyle/>
          <a:p>
            <a:pPr algn="l">
              <a:lnSpc>
                <a:spcPts val="5130"/>
              </a:lnSpc>
            </a:pPr>
            <a:r>
              <a:rPr lang="en-US" sz="3000" b="true">
                <a:solidFill>
                  <a:srgbClr val="1C0140"/>
                </a:solidFill>
                <a:latin typeface="Proxima Nova Bold"/>
                <a:ea typeface="Proxima Nova Bold"/>
                <a:cs typeface="Proxima Nova Bold"/>
                <a:sym typeface="Proxima Nova Bold"/>
              </a:rPr>
              <a:t>3. Xây dựng Client</a:t>
            </a:r>
          </a:p>
        </p:txBody>
      </p:sp>
      <p:sp>
        <p:nvSpPr>
          <p:cNvPr name="TextBox 17" id="17"/>
          <p:cNvSpPr txBox="true"/>
          <p:nvPr/>
        </p:nvSpPr>
        <p:spPr>
          <a:xfrm rot="0">
            <a:off x="10086975" y="7228110"/>
            <a:ext cx="6658997" cy="1901289"/>
          </a:xfrm>
          <a:prstGeom prst="rect">
            <a:avLst/>
          </a:prstGeom>
        </p:spPr>
        <p:txBody>
          <a:bodyPr anchor="t" rtlCol="false" tIns="0" lIns="0" bIns="0" rIns="0">
            <a:spAutoFit/>
          </a:bodyPr>
          <a:lstStyle/>
          <a:p>
            <a:pPr algn="l">
              <a:lnSpc>
                <a:spcPts val="5130"/>
              </a:lnSpc>
            </a:pPr>
            <a:r>
              <a:rPr lang="en-US" sz="3000">
                <a:solidFill>
                  <a:srgbClr val="1C0140"/>
                </a:solidFill>
                <a:latin typeface="Proxima Nova"/>
                <a:ea typeface="Proxima Nova"/>
                <a:cs typeface="Proxima Nova"/>
                <a:sym typeface="Proxima Nova"/>
              </a:rPr>
              <a:t>+Kết nối server qua IP + port</a:t>
            </a:r>
          </a:p>
          <a:p>
            <a:pPr algn="l">
              <a:lnSpc>
                <a:spcPts val="5130"/>
              </a:lnSpc>
            </a:pPr>
            <a:r>
              <a:rPr lang="en-US" sz="3000">
                <a:solidFill>
                  <a:srgbClr val="1C0140"/>
                </a:solidFill>
                <a:latin typeface="Proxima Nova"/>
                <a:ea typeface="Proxima Nova"/>
                <a:cs typeface="Proxima Nova"/>
                <a:sym typeface="Proxima Nova"/>
              </a:rPr>
              <a:t>+</a:t>
            </a:r>
            <a:r>
              <a:rPr lang="en-US" sz="3000">
                <a:solidFill>
                  <a:srgbClr val="1C0140"/>
                </a:solidFill>
                <a:latin typeface="Proxima Nova"/>
                <a:ea typeface="Proxima Nova"/>
                <a:cs typeface="Proxima Nova"/>
                <a:sym typeface="Proxima Nova"/>
              </a:rPr>
              <a:t>Gửi yêu cầu download file</a:t>
            </a:r>
          </a:p>
          <a:p>
            <a:pPr algn="l">
              <a:lnSpc>
                <a:spcPts val="5130"/>
              </a:lnSpc>
            </a:pPr>
            <a:r>
              <a:rPr lang="en-US" sz="3000">
                <a:solidFill>
                  <a:srgbClr val="1C0140"/>
                </a:solidFill>
                <a:latin typeface="Proxima Nova"/>
                <a:ea typeface="Proxima Nova"/>
                <a:cs typeface="Proxima Nova"/>
                <a:sym typeface="Proxima Nova"/>
              </a:rPr>
              <a:t>+</a:t>
            </a:r>
            <a:r>
              <a:rPr lang="en-US" sz="3000">
                <a:solidFill>
                  <a:srgbClr val="1C0140"/>
                </a:solidFill>
                <a:latin typeface="Proxima Nova"/>
                <a:ea typeface="Proxima Nova"/>
                <a:cs typeface="Proxima Nova"/>
                <a:sym typeface="Proxima Nova"/>
              </a:rPr>
              <a:t>Nhận dữ liệu và lưu vào máy</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173323" y="3508886"/>
            <a:ext cx="4881562" cy="4766179"/>
          </a:xfrm>
          <a:custGeom>
            <a:avLst/>
            <a:gdLst/>
            <a:ahLst/>
            <a:cxnLst/>
            <a:rect r="r" b="b" t="t" l="l"/>
            <a:pathLst>
              <a:path h="4766179" w="4881562">
                <a:moveTo>
                  <a:pt x="0" y="0"/>
                </a:moveTo>
                <a:lnTo>
                  <a:pt x="4881561" y="0"/>
                </a:lnTo>
                <a:lnTo>
                  <a:pt x="4881561" y="4766180"/>
                </a:lnTo>
                <a:lnTo>
                  <a:pt x="0" y="47661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3371456" y="570787"/>
            <a:ext cx="3375401" cy="4618087"/>
          </a:xfrm>
          <a:custGeom>
            <a:avLst/>
            <a:gdLst/>
            <a:ahLst/>
            <a:cxnLst/>
            <a:rect r="r" b="b" t="t" l="l"/>
            <a:pathLst>
              <a:path h="4618087" w="3375401">
                <a:moveTo>
                  <a:pt x="3375401" y="0"/>
                </a:moveTo>
                <a:lnTo>
                  <a:pt x="0" y="0"/>
                </a:lnTo>
                <a:lnTo>
                  <a:pt x="0" y="4618086"/>
                </a:lnTo>
                <a:lnTo>
                  <a:pt x="3375401" y="4618086"/>
                </a:lnTo>
                <a:lnTo>
                  <a:pt x="337540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675166" y="8509941"/>
            <a:ext cx="4142521" cy="2907297"/>
          </a:xfrm>
          <a:custGeom>
            <a:avLst/>
            <a:gdLst/>
            <a:ahLst/>
            <a:cxnLst/>
            <a:rect r="r" b="b" t="t" l="l"/>
            <a:pathLst>
              <a:path h="2907297" w="4142521">
                <a:moveTo>
                  <a:pt x="0" y="0"/>
                </a:moveTo>
                <a:lnTo>
                  <a:pt x="4142521" y="0"/>
                </a:lnTo>
                <a:lnTo>
                  <a:pt x="4142521" y="2907297"/>
                </a:lnTo>
                <a:lnTo>
                  <a:pt x="0" y="29072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2608797" y="7843555"/>
            <a:ext cx="4900719" cy="3154281"/>
          </a:xfrm>
          <a:custGeom>
            <a:avLst/>
            <a:gdLst/>
            <a:ahLst/>
            <a:cxnLst/>
            <a:rect r="r" b="b" t="t" l="l"/>
            <a:pathLst>
              <a:path h="3154281" w="4900719">
                <a:moveTo>
                  <a:pt x="0" y="0"/>
                </a:moveTo>
                <a:lnTo>
                  <a:pt x="4900719" y="0"/>
                </a:lnTo>
                <a:lnTo>
                  <a:pt x="4900719" y="3154281"/>
                </a:lnTo>
                <a:lnTo>
                  <a:pt x="0" y="31542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true" flipV="false" rot="0">
            <a:off x="-173323" y="263696"/>
            <a:ext cx="2640678" cy="3752902"/>
          </a:xfrm>
          <a:custGeom>
            <a:avLst/>
            <a:gdLst/>
            <a:ahLst/>
            <a:cxnLst/>
            <a:rect r="r" b="b" t="t" l="l"/>
            <a:pathLst>
              <a:path h="3752902" w="2640678">
                <a:moveTo>
                  <a:pt x="2640678" y="0"/>
                </a:moveTo>
                <a:lnTo>
                  <a:pt x="0" y="0"/>
                </a:lnTo>
                <a:lnTo>
                  <a:pt x="0" y="3752902"/>
                </a:lnTo>
                <a:lnTo>
                  <a:pt x="2640678" y="3752902"/>
                </a:lnTo>
                <a:lnTo>
                  <a:pt x="2640678"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true" flipV="false" rot="0">
            <a:off x="5444779" y="5599694"/>
            <a:ext cx="1302078" cy="2819460"/>
          </a:xfrm>
          <a:custGeom>
            <a:avLst/>
            <a:gdLst/>
            <a:ahLst/>
            <a:cxnLst/>
            <a:rect r="r" b="b" t="t" l="l"/>
            <a:pathLst>
              <a:path h="2819460" w="1302078">
                <a:moveTo>
                  <a:pt x="1302078" y="0"/>
                </a:moveTo>
                <a:lnTo>
                  <a:pt x="0" y="0"/>
                </a:lnTo>
                <a:lnTo>
                  <a:pt x="0" y="2819460"/>
                </a:lnTo>
                <a:lnTo>
                  <a:pt x="1302078" y="2819460"/>
                </a:lnTo>
                <a:lnTo>
                  <a:pt x="1302078"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8" id="8"/>
          <p:cNvGrpSpPr/>
          <p:nvPr/>
        </p:nvGrpSpPr>
        <p:grpSpPr>
          <a:xfrm rot="0">
            <a:off x="9124040" y="866446"/>
            <a:ext cx="7723740" cy="8644854"/>
            <a:chOff x="0" y="0"/>
            <a:chExt cx="1674127" cy="1873587"/>
          </a:xfrm>
        </p:grpSpPr>
        <p:sp>
          <p:nvSpPr>
            <p:cNvPr name="Freeform 9" id="9"/>
            <p:cNvSpPr/>
            <p:nvPr/>
          </p:nvSpPr>
          <p:spPr>
            <a:xfrm flipH="false" flipV="false" rot="0">
              <a:off x="0" y="0"/>
              <a:ext cx="1674127" cy="1873587"/>
            </a:xfrm>
            <a:custGeom>
              <a:avLst/>
              <a:gdLst/>
              <a:ahLst/>
              <a:cxnLst/>
              <a:rect r="r" b="b" t="t" l="l"/>
              <a:pathLst>
                <a:path h="1873587" w="1674127">
                  <a:moveTo>
                    <a:pt x="1674127" y="66155"/>
                  </a:moveTo>
                  <a:lnTo>
                    <a:pt x="1674127" y="1807432"/>
                  </a:lnTo>
                  <a:cubicBezTo>
                    <a:pt x="1674127" y="1824978"/>
                    <a:pt x="1667157" y="1841804"/>
                    <a:pt x="1654750" y="1854211"/>
                  </a:cubicBezTo>
                  <a:cubicBezTo>
                    <a:pt x="1642344" y="1866617"/>
                    <a:pt x="1625517" y="1873587"/>
                    <a:pt x="1607971" y="1873587"/>
                  </a:cubicBezTo>
                  <a:lnTo>
                    <a:pt x="66155" y="1873587"/>
                  </a:lnTo>
                  <a:cubicBezTo>
                    <a:pt x="48610" y="1873587"/>
                    <a:pt x="31783" y="1866617"/>
                    <a:pt x="19376" y="1854211"/>
                  </a:cubicBezTo>
                  <a:cubicBezTo>
                    <a:pt x="6970" y="1841804"/>
                    <a:pt x="0" y="1824978"/>
                    <a:pt x="0" y="1807432"/>
                  </a:cubicBezTo>
                  <a:lnTo>
                    <a:pt x="0" y="66155"/>
                  </a:lnTo>
                  <a:cubicBezTo>
                    <a:pt x="0" y="48610"/>
                    <a:pt x="6970" y="31783"/>
                    <a:pt x="19376" y="19376"/>
                  </a:cubicBezTo>
                  <a:cubicBezTo>
                    <a:pt x="31783" y="6970"/>
                    <a:pt x="48610" y="0"/>
                    <a:pt x="66155" y="0"/>
                  </a:cubicBezTo>
                  <a:lnTo>
                    <a:pt x="1607971" y="0"/>
                  </a:lnTo>
                  <a:cubicBezTo>
                    <a:pt x="1625517" y="0"/>
                    <a:pt x="1642344" y="6970"/>
                    <a:pt x="1654750" y="19376"/>
                  </a:cubicBezTo>
                  <a:cubicBezTo>
                    <a:pt x="1667157" y="31783"/>
                    <a:pt x="1674127" y="48610"/>
                    <a:pt x="1674127" y="66155"/>
                  </a:cubicBezTo>
                  <a:close/>
                </a:path>
              </a:pathLst>
            </a:custGeom>
            <a:solidFill>
              <a:srgbClr val="FAFDFF"/>
            </a:solidFill>
          </p:spPr>
        </p:sp>
        <p:sp>
          <p:nvSpPr>
            <p:cNvPr name="TextBox 10" id="10"/>
            <p:cNvSpPr txBox="true"/>
            <p:nvPr/>
          </p:nvSpPr>
          <p:spPr>
            <a:xfrm>
              <a:off x="0" y="-38100"/>
              <a:ext cx="1674127" cy="1911687"/>
            </a:xfrm>
            <a:prstGeom prst="rect">
              <a:avLst/>
            </a:prstGeom>
          </p:spPr>
          <p:txBody>
            <a:bodyPr anchor="ctr" rtlCol="false" tIns="50800" lIns="50800" bIns="50800" rIns="50800"/>
            <a:lstStyle/>
            <a:p>
              <a:pPr algn="l">
                <a:lnSpc>
                  <a:spcPts val="2940"/>
                </a:lnSpc>
              </a:pPr>
            </a:p>
          </p:txBody>
        </p:sp>
      </p:grpSp>
      <p:sp>
        <p:nvSpPr>
          <p:cNvPr name="TextBox 11" id="11"/>
          <p:cNvSpPr txBox="true"/>
          <p:nvPr/>
        </p:nvSpPr>
        <p:spPr>
          <a:xfrm rot="0">
            <a:off x="9656412" y="1251850"/>
            <a:ext cx="5481737" cy="605790"/>
          </a:xfrm>
          <a:prstGeom prst="rect">
            <a:avLst/>
          </a:prstGeom>
        </p:spPr>
        <p:txBody>
          <a:bodyPr anchor="t" rtlCol="false" tIns="0" lIns="0" bIns="0" rIns="0">
            <a:spAutoFit/>
          </a:bodyPr>
          <a:lstStyle/>
          <a:p>
            <a:pPr algn="l">
              <a:lnSpc>
                <a:spcPts val="5130"/>
              </a:lnSpc>
            </a:pPr>
            <a:r>
              <a:rPr lang="en-US" sz="3000" b="true">
                <a:solidFill>
                  <a:srgbClr val="1C0140"/>
                </a:solidFill>
                <a:latin typeface="Proxima Nova Bold"/>
                <a:ea typeface="Proxima Nova Bold"/>
                <a:cs typeface="Proxima Nova Bold"/>
                <a:sym typeface="Proxima Nova Bold"/>
              </a:rPr>
              <a:t>4. Download Multi File</a:t>
            </a:r>
          </a:p>
        </p:txBody>
      </p:sp>
      <p:sp>
        <p:nvSpPr>
          <p:cNvPr name="TextBox 12" id="12"/>
          <p:cNvSpPr txBox="true"/>
          <p:nvPr/>
        </p:nvSpPr>
        <p:spPr>
          <a:xfrm rot="0">
            <a:off x="9656412" y="1812752"/>
            <a:ext cx="6658997" cy="1253490"/>
          </a:xfrm>
          <a:prstGeom prst="rect">
            <a:avLst/>
          </a:prstGeom>
        </p:spPr>
        <p:txBody>
          <a:bodyPr anchor="t" rtlCol="false" tIns="0" lIns="0" bIns="0" rIns="0">
            <a:spAutoFit/>
          </a:bodyPr>
          <a:lstStyle/>
          <a:p>
            <a:pPr algn="l">
              <a:lnSpc>
                <a:spcPts val="5130"/>
              </a:lnSpc>
            </a:pPr>
            <a:r>
              <a:rPr lang="en-US" sz="3000">
                <a:solidFill>
                  <a:srgbClr val="1C0140"/>
                </a:solidFill>
                <a:latin typeface="Proxima Nova"/>
                <a:ea typeface="Proxima Nova"/>
                <a:cs typeface="Proxima Nova"/>
                <a:sym typeface="Proxima Nova"/>
              </a:rPr>
              <a:t>+Mỗi file chạy 1 thread r</a:t>
            </a:r>
            <a:r>
              <a:rPr lang="en-US" sz="3000">
                <a:solidFill>
                  <a:srgbClr val="1C0140"/>
                </a:solidFill>
                <a:latin typeface="Proxima Nova"/>
                <a:ea typeface="Proxima Nova"/>
                <a:cs typeface="Proxima Nova"/>
                <a:sym typeface="Proxima Nova"/>
              </a:rPr>
              <a:t>iêng</a:t>
            </a:r>
          </a:p>
          <a:p>
            <a:pPr algn="l">
              <a:lnSpc>
                <a:spcPts val="5130"/>
              </a:lnSpc>
            </a:pPr>
            <a:r>
              <a:rPr lang="en-US" sz="3000">
                <a:solidFill>
                  <a:srgbClr val="1C0140"/>
                </a:solidFill>
                <a:latin typeface="Proxima Nova"/>
                <a:ea typeface="Proxima Nova"/>
                <a:cs typeface="Proxima Nova"/>
                <a:sym typeface="Proxima Nova"/>
              </a:rPr>
              <a:t>+</a:t>
            </a:r>
            <a:r>
              <a:rPr lang="en-US" sz="3000">
                <a:solidFill>
                  <a:srgbClr val="1C0140"/>
                </a:solidFill>
                <a:latin typeface="Proxima Nova"/>
                <a:ea typeface="Proxima Nova"/>
                <a:cs typeface="Proxima Nova"/>
                <a:sym typeface="Proxima Nova"/>
              </a:rPr>
              <a:t>Tải nhiều file cùng lúc → nhanh hơn</a:t>
            </a:r>
          </a:p>
        </p:txBody>
      </p:sp>
      <p:sp>
        <p:nvSpPr>
          <p:cNvPr name="TextBox 13" id="13"/>
          <p:cNvSpPr txBox="true"/>
          <p:nvPr/>
        </p:nvSpPr>
        <p:spPr>
          <a:xfrm rot="0">
            <a:off x="9656412" y="3102980"/>
            <a:ext cx="5481737" cy="605790"/>
          </a:xfrm>
          <a:prstGeom prst="rect">
            <a:avLst/>
          </a:prstGeom>
        </p:spPr>
        <p:txBody>
          <a:bodyPr anchor="t" rtlCol="false" tIns="0" lIns="0" bIns="0" rIns="0">
            <a:spAutoFit/>
          </a:bodyPr>
          <a:lstStyle/>
          <a:p>
            <a:pPr algn="l">
              <a:lnSpc>
                <a:spcPts val="5130"/>
              </a:lnSpc>
            </a:pPr>
            <a:r>
              <a:rPr lang="en-US" sz="3000" b="true">
                <a:solidFill>
                  <a:srgbClr val="1C0140"/>
                </a:solidFill>
                <a:latin typeface="Proxima Nova Bold"/>
                <a:ea typeface="Proxima Nova Bold"/>
                <a:cs typeface="Proxima Nova Bold"/>
                <a:sym typeface="Proxima Nova Bold"/>
              </a:rPr>
              <a:t>5. Giao diện</a:t>
            </a:r>
          </a:p>
        </p:txBody>
      </p:sp>
      <p:sp>
        <p:nvSpPr>
          <p:cNvPr name="TextBox 14" id="14"/>
          <p:cNvSpPr txBox="true"/>
          <p:nvPr/>
        </p:nvSpPr>
        <p:spPr>
          <a:xfrm rot="0">
            <a:off x="9656412" y="3746870"/>
            <a:ext cx="6658997" cy="3196590"/>
          </a:xfrm>
          <a:prstGeom prst="rect">
            <a:avLst/>
          </a:prstGeom>
        </p:spPr>
        <p:txBody>
          <a:bodyPr anchor="t" rtlCol="false" tIns="0" lIns="0" bIns="0" rIns="0">
            <a:spAutoFit/>
          </a:bodyPr>
          <a:lstStyle/>
          <a:p>
            <a:pPr algn="l">
              <a:lnSpc>
                <a:spcPts val="5130"/>
              </a:lnSpc>
            </a:pPr>
            <a:r>
              <a:rPr lang="en-US" sz="3000">
                <a:solidFill>
                  <a:srgbClr val="1C0140"/>
                </a:solidFill>
                <a:latin typeface="Proxima Nova"/>
                <a:ea typeface="Proxima Nova"/>
                <a:cs typeface="Proxima Nova"/>
                <a:sym typeface="Proxima Nova"/>
              </a:rPr>
              <a:t>+Nhập IP server</a:t>
            </a:r>
          </a:p>
          <a:p>
            <a:pPr algn="l">
              <a:lnSpc>
                <a:spcPts val="5130"/>
              </a:lnSpc>
            </a:pPr>
            <a:r>
              <a:rPr lang="en-US" sz="3000">
                <a:solidFill>
                  <a:srgbClr val="1C0140"/>
                </a:solidFill>
                <a:latin typeface="Proxima Nova"/>
                <a:ea typeface="Proxima Nova"/>
                <a:cs typeface="Proxima Nova"/>
                <a:sym typeface="Proxima Nova"/>
              </a:rPr>
              <a:t>+Da</a:t>
            </a:r>
            <a:r>
              <a:rPr lang="en-US" sz="3000">
                <a:solidFill>
                  <a:srgbClr val="1C0140"/>
                </a:solidFill>
                <a:latin typeface="Proxima Nova"/>
                <a:ea typeface="Proxima Nova"/>
                <a:cs typeface="Proxima Nova"/>
                <a:sym typeface="Proxima Nova"/>
              </a:rPr>
              <a:t>nh sách file</a:t>
            </a:r>
          </a:p>
          <a:p>
            <a:pPr algn="l">
              <a:lnSpc>
                <a:spcPts val="5130"/>
              </a:lnSpc>
            </a:pPr>
            <a:r>
              <a:rPr lang="en-US" sz="3000">
                <a:solidFill>
                  <a:srgbClr val="1C0140"/>
                </a:solidFill>
                <a:latin typeface="Proxima Nova"/>
                <a:ea typeface="Proxima Nova"/>
                <a:cs typeface="Proxima Nova"/>
                <a:sym typeface="Proxima Nova"/>
              </a:rPr>
              <a:t>+</a:t>
            </a:r>
            <a:r>
              <a:rPr lang="en-US" sz="3000">
                <a:solidFill>
                  <a:srgbClr val="1C0140"/>
                </a:solidFill>
                <a:latin typeface="Proxima Nova"/>
                <a:ea typeface="Proxima Nova"/>
                <a:cs typeface="Proxima Nova"/>
                <a:sym typeface="Proxima Nova"/>
              </a:rPr>
              <a:t>Nút download</a:t>
            </a:r>
          </a:p>
          <a:p>
            <a:pPr algn="l">
              <a:lnSpc>
                <a:spcPts val="5130"/>
              </a:lnSpc>
            </a:pPr>
            <a:r>
              <a:rPr lang="en-US" sz="3000">
                <a:solidFill>
                  <a:srgbClr val="1C0140"/>
                </a:solidFill>
                <a:latin typeface="Proxima Nova"/>
                <a:ea typeface="Proxima Nova"/>
                <a:cs typeface="Proxima Nova"/>
                <a:sym typeface="Proxima Nova"/>
              </a:rPr>
              <a:t>+</a:t>
            </a:r>
            <a:r>
              <a:rPr lang="en-US" sz="3000">
                <a:solidFill>
                  <a:srgbClr val="1C0140"/>
                </a:solidFill>
                <a:latin typeface="Proxima Nova"/>
                <a:ea typeface="Proxima Nova"/>
                <a:cs typeface="Proxima Nova"/>
                <a:sym typeface="Proxima Nova"/>
              </a:rPr>
              <a:t>Thanh progress</a:t>
            </a:r>
          </a:p>
          <a:p>
            <a:pPr algn="l">
              <a:lnSpc>
                <a:spcPts val="5130"/>
              </a:lnSpc>
            </a:pPr>
          </a:p>
        </p:txBody>
      </p:sp>
      <p:sp>
        <p:nvSpPr>
          <p:cNvPr name="TextBox 15" id="15"/>
          <p:cNvSpPr txBox="true"/>
          <p:nvPr/>
        </p:nvSpPr>
        <p:spPr>
          <a:xfrm rot="0">
            <a:off x="9656412" y="6337670"/>
            <a:ext cx="5481737" cy="605790"/>
          </a:xfrm>
          <a:prstGeom prst="rect">
            <a:avLst/>
          </a:prstGeom>
        </p:spPr>
        <p:txBody>
          <a:bodyPr anchor="t" rtlCol="false" tIns="0" lIns="0" bIns="0" rIns="0">
            <a:spAutoFit/>
          </a:bodyPr>
          <a:lstStyle/>
          <a:p>
            <a:pPr algn="l">
              <a:lnSpc>
                <a:spcPts val="5130"/>
              </a:lnSpc>
            </a:pPr>
            <a:r>
              <a:rPr lang="en-US" sz="3000" b="true">
                <a:solidFill>
                  <a:srgbClr val="1C0140"/>
                </a:solidFill>
                <a:latin typeface="Proxima Nova Bold"/>
                <a:ea typeface="Proxima Nova Bold"/>
                <a:cs typeface="Proxima Nova Bold"/>
                <a:sym typeface="Proxima Nova Bold"/>
              </a:rPr>
              <a:t>6. Kết quả thực nghiệm</a:t>
            </a:r>
          </a:p>
        </p:txBody>
      </p:sp>
      <p:sp>
        <p:nvSpPr>
          <p:cNvPr name="TextBox 16" id="16"/>
          <p:cNvSpPr txBox="true"/>
          <p:nvPr/>
        </p:nvSpPr>
        <p:spPr>
          <a:xfrm rot="0">
            <a:off x="9656412" y="6981560"/>
            <a:ext cx="6658997" cy="1901190"/>
          </a:xfrm>
          <a:prstGeom prst="rect">
            <a:avLst/>
          </a:prstGeom>
        </p:spPr>
        <p:txBody>
          <a:bodyPr anchor="t" rtlCol="false" tIns="0" lIns="0" bIns="0" rIns="0">
            <a:spAutoFit/>
          </a:bodyPr>
          <a:lstStyle/>
          <a:p>
            <a:pPr algn="l">
              <a:lnSpc>
                <a:spcPts val="5130"/>
              </a:lnSpc>
            </a:pPr>
            <a:r>
              <a:rPr lang="en-US" sz="3000">
                <a:solidFill>
                  <a:srgbClr val="1C0140"/>
                </a:solidFill>
                <a:latin typeface="Proxima Nova"/>
                <a:ea typeface="Proxima Nova"/>
                <a:cs typeface="Proxima Nova"/>
                <a:sym typeface="Proxima Nova"/>
              </a:rPr>
              <a:t>+Chương trình chạy ổn định</a:t>
            </a:r>
          </a:p>
          <a:p>
            <a:pPr algn="l">
              <a:lnSpc>
                <a:spcPts val="5130"/>
              </a:lnSpc>
            </a:pPr>
            <a:r>
              <a:rPr lang="en-US" sz="3000">
                <a:solidFill>
                  <a:srgbClr val="1C0140"/>
                </a:solidFill>
                <a:latin typeface="Proxima Nova"/>
                <a:ea typeface="Proxima Nova"/>
                <a:cs typeface="Proxima Nova"/>
                <a:sym typeface="Proxima Nova"/>
              </a:rPr>
              <a:t>+</a:t>
            </a:r>
            <a:r>
              <a:rPr lang="en-US" sz="3000">
                <a:solidFill>
                  <a:srgbClr val="1C0140"/>
                </a:solidFill>
                <a:latin typeface="Proxima Nova"/>
                <a:ea typeface="Proxima Nova"/>
                <a:cs typeface="Proxima Nova"/>
                <a:sym typeface="Proxima Nova"/>
              </a:rPr>
              <a:t>Tải file thành công, không lỗi</a:t>
            </a:r>
          </a:p>
          <a:p>
            <a:pPr algn="l">
              <a:lnSpc>
                <a:spcPts val="5130"/>
              </a:lnSpc>
            </a:pPr>
            <a:r>
              <a:rPr lang="en-US" sz="3000">
                <a:solidFill>
                  <a:srgbClr val="1C0140"/>
                </a:solidFill>
                <a:latin typeface="Proxima Nova"/>
                <a:ea typeface="Proxima Nova"/>
                <a:cs typeface="Proxima Nova"/>
                <a:sym typeface="Proxima Nova"/>
              </a:rPr>
              <a:t>+</a:t>
            </a:r>
            <a:r>
              <a:rPr lang="en-US" sz="3000">
                <a:solidFill>
                  <a:srgbClr val="1C0140"/>
                </a:solidFill>
                <a:latin typeface="Proxima Nova"/>
                <a:ea typeface="Proxima Nova"/>
                <a:cs typeface="Proxima Nova"/>
                <a:sym typeface="Proxima Nova"/>
              </a:rPr>
              <a:t>Hỗ trợ multi download hiệu quả</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14508848" y="571801"/>
            <a:ext cx="4106217" cy="4571699"/>
          </a:xfrm>
          <a:custGeom>
            <a:avLst/>
            <a:gdLst/>
            <a:ahLst/>
            <a:cxnLst/>
            <a:rect r="r" b="b" t="t" l="l"/>
            <a:pathLst>
              <a:path h="4571699" w="4106217">
                <a:moveTo>
                  <a:pt x="0" y="0"/>
                </a:moveTo>
                <a:lnTo>
                  <a:pt x="4106217" y="0"/>
                </a:lnTo>
                <a:lnTo>
                  <a:pt x="4106217" y="4571699"/>
                </a:lnTo>
                <a:lnTo>
                  <a:pt x="0" y="45716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610435" y="-432512"/>
            <a:ext cx="3898412" cy="4571699"/>
          </a:xfrm>
          <a:custGeom>
            <a:avLst/>
            <a:gdLst/>
            <a:ahLst/>
            <a:cxnLst/>
            <a:rect r="r" b="b" t="t" l="l"/>
            <a:pathLst>
              <a:path h="4571699" w="3898412">
                <a:moveTo>
                  <a:pt x="0" y="0"/>
                </a:moveTo>
                <a:lnTo>
                  <a:pt x="3898413" y="0"/>
                </a:lnTo>
                <a:lnTo>
                  <a:pt x="3898413" y="4571699"/>
                </a:lnTo>
                <a:lnTo>
                  <a:pt x="0" y="45716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60507" y="5341746"/>
            <a:ext cx="3341496" cy="4571699"/>
          </a:xfrm>
          <a:custGeom>
            <a:avLst/>
            <a:gdLst/>
            <a:ahLst/>
            <a:cxnLst/>
            <a:rect r="r" b="b" t="t" l="l"/>
            <a:pathLst>
              <a:path h="4571699" w="3341496">
                <a:moveTo>
                  <a:pt x="0" y="0"/>
                </a:moveTo>
                <a:lnTo>
                  <a:pt x="3341497" y="0"/>
                </a:lnTo>
                <a:lnTo>
                  <a:pt x="3341497" y="4571699"/>
                </a:lnTo>
                <a:lnTo>
                  <a:pt x="0" y="45716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043082" y="4139187"/>
            <a:ext cx="2644244" cy="4516565"/>
          </a:xfrm>
          <a:custGeom>
            <a:avLst/>
            <a:gdLst/>
            <a:ahLst/>
            <a:cxnLst/>
            <a:rect r="r" b="b" t="t" l="l"/>
            <a:pathLst>
              <a:path h="4516565" w="2644244">
                <a:moveTo>
                  <a:pt x="0" y="0"/>
                </a:moveTo>
                <a:lnTo>
                  <a:pt x="2644243" y="0"/>
                </a:lnTo>
                <a:lnTo>
                  <a:pt x="2644243" y="4516565"/>
                </a:lnTo>
                <a:lnTo>
                  <a:pt x="0" y="45165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543327" y="535189"/>
            <a:ext cx="11204522" cy="1320397"/>
          </a:xfrm>
          <a:prstGeom prst="rect">
            <a:avLst/>
          </a:prstGeom>
        </p:spPr>
        <p:txBody>
          <a:bodyPr anchor="t" rtlCol="false" tIns="0" lIns="0" bIns="0" rIns="0">
            <a:spAutoFit/>
          </a:bodyPr>
          <a:lstStyle/>
          <a:p>
            <a:pPr algn="just">
              <a:lnSpc>
                <a:spcPts val="9554"/>
              </a:lnSpc>
            </a:pPr>
            <a:r>
              <a:rPr lang="en-US" b="true" sz="10856" spc="-683">
                <a:solidFill>
                  <a:srgbClr val="1C0140"/>
                </a:solidFill>
                <a:latin typeface="Proxima Nova Bold"/>
                <a:ea typeface="Proxima Nova Bold"/>
                <a:cs typeface="Proxima Nova Bold"/>
                <a:sym typeface="Proxima Nova Bold"/>
              </a:rPr>
              <a:t>Kết luận và đánh giá</a:t>
            </a:r>
          </a:p>
        </p:txBody>
      </p:sp>
      <p:sp>
        <p:nvSpPr>
          <p:cNvPr name="Freeform 7" id="7"/>
          <p:cNvSpPr/>
          <p:nvPr/>
        </p:nvSpPr>
        <p:spPr>
          <a:xfrm flipH="false" flipV="false" rot="0">
            <a:off x="11359597" y="8847953"/>
            <a:ext cx="4100910" cy="2878093"/>
          </a:xfrm>
          <a:custGeom>
            <a:avLst/>
            <a:gdLst/>
            <a:ahLst/>
            <a:cxnLst/>
            <a:rect r="r" b="b" t="t" l="l"/>
            <a:pathLst>
              <a:path h="2878093" w="4100910">
                <a:moveTo>
                  <a:pt x="0" y="0"/>
                </a:moveTo>
                <a:lnTo>
                  <a:pt x="4100910" y="0"/>
                </a:lnTo>
                <a:lnTo>
                  <a:pt x="4100910" y="2878094"/>
                </a:lnTo>
                <a:lnTo>
                  <a:pt x="0" y="28780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8" id="8"/>
          <p:cNvGrpSpPr/>
          <p:nvPr/>
        </p:nvGrpSpPr>
        <p:grpSpPr>
          <a:xfrm rot="0">
            <a:off x="1556477" y="2046974"/>
            <a:ext cx="7651130" cy="3590187"/>
            <a:chOff x="0" y="0"/>
            <a:chExt cx="1541911" cy="723520"/>
          </a:xfrm>
        </p:grpSpPr>
        <p:sp>
          <p:nvSpPr>
            <p:cNvPr name="Freeform 9" id="9"/>
            <p:cNvSpPr/>
            <p:nvPr/>
          </p:nvSpPr>
          <p:spPr>
            <a:xfrm flipH="false" flipV="false" rot="0">
              <a:off x="0" y="0"/>
              <a:ext cx="1541911" cy="723520"/>
            </a:xfrm>
            <a:custGeom>
              <a:avLst/>
              <a:gdLst/>
              <a:ahLst/>
              <a:cxnLst/>
              <a:rect r="r" b="b" t="t" l="l"/>
              <a:pathLst>
                <a:path h="723520" w="1541911">
                  <a:moveTo>
                    <a:pt x="66783" y="0"/>
                  </a:moveTo>
                  <a:lnTo>
                    <a:pt x="1475128" y="0"/>
                  </a:lnTo>
                  <a:cubicBezTo>
                    <a:pt x="1512011" y="0"/>
                    <a:pt x="1541911" y="29900"/>
                    <a:pt x="1541911" y="66783"/>
                  </a:cubicBezTo>
                  <a:lnTo>
                    <a:pt x="1541911" y="656737"/>
                  </a:lnTo>
                  <a:cubicBezTo>
                    <a:pt x="1541911" y="693621"/>
                    <a:pt x="1512011" y="723520"/>
                    <a:pt x="1475128" y="723520"/>
                  </a:cubicBezTo>
                  <a:lnTo>
                    <a:pt x="66783" y="723520"/>
                  </a:lnTo>
                  <a:cubicBezTo>
                    <a:pt x="29900" y="723520"/>
                    <a:pt x="0" y="693621"/>
                    <a:pt x="0" y="656737"/>
                  </a:cubicBezTo>
                  <a:lnTo>
                    <a:pt x="0" y="66783"/>
                  </a:lnTo>
                  <a:cubicBezTo>
                    <a:pt x="0" y="29900"/>
                    <a:pt x="29900" y="0"/>
                    <a:pt x="66783" y="0"/>
                  </a:cubicBezTo>
                  <a:close/>
                </a:path>
              </a:pathLst>
            </a:custGeom>
            <a:solidFill>
              <a:srgbClr val="FAFDFF"/>
            </a:solidFill>
          </p:spPr>
        </p:sp>
        <p:sp>
          <p:nvSpPr>
            <p:cNvPr name="TextBox 10" id="10"/>
            <p:cNvSpPr txBox="true"/>
            <p:nvPr/>
          </p:nvSpPr>
          <p:spPr>
            <a:xfrm>
              <a:off x="0" y="-57150"/>
              <a:ext cx="1541911" cy="780670"/>
            </a:xfrm>
            <a:prstGeom prst="rect">
              <a:avLst/>
            </a:prstGeom>
          </p:spPr>
          <p:txBody>
            <a:bodyPr anchor="ctr" rtlCol="false" tIns="50800" lIns="50800" bIns="50800" rIns="50800"/>
            <a:lstStyle/>
            <a:p>
              <a:pPr algn="ctr">
                <a:lnSpc>
                  <a:spcPts val="3639"/>
                </a:lnSpc>
              </a:pPr>
            </a:p>
            <a:p>
              <a:pPr algn="ctr">
                <a:lnSpc>
                  <a:spcPts val="2800"/>
                </a:lnSpc>
              </a:pPr>
            </a:p>
          </p:txBody>
        </p:sp>
      </p:grpSp>
      <p:grpSp>
        <p:nvGrpSpPr>
          <p:cNvPr name="Group 11" id="11"/>
          <p:cNvGrpSpPr/>
          <p:nvPr/>
        </p:nvGrpSpPr>
        <p:grpSpPr>
          <a:xfrm rot="0">
            <a:off x="4225828" y="6397470"/>
            <a:ext cx="5801797" cy="2914502"/>
            <a:chOff x="0" y="0"/>
            <a:chExt cx="1674127" cy="840903"/>
          </a:xfrm>
        </p:grpSpPr>
        <p:sp>
          <p:nvSpPr>
            <p:cNvPr name="Freeform 12" id="12"/>
            <p:cNvSpPr/>
            <p:nvPr/>
          </p:nvSpPr>
          <p:spPr>
            <a:xfrm flipH="false" flipV="false" rot="0">
              <a:off x="0" y="0"/>
              <a:ext cx="1674127" cy="840903"/>
            </a:xfrm>
            <a:custGeom>
              <a:avLst/>
              <a:gdLst/>
              <a:ahLst/>
              <a:cxnLst/>
              <a:rect r="r" b="b" t="t" l="l"/>
              <a:pathLst>
                <a:path h="840903" w="1674127">
                  <a:moveTo>
                    <a:pt x="1674127" y="88070"/>
                  </a:moveTo>
                  <a:lnTo>
                    <a:pt x="1674127" y="752832"/>
                  </a:lnTo>
                  <a:cubicBezTo>
                    <a:pt x="1674127" y="801472"/>
                    <a:pt x="1634696" y="840903"/>
                    <a:pt x="1586056" y="840903"/>
                  </a:cubicBezTo>
                  <a:lnTo>
                    <a:pt x="88070" y="840903"/>
                  </a:lnTo>
                  <a:cubicBezTo>
                    <a:pt x="64713" y="840903"/>
                    <a:pt x="42312" y="831624"/>
                    <a:pt x="25795" y="815107"/>
                  </a:cubicBezTo>
                  <a:cubicBezTo>
                    <a:pt x="9279" y="798591"/>
                    <a:pt x="0" y="776190"/>
                    <a:pt x="0" y="752832"/>
                  </a:cubicBezTo>
                  <a:lnTo>
                    <a:pt x="0" y="88070"/>
                  </a:lnTo>
                  <a:cubicBezTo>
                    <a:pt x="0" y="64713"/>
                    <a:pt x="9279" y="42312"/>
                    <a:pt x="25795" y="25795"/>
                  </a:cubicBezTo>
                  <a:cubicBezTo>
                    <a:pt x="42312" y="9279"/>
                    <a:pt x="64713" y="0"/>
                    <a:pt x="88070" y="0"/>
                  </a:cubicBezTo>
                  <a:lnTo>
                    <a:pt x="1586056" y="0"/>
                  </a:lnTo>
                  <a:cubicBezTo>
                    <a:pt x="1609414" y="0"/>
                    <a:pt x="1631815" y="9279"/>
                    <a:pt x="1648332" y="25795"/>
                  </a:cubicBezTo>
                  <a:cubicBezTo>
                    <a:pt x="1664848" y="42312"/>
                    <a:pt x="1674127" y="64713"/>
                    <a:pt x="1674127" y="88070"/>
                  </a:cubicBezTo>
                  <a:close/>
                </a:path>
              </a:pathLst>
            </a:custGeom>
            <a:solidFill>
              <a:srgbClr val="FAFDFF"/>
            </a:solidFill>
          </p:spPr>
        </p:sp>
        <p:sp>
          <p:nvSpPr>
            <p:cNvPr name="TextBox 13" id="13"/>
            <p:cNvSpPr txBox="true"/>
            <p:nvPr/>
          </p:nvSpPr>
          <p:spPr>
            <a:xfrm>
              <a:off x="0" y="-38100"/>
              <a:ext cx="1674127" cy="879003"/>
            </a:xfrm>
            <a:prstGeom prst="rect">
              <a:avLst/>
            </a:prstGeom>
          </p:spPr>
          <p:txBody>
            <a:bodyPr anchor="ctr" rtlCol="false" tIns="50800" lIns="50800" bIns="50800" rIns="50800"/>
            <a:lstStyle/>
            <a:p>
              <a:pPr algn="l">
                <a:lnSpc>
                  <a:spcPts val="2940"/>
                </a:lnSpc>
              </a:pPr>
            </a:p>
          </p:txBody>
        </p:sp>
      </p:grpSp>
      <p:sp>
        <p:nvSpPr>
          <p:cNvPr name="TextBox 14" id="14"/>
          <p:cNvSpPr txBox="true"/>
          <p:nvPr/>
        </p:nvSpPr>
        <p:spPr>
          <a:xfrm rot="0">
            <a:off x="5045846" y="6911936"/>
            <a:ext cx="4161761" cy="1752219"/>
          </a:xfrm>
          <a:prstGeom prst="rect">
            <a:avLst/>
          </a:prstGeom>
        </p:spPr>
        <p:txBody>
          <a:bodyPr anchor="t" rtlCol="false" tIns="0" lIns="0" bIns="0" rIns="0">
            <a:spAutoFit/>
          </a:bodyPr>
          <a:lstStyle/>
          <a:p>
            <a:pPr algn="l">
              <a:lnSpc>
                <a:spcPts val="4787"/>
              </a:lnSpc>
            </a:pPr>
            <a:r>
              <a:rPr lang="en-US" sz="2799">
                <a:solidFill>
                  <a:srgbClr val="1C0140"/>
                </a:solidFill>
                <a:latin typeface="Proxima Nova"/>
                <a:ea typeface="Proxima Nova"/>
                <a:cs typeface="Proxima Nova"/>
                <a:sym typeface="Proxima Nova"/>
              </a:rPr>
              <a:t>+Lỗi kết nối client-server</a:t>
            </a:r>
          </a:p>
          <a:p>
            <a:pPr algn="l">
              <a:lnSpc>
                <a:spcPts val="4787"/>
              </a:lnSpc>
            </a:pPr>
            <a:r>
              <a:rPr lang="en-US" sz="2799">
                <a:solidFill>
                  <a:srgbClr val="1C0140"/>
                </a:solidFill>
                <a:latin typeface="Proxima Nova"/>
                <a:ea typeface="Proxima Nova"/>
                <a:cs typeface="Proxima Nova"/>
                <a:sym typeface="Proxima Nova"/>
              </a:rPr>
              <a:t>+</a:t>
            </a:r>
            <a:r>
              <a:rPr lang="en-US" sz="2799">
                <a:solidFill>
                  <a:srgbClr val="1C0140"/>
                </a:solidFill>
                <a:latin typeface="Proxima Nova"/>
                <a:ea typeface="Proxima Nova"/>
                <a:cs typeface="Proxima Nova"/>
                <a:sym typeface="Proxima Nova"/>
              </a:rPr>
              <a:t>Khó quản lý đa luồng</a:t>
            </a:r>
          </a:p>
          <a:p>
            <a:pPr algn="l">
              <a:lnSpc>
                <a:spcPts val="4787"/>
              </a:lnSpc>
            </a:pPr>
            <a:r>
              <a:rPr lang="en-US" sz="2799">
                <a:solidFill>
                  <a:srgbClr val="1C0140"/>
                </a:solidFill>
                <a:latin typeface="Proxima Nova"/>
                <a:ea typeface="Proxima Nova"/>
                <a:cs typeface="Proxima Nova"/>
                <a:sym typeface="Proxima Nova"/>
              </a:rPr>
              <a:t>+</a:t>
            </a:r>
            <a:r>
              <a:rPr lang="en-US" sz="2799">
                <a:solidFill>
                  <a:srgbClr val="1C0140"/>
                </a:solidFill>
                <a:latin typeface="Proxima Nova"/>
                <a:ea typeface="Proxima Nova"/>
                <a:cs typeface="Proxima Nova"/>
                <a:sym typeface="Proxima Nova"/>
              </a:rPr>
              <a:t>Lỗi truyền dữ liệu socket</a:t>
            </a:r>
          </a:p>
        </p:txBody>
      </p:sp>
      <p:sp>
        <p:nvSpPr>
          <p:cNvPr name="Freeform 15" id="15"/>
          <p:cNvSpPr/>
          <p:nvPr/>
        </p:nvSpPr>
        <p:spPr>
          <a:xfrm flipH="false" flipV="false" rot="0">
            <a:off x="-497916" y="6397470"/>
            <a:ext cx="2708287" cy="4114800"/>
          </a:xfrm>
          <a:custGeom>
            <a:avLst/>
            <a:gdLst/>
            <a:ahLst/>
            <a:cxnLst/>
            <a:rect r="r" b="b" t="t" l="l"/>
            <a:pathLst>
              <a:path h="4114800" w="2708287">
                <a:moveTo>
                  <a:pt x="0" y="0"/>
                </a:moveTo>
                <a:lnTo>
                  <a:pt x="2708287" y="0"/>
                </a:lnTo>
                <a:lnTo>
                  <a:pt x="2708287"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6" id="16"/>
          <p:cNvSpPr txBox="true"/>
          <p:nvPr/>
        </p:nvSpPr>
        <p:spPr>
          <a:xfrm rot="0">
            <a:off x="2234668" y="2299208"/>
            <a:ext cx="6294748" cy="2952369"/>
          </a:xfrm>
          <a:prstGeom prst="rect">
            <a:avLst/>
          </a:prstGeom>
        </p:spPr>
        <p:txBody>
          <a:bodyPr anchor="t" rtlCol="false" tIns="0" lIns="0" bIns="0" rIns="0">
            <a:spAutoFit/>
          </a:bodyPr>
          <a:lstStyle/>
          <a:p>
            <a:pPr algn="l">
              <a:lnSpc>
                <a:spcPts val="4787"/>
              </a:lnSpc>
            </a:pPr>
            <a:r>
              <a:rPr lang="en-US" sz="2799">
                <a:solidFill>
                  <a:srgbClr val="1C0140"/>
                </a:solidFill>
                <a:latin typeface="Proxima Nova"/>
                <a:ea typeface="Proxima Nova"/>
                <a:cs typeface="Proxima Nova"/>
                <a:sym typeface="Proxima Nova"/>
              </a:rPr>
              <a:t>+Xây dựng thành công hệ thống client-server</a:t>
            </a:r>
          </a:p>
          <a:p>
            <a:pPr algn="l">
              <a:lnSpc>
                <a:spcPts val="4787"/>
              </a:lnSpc>
            </a:pPr>
            <a:r>
              <a:rPr lang="en-US" sz="2799">
                <a:solidFill>
                  <a:srgbClr val="1C0140"/>
                </a:solidFill>
                <a:latin typeface="Proxima Nova"/>
                <a:ea typeface="Proxima Nova"/>
                <a:cs typeface="Proxima Nova"/>
                <a:sym typeface="Proxima Nova"/>
              </a:rPr>
              <a:t>+Download file ổn định qua TCP</a:t>
            </a:r>
          </a:p>
          <a:p>
            <a:pPr algn="l">
              <a:lnSpc>
                <a:spcPts val="4787"/>
              </a:lnSpc>
            </a:pPr>
            <a:r>
              <a:rPr lang="en-US" sz="2799">
                <a:solidFill>
                  <a:srgbClr val="1C0140"/>
                </a:solidFill>
                <a:latin typeface="Proxima Nova"/>
                <a:ea typeface="Proxima Nova"/>
                <a:cs typeface="Proxima Nova"/>
                <a:sym typeface="Proxima Nova"/>
              </a:rPr>
              <a:t>+Hỗ trợ tải nhiều file bằng đa luồng</a:t>
            </a:r>
          </a:p>
          <a:p>
            <a:pPr algn="l">
              <a:lnSpc>
                <a:spcPts val="4787"/>
              </a:lnSpc>
            </a:pPr>
            <a:r>
              <a:rPr lang="en-US" sz="2799">
                <a:solidFill>
                  <a:srgbClr val="1C0140"/>
                </a:solidFill>
                <a:latin typeface="Proxima Nova"/>
                <a:ea typeface="Proxima Nova"/>
                <a:cs typeface="Proxima Nova"/>
                <a:sym typeface="Proxima Nova"/>
              </a:rPr>
              <a:t>Có giao diện dễ sử dụng</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Freeform 2" id="2"/>
          <p:cNvSpPr/>
          <p:nvPr/>
        </p:nvSpPr>
        <p:spPr>
          <a:xfrm flipH="false" flipV="false" rot="0">
            <a:off x="8212772" y="8251110"/>
            <a:ext cx="7607678" cy="4813586"/>
          </a:xfrm>
          <a:custGeom>
            <a:avLst/>
            <a:gdLst/>
            <a:ahLst/>
            <a:cxnLst/>
            <a:rect r="r" b="b" t="t" l="l"/>
            <a:pathLst>
              <a:path h="4813586" w="7607678">
                <a:moveTo>
                  <a:pt x="0" y="0"/>
                </a:moveTo>
                <a:lnTo>
                  <a:pt x="7607679" y="0"/>
                </a:lnTo>
                <a:lnTo>
                  <a:pt x="7607679" y="4813586"/>
                </a:lnTo>
                <a:lnTo>
                  <a:pt x="0" y="4813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681933" y="4146056"/>
            <a:ext cx="3292727" cy="5310849"/>
          </a:xfrm>
          <a:custGeom>
            <a:avLst/>
            <a:gdLst/>
            <a:ahLst/>
            <a:cxnLst/>
            <a:rect r="r" b="b" t="t" l="l"/>
            <a:pathLst>
              <a:path h="5310849" w="3292727">
                <a:moveTo>
                  <a:pt x="0" y="0"/>
                </a:moveTo>
                <a:lnTo>
                  <a:pt x="3292727" y="0"/>
                </a:lnTo>
                <a:lnTo>
                  <a:pt x="3292727" y="5310849"/>
                </a:lnTo>
                <a:lnTo>
                  <a:pt x="0" y="53108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79773" y="6145918"/>
            <a:ext cx="3168214" cy="4813586"/>
          </a:xfrm>
          <a:custGeom>
            <a:avLst/>
            <a:gdLst/>
            <a:ahLst/>
            <a:cxnLst/>
            <a:rect r="r" b="b" t="t" l="l"/>
            <a:pathLst>
              <a:path h="4813586" w="3168214">
                <a:moveTo>
                  <a:pt x="0" y="0"/>
                </a:moveTo>
                <a:lnTo>
                  <a:pt x="3168214" y="0"/>
                </a:lnTo>
                <a:lnTo>
                  <a:pt x="3168214" y="4813585"/>
                </a:lnTo>
                <a:lnTo>
                  <a:pt x="0" y="48135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798661" y="1432573"/>
            <a:ext cx="2984423" cy="4813586"/>
          </a:xfrm>
          <a:custGeom>
            <a:avLst/>
            <a:gdLst/>
            <a:ahLst/>
            <a:cxnLst/>
            <a:rect r="r" b="b" t="t" l="l"/>
            <a:pathLst>
              <a:path h="4813586" w="2984423">
                <a:moveTo>
                  <a:pt x="0" y="0"/>
                </a:moveTo>
                <a:lnTo>
                  <a:pt x="2984423" y="0"/>
                </a:lnTo>
                <a:lnTo>
                  <a:pt x="2984423" y="4813585"/>
                </a:lnTo>
                <a:lnTo>
                  <a:pt x="0" y="48135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1681933" y="541097"/>
            <a:ext cx="1523200" cy="3298268"/>
          </a:xfrm>
          <a:custGeom>
            <a:avLst/>
            <a:gdLst/>
            <a:ahLst/>
            <a:cxnLst/>
            <a:rect r="r" b="b" t="t" l="l"/>
            <a:pathLst>
              <a:path h="3298268" w="1523200">
                <a:moveTo>
                  <a:pt x="0" y="0"/>
                </a:moveTo>
                <a:lnTo>
                  <a:pt x="1523200" y="0"/>
                </a:lnTo>
                <a:lnTo>
                  <a:pt x="1523200" y="3298268"/>
                </a:lnTo>
                <a:lnTo>
                  <a:pt x="0" y="32982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9699662" y="4356453"/>
            <a:ext cx="1477446" cy="3199194"/>
          </a:xfrm>
          <a:custGeom>
            <a:avLst/>
            <a:gdLst/>
            <a:ahLst/>
            <a:cxnLst/>
            <a:rect r="r" b="b" t="t" l="l"/>
            <a:pathLst>
              <a:path h="3199194" w="1477446">
                <a:moveTo>
                  <a:pt x="0" y="0"/>
                </a:moveTo>
                <a:lnTo>
                  <a:pt x="1477446" y="0"/>
                </a:lnTo>
                <a:lnTo>
                  <a:pt x="1477446" y="3199195"/>
                </a:lnTo>
                <a:lnTo>
                  <a:pt x="0" y="31991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4974660" y="-787980"/>
            <a:ext cx="2884906" cy="3238159"/>
          </a:xfrm>
          <a:custGeom>
            <a:avLst/>
            <a:gdLst/>
            <a:ahLst/>
            <a:cxnLst/>
            <a:rect r="r" b="b" t="t" l="l"/>
            <a:pathLst>
              <a:path h="3238159" w="2884906">
                <a:moveTo>
                  <a:pt x="0" y="0"/>
                </a:moveTo>
                <a:lnTo>
                  <a:pt x="2884905" y="0"/>
                </a:lnTo>
                <a:lnTo>
                  <a:pt x="2884905" y="3238159"/>
                </a:lnTo>
                <a:lnTo>
                  <a:pt x="0" y="323815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9" id="9"/>
          <p:cNvGrpSpPr/>
          <p:nvPr/>
        </p:nvGrpSpPr>
        <p:grpSpPr>
          <a:xfrm rot="0">
            <a:off x="1028700" y="1608502"/>
            <a:ext cx="6598497" cy="3063871"/>
            <a:chOff x="0" y="0"/>
            <a:chExt cx="1329777" cy="617453"/>
          </a:xfrm>
        </p:grpSpPr>
        <p:sp>
          <p:nvSpPr>
            <p:cNvPr name="Freeform 10" id="10"/>
            <p:cNvSpPr/>
            <p:nvPr/>
          </p:nvSpPr>
          <p:spPr>
            <a:xfrm flipH="false" flipV="false" rot="0">
              <a:off x="0" y="0"/>
              <a:ext cx="1329777" cy="617453"/>
            </a:xfrm>
            <a:custGeom>
              <a:avLst/>
              <a:gdLst/>
              <a:ahLst/>
              <a:cxnLst/>
              <a:rect r="r" b="b" t="t" l="l"/>
              <a:pathLst>
                <a:path h="617453" w="1329777">
                  <a:moveTo>
                    <a:pt x="77437" y="0"/>
                  </a:moveTo>
                  <a:lnTo>
                    <a:pt x="1252340" y="0"/>
                  </a:lnTo>
                  <a:cubicBezTo>
                    <a:pt x="1272877" y="0"/>
                    <a:pt x="1292574" y="8159"/>
                    <a:pt x="1307096" y="22681"/>
                  </a:cubicBezTo>
                  <a:cubicBezTo>
                    <a:pt x="1321618" y="37203"/>
                    <a:pt x="1329777" y="56899"/>
                    <a:pt x="1329777" y="77437"/>
                  </a:cubicBezTo>
                  <a:lnTo>
                    <a:pt x="1329777" y="540016"/>
                  </a:lnTo>
                  <a:cubicBezTo>
                    <a:pt x="1329777" y="560554"/>
                    <a:pt x="1321618" y="580250"/>
                    <a:pt x="1307096" y="594773"/>
                  </a:cubicBezTo>
                  <a:cubicBezTo>
                    <a:pt x="1292574" y="609295"/>
                    <a:pt x="1272877" y="617453"/>
                    <a:pt x="1252340" y="617453"/>
                  </a:cubicBezTo>
                  <a:lnTo>
                    <a:pt x="77437" y="617453"/>
                  </a:lnTo>
                  <a:cubicBezTo>
                    <a:pt x="34670" y="617453"/>
                    <a:pt x="0" y="582784"/>
                    <a:pt x="0" y="540016"/>
                  </a:cubicBezTo>
                  <a:lnTo>
                    <a:pt x="0" y="77437"/>
                  </a:lnTo>
                  <a:cubicBezTo>
                    <a:pt x="0" y="56899"/>
                    <a:pt x="8159" y="37203"/>
                    <a:pt x="22681" y="22681"/>
                  </a:cubicBezTo>
                  <a:cubicBezTo>
                    <a:pt x="37203" y="8159"/>
                    <a:pt x="56899" y="0"/>
                    <a:pt x="77437" y="0"/>
                  </a:cubicBezTo>
                  <a:close/>
                </a:path>
              </a:pathLst>
            </a:custGeom>
            <a:solidFill>
              <a:srgbClr val="FAFDFF"/>
            </a:solidFill>
          </p:spPr>
        </p:sp>
        <p:sp>
          <p:nvSpPr>
            <p:cNvPr name="TextBox 11" id="11"/>
            <p:cNvSpPr txBox="true"/>
            <p:nvPr/>
          </p:nvSpPr>
          <p:spPr>
            <a:xfrm>
              <a:off x="0" y="-57150"/>
              <a:ext cx="1329777" cy="674603"/>
            </a:xfrm>
            <a:prstGeom prst="rect">
              <a:avLst/>
            </a:prstGeom>
          </p:spPr>
          <p:txBody>
            <a:bodyPr anchor="ctr" rtlCol="false" tIns="50800" lIns="50800" bIns="50800" rIns="50800"/>
            <a:lstStyle/>
            <a:p>
              <a:pPr algn="ctr">
                <a:lnSpc>
                  <a:spcPts val="3639"/>
                </a:lnSpc>
              </a:pPr>
            </a:p>
            <a:p>
              <a:pPr algn="ctr">
                <a:lnSpc>
                  <a:spcPts val="2800"/>
                </a:lnSpc>
              </a:pPr>
            </a:p>
          </p:txBody>
        </p:sp>
      </p:grpSp>
      <p:sp>
        <p:nvSpPr>
          <p:cNvPr name="TextBox 12" id="12"/>
          <p:cNvSpPr txBox="true"/>
          <p:nvPr/>
        </p:nvSpPr>
        <p:spPr>
          <a:xfrm rot="0">
            <a:off x="1850432" y="2222200"/>
            <a:ext cx="4955033" cy="1752219"/>
          </a:xfrm>
          <a:prstGeom prst="rect">
            <a:avLst/>
          </a:prstGeom>
        </p:spPr>
        <p:txBody>
          <a:bodyPr anchor="t" rtlCol="false" tIns="0" lIns="0" bIns="0" rIns="0">
            <a:spAutoFit/>
          </a:bodyPr>
          <a:lstStyle/>
          <a:p>
            <a:pPr algn="l">
              <a:lnSpc>
                <a:spcPts val="4787"/>
              </a:lnSpc>
            </a:pPr>
            <a:r>
              <a:rPr lang="en-US" sz="2799">
                <a:solidFill>
                  <a:srgbClr val="1C0140"/>
                </a:solidFill>
                <a:latin typeface="Proxima Nova"/>
                <a:ea typeface="Proxima Nova"/>
                <a:cs typeface="Proxima Nova"/>
                <a:sym typeface="Proxima Nova"/>
              </a:rPr>
              <a:t>+Chưa tối ưu file lớn</a:t>
            </a:r>
          </a:p>
          <a:p>
            <a:pPr algn="l">
              <a:lnSpc>
                <a:spcPts val="4787"/>
              </a:lnSpc>
            </a:pPr>
            <a:r>
              <a:rPr lang="en-US" sz="2799">
                <a:solidFill>
                  <a:srgbClr val="1C0140"/>
                </a:solidFill>
                <a:latin typeface="Proxima Nova"/>
                <a:ea typeface="Proxima Nova"/>
                <a:cs typeface="Proxima Nova"/>
                <a:sym typeface="Proxima Nova"/>
              </a:rPr>
              <a:t>+Chưa có resume download</a:t>
            </a:r>
          </a:p>
          <a:p>
            <a:pPr algn="l">
              <a:lnSpc>
                <a:spcPts val="4787"/>
              </a:lnSpc>
            </a:pPr>
            <a:r>
              <a:rPr lang="en-US" sz="2799">
                <a:solidFill>
                  <a:srgbClr val="1C0140"/>
                </a:solidFill>
                <a:latin typeface="Proxima Nova"/>
                <a:ea typeface="Proxima Nova"/>
                <a:cs typeface="Proxima Nova"/>
                <a:sym typeface="Proxima Nova"/>
              </a:rPr>
              <a:t>+</a:t>
            </a:r>
            <a:r>
              <a:rPr lang="en-US" sz="2799">
                <a:solidFill>
                  <a:srgbClr val="1C0140"/>
                </a:solidFill>
                <a:latin typeface="Proxima Nova"/>
                <a:ea typeface="Proxima Nova"/>
                <a:cs typeface="Proxima Nova"/>
                <a:sym typeface="Proxima Nova"/>
              </a:rPr>
              <a:t>Chưa có bảo mật (SSL, login)</a:t>
            </a:r>
          </a:p>
        </p:txBody>
      </p:sp>
      <p:grpSp>
        <p:nvGrpSpPr>
          <p:cNvPr name="Group 13" id="13"/>
          <p:cNvGrpSpPr/>
          <p:nvPr/>
        </p:nvGrpSpPr>
        <p:grpSpPr>
          <a:xfrm rot="0">
            <a:off x="1028700" y="5671898"/>
            <a:ext cx="7139327" cy="3586402"/>
            <a:chOff x="0" y="0"/>
            <a:chExt cx="1674127" cy="840903"/>
          </a:xfrm>
        </p:grpSpPr>
        <p:sp>
          <p:nvSpPr>
            <p:cNvPr name="Freeform 14" id="14"/>
            <p:cNvSpPr/>
            <p:nvPr/>
          </p:nvSpPr>
          <p:spPr>
            <a:xfrm flipH="false" flipV="false" rot="0">
              <a:off x="0" y="0"/>
              <a:ext cx="1674127" cy="840903"/>
            </a:xfrm>
            <a:custGeom>
              <a:avLst/>
              <a:gdLst/>
              <a:ahLst/>
              <a:cxnLst/>
              <a:rect r="r" b="b" t="t" l="l"/>
              <a:pathLst>
                <a:path h="840903" w="1674127">
                  <a:moveTo>
                    <a:pt x="1674127" y="71571"/>
                  </a:moveTo>
                  <a:lnTo>
                    <a:pt x="1674127" y="769332"/>
                  </a:lnTo>
                  <a:cubicBezTo>
                    <a:pt x="1674127" y="808859"/>
                    <a:pt x="1642083" y="840903"/>
                    <a:pt x="1602556" y="840903"/>
                  </a:cubicBezTo>
                  <a:lnTo>
                    <a:pt x="71571" y="840903"/>
                  </a:lnTo>
                  <a:cubicBezTo>
                    <a:pt x="52589" y="840903"/>
                    <a:pt x="34385" y="833362"/>
                    <a:pt x="20963" y="819940"/>
                  </a:cubicBezTo>
                  <a:cubicBezTo>
                    <a:pt x="7540" y="806518"/>
                    <a:pt x="0" y="788314"/>
                    <a:pt x="0" y="769332"/>
                  </a:cubicBezTo>
                  <a:lnTo>
                    <a:pt x="0" y="71571"/>
                  </a:lnTo>
                  <a:cubicBezTo>
                    <a:pt x="0" y="32043"/>
                    <a:pt x="32043" y="0"/>
                    <a:pt x="71571" y="0"/>
                  </a:cubicBezTo>
                  <a:lnTo>
                    <a:pt x="1602556" y="0"/>
                  </a:lnTo>
                  <a:cubicBezTo>
                    <a:pt x="1621538" y="0"/>
                    <a:pt x="1639742" y="7540"/>
                    <a:pt x="1653164" y="20963"/>
                  </a:cubicBezTo>
                  <a:cubicBezTo>
                    <a:pt x="1666586" y="34385"/>
                    <a:pt x="1674127" y="52589"/>
                    <a:pt x="1674127" y="71571"/>
                  </a:cubicBezTo>
                  <a:close/>
                </a:path>
              </a:pathLst>
            </a:custGeom>
            <a:solidFill>
              <a:srgbClr val="FAFDFF"/>
            </a:solidFill>
          </p:spPr>
        </p:sp>
        <p:sp>
          <p:nvSpPr>
            <p:cNvPr name="TextBox 15" id="15"/>
            <p:cNvSpPr txBox="true"/>
            <p:nvPr/>
          </p:nvSpPr>
          <p:spPr>
            <a:xfrm>
              <a:off x="0" y="-38100"/>
              <a:ext cx="1674127" cy="879003"/>
            </a:xfrm>
            <a:prstGeom prst="rect">
              <a:avLst/>
            </a:prstGeom>
          </p:spPr>
          <p:txBody>
            <a:bodyPr anchor="ctr" rtlCol="false" tIns="50800" lIns="50800" bIns="50800" rIns="50800"/>
            <a:lstStyle/>
            <a:p>
              <a:pPr algn="l">
                <a:lnSpc>
                  <a:spcPts val="2940"/>
                </a:lnSpc>
              </a:pPr>
            </a:p>
          </p:txBody>
        </p:sp>
      </p:grpSp>
      <p:sp>
        <p:nvSpPr>
          <p:cNvPr name="TextBox 16" id="16"/>
          <p:cNvSpPr txBox="true"/>
          <p:nvPr/>
        </p:nvSpPr>
        <p:spPr>
          <a:xfrm rot="0">
            <a:off x="1536621" y="6222277"/>
            <a:ext cx="6123486" cy="2352294"/>
          </a:xfrm>
          <a:prstGeom prst="rect">
            <a:avLst/>
          </a:prstGeom>
        </p:spPr>
        <p:txBody>
          <a:bodyPr anchor="t" rtlCol="false" tIns="0" lIns="0" bIns="0" rIns="0">
            <a:spAutoFit/>
          </a:bodyPr>
          <a:lstStyle/>
          <a:p>
            <a:pPr algn="l">
              <a:lnSpc>
                <a:spcPts val="4787"/>
              </a:lnSpc>
            </a:pPr>
            <a:r>
              <a:rPr lang="en-US" sz="2799">
                <a:solidFill>
                  <a:srgbClr val="1C0140"/>
                </a:solidFill>
                <a:latin typeface="Proxima Nova"/>
                <a:ea typeface="Proxima Nova"/>
                <a:cs typeface="Proxima Nova"/>
                <a:sym typeface="Proxima Nova"/>
              </a:rPr>
              <a:t>+Thêm resume download</a:t>
            </a:r>
          </a:p>
          <a:p>
            <a:pPr algn="l">
              <a:lnSpc>
                <a:spcPts val="4787"/>
              </a:lnSpc>
            </a:pPr>
            <a:r>
              <a:rPr lang="en-US" sz="2799">
                <a:solidFill>
                  <a:srgbClr val="1C0140"/>
                </a:solidFill>
                <a:latin typeface="Proxima Nova"/>
                <a:ea typeface="Proxima Nova"/>
                <a:cs typeface="Proxima Nova"/>
                <a:sym typeface="Proxima Nova"/>
              </a:rPr>
              <a:t>+Tă</a:t>
            </a:r>
            <a:r>
              <a:rPr lang="en-US" sz="2799">
                <a:solidFill>
                  <a:srgbClr val="1C0140"/>
                </a:solidFill>
                <a:latin typeface="Proxima Nova"/>
                <a:ea typeface="Proxima Nova"/>
                <a:cs typeface="Proxima Nova"/>
                <a:sym typeface="Proxima Nova"/>
              </a:rPr>
              <a:t>ng tốc độ xử lý</a:t>
            </a:r>
          </a:p>
          <a:p>
            <a:pPr algn="l">
              <a:lnSpc>
                <a:spcPts val="4787"/>
              </a:lnSpc>
            </a:pPr>
            <a:r>
              <a:rPr lang="en-US" sz="2799">
                <a:solidFill>
                  <a:srgbClr val="1C0140"/>
                </a:solidFill>
                <a:latin typeface="Proxima Nova"/>
                <a:ea typeface="Proxima Nova"/>
                <a:cs typeface="Proxima Nova"/>
                <a:sym typeface="Proxima Nova"/>
              </a:rPr>
              <a:t>+Bảo</a:t>
            </a:r>
            <a:r>
              <a:rPr lang="en-US" sz="2799">
                <a:solidFill>
                  <a:srgbClr val="1C0140"/>
                </a:solidFill>
                <a:latin typeface="Proxima Nova"/>
                <a:ea typeface="Proxima Nova"/>
                <a:cs typeface="Proxima Nova"/>
                <a:sym typeface="Proxima Nova"/>
              </a:rPr>
              <a:t> mật dữ liệu</a:t>
            </a:r>
          </a:p>
          <a:p>
            <a:pPr algn="l">
              <a:lnSpc>
                <a:spcPts val="4787"/>
              </a:lnSpc>
            </a:pPr>
            <a:r>
              <a:rPr lang="en-US" sz="2799">
                <a:solidFill>
                  <a:srgbClr val="1C0140"/>
                </a:solidFill>
                <a:latin typeface="Proxima Nova"/>
                <a:ea typeface="Proxima Nova"/>
                <a:cs typeface="Proxima Nova"/>
                <a:sym typeface="Proxima Nova"/>
              </a:rPr>
              <a:t>+</a:t>
            </a:r>
            <a:r>
              <a:rPr lang="en-US" sz="2799">
                <a:solidFill>
                  <a:srgbClr val="1C0140"/>
                </a:solidFill>
                <a:latin typeface="Proxima Nova"/>
                <a:ea typeface="Proxima Nova"/>
                <a:cs typeface="Proxima Nova"/>
                <a:sym typeface="Proxima Nova"/>
              </a:rPr>
              <a:t>Xây dựng giống Google Drive / IDM</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9FCDFF"/>
        </a:solidFill>
      </p:bgPr>
    </p:bg>
    <p:spTree>
      <p:nvGrpSpPr>
        <p:cNvPr id="1" name=""/>
        <p:cNvGrpSpPr/>
        <p:nvPr/>
      </p:nvGrpSpPr>
      <p:grpSpPr>
        <a:xfrm>
          <a:off x="0" y="0"/>
          <a:ext cx="0" cy="0"/>
          <a:chOff x="0" y="0"/>
          <a:chExt cx="0" cy="0"/>
        </a:xfrm>
      </p:grpSpPr>
      <p:sp>
        <p:nvSpPr>
          <p:cNvPr name="TextBox 2" id="2"/>
          <p:cNvSpPr txBox="true"/>
          <p:nvPr/>
        </p:nvSpPr>
        <p:spPr>
          <a:xfrm rot="0">
            <a:off x="1667338" y="4610336"/>
            <a:ext cx="6545435" cy="1409228"/>
          </a:xfrm>
          <a:prstGeom prst="rect">
            <a:avLst/>
          </a:prstGeom>
        </p:spPr>
        <p:txBody>
          <a:bodyPr anchor="t" rtlCol="false" tIns="0" lIns="0" bIns="0" rIns="0">
            <a:spAutoFit/>
          </a:bodyPr>
          <a:lstStyle/>
          <a:p>
            <a:pPr algn="l">
              <a:lnSpc>
                <a:spcPts val="10131"/>
              </a:lnSpc>
            </a:pPr>
            <a:r>
              <a:rPr lang="en-US" sz="11513" spc="-725" b="true">
                <a:solidFill>
                  <a:srgbClr val="1C0140"/>
                </a:solidFill>
                <a:latin typeface="Proxima Nova Bold"/>
                <a:ea typeface="Proxima Nova Bold"/>
                <a:cs typeface="Proxima Nova Bold"/>
                <a:sym typeface="Proxima Nova Bold"/>
              </a:rPr>
              <a:t>Thank You</a:t>
            </a:r>
          </a:p>
        </p:txBody>
      </p:sp>
      <p:sp>
        <p:nvSpPr>
          <p:cNvPr name="Freeform 3" id="3"/>
          <p:cNvSpPr/>
          <p:nvPr/>
        </p:nvSpPr>
        <p:spPr>
          <a:xfrm flipH="false" flipV="false" rot="0">
            <a:off x="8212772" y="8251110"/>
            <a:ext cx="7607678" cy="4813586"/>
          </a:xfrm>
          <a:custGeom>
            <a:avLst/>
            <a:gdLst/>
            <a:ahLst/>
            <a:cxnLst/>
            <a:rect r="r" b="b" t="t" l="l"/>
            <a:pathLst>
              <a:path h="4813586" w="7607678">
                <a:moveTo>
                  <a:pt x="0" y="0"/>
                </a:moveTo>
                <a:lnTo>
                  <a:pt x="7607679" y="0"/>
                </a:lnTo>
                <a:lnTo>
                  <a:pt x="7607679" y="4813586"/>
                </a:lnTo>
                <a:lnTo>
                  <a:pt x="0" y="4813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681933" y="4146056"/>
            <a:ext cx="3292727" cy="5310849"/>
          </a:xfrm>
          <a:custGeom>
            <a:avLst/>
            <a:gdLst/>
            <a:ahLst/>
            <a:cxnLst/>
            <a:rect r="r" b="b" t="t" l="l"/>
            <a:pathLst>
              <a:path h="5310849" w="3292727">
                <a:moveTo>
                  <a:pt x="0" y="0"/>
                </a:moveTo>
                <a:lnTo>
                  <a:pt x="3292727" y="0"/>
                </a:lnTo>
                <a:lnTo>
                  <a:pt x="3292727" y="5310849"/>
                </a:lnTo>
                <a:lnTo>
                  <a:pt x="0" y="53108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479773" y="6145918"/>
            <a:ext cx="3168214" cy="4813586"/>
          </a:xfrm>
          <a:custGeom>
            <a:avLst/>
            <a:gdLst/>
            <a:ahLst/>
            <a:cxnLst/>
            <a:rect r="r" b="b" t="t" l="l"/>
            <a:pathLst>
              <a:path h="4813586" w="3168214">
                <a:moveTo>
                  <a:pt x="0" y="0"/>
                </a:moveTo>
                <a:lnTo>
                  <a:pt x="3168214" y="0"/>
                </a:lnTo>
                <a:lnTo>
                  <a:pt x="3168214" y="4813585"/>
                </a:lnTo>
                <a:lnTo>
                  <a:pt x="0" y="48135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3798661" y="1432573"/>
            <a:ext cx="2984423" cy="4813586"/>
          </a:xfrm>
          <a:custGeom>
            <a:avLst/>
            <a:gdLst/>
            <a:ahLst/>
            <a:cxnLst/>
            <a:rect r="r" b="b" t="t" l="l"/>
            <a:pathLst>
              <a:path h="4813586" w="2984423">
                <a:moveTo>
                  <a:pt x="0" y="0"/>
                </a:moveTo>
                <a:lnTo>
                  <a:pt x="2984423" y="0"/>
                </a:lnTo>
                <a:lnTo>
                  <a:pt x="2984423" y="4813585"/>
                </a:lnTo>
                <a:lnTo>
                  <a:pt x="0" y="48135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1681933" y="541097"/>
            <a:ext cx="1523200" cy="3298268"/>
          </a:xfrm>
          <a:custGeom>
            <a:avLst/>
            <a:gdLst/>
            <a:ahLst/>
            <a:cxnLst/>
            <a:rect r="r" b="b" t="t" l="l"/>
            <a:pathLst>
              <a:path h="3298268" w="1523200">
                <a:moveTo>
                  <a:pt x="0" y="0"/>
                </a:moveTo>
                <a:lnTo>
                  <a:pt x="1523200" y="0"/>
                </a:lnTo>
                <a:lnTo>
                  <a:pt x="1523200" y="3298268"/>
                </a:lnTo>
                <a:lnTo>
                  <a:pt x="0" y="32982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9699662" y="4356453"/>
            <a:ext cx="1477446" cy="3199194"/>
          </a:xfrm>
          <a:custGeom>
            <a:avLst/>
            <a:gdLst/>
            <a:ahLst/>
            <a:cxnLst/>
            <a:rect r="r" b="b" t="t" l="l"/>
            <a:pathLst>
              <a:path h="3199194" w="1477446">
                <a:moveTo>
                  <a:pt x="0" y="0"/>
                </a:moveTo>
                <a:lnTo>
                  <a:pt x="1477446" y="0"/>
                </a:lnTo>
                <a:lnTo>
                  <a:pt x="1477446" y="3199195"/>
                </a:lnTo>
                <a:lnTo>
                  <a:pt x="0" y="31991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4974660" y="-787980"/>
            <a:ext cx="2884906" cy="3238159"/>
          </a:xfrm>
          <a:custGeom>
            <a:avLst/>
            <a:gdLst/>
            <a:ahLst/>
            <a:cxnLst/>
            <a:rect r="r" b="b" t="t" l="l"/>
            <a:pathLst>
              <a:path h="3238159" w="2884906">
                <a:moveTo>
                  <a:pt x="0" y="0"/>
                </a:moveTo>
                <a:lnTo>
                  <a:pt x="2884905" y="0"/>
                </a:lnTo>
                <a:lnTo>
                  <a:pt x="2884905" y="3238159"/>
                </a:lnTo>
                <a:lnTo>
                  <a:pt x="0" y="323815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DAHGYFZMM_A</dc:identifier>
  <dcterms:modified xsi:type="dcterms:W3CDTF">2011-08-01T06:04:30Z</dcterms:modified>
  <cp:revision>1</cp:revision>
  <dc:title>Light Blue and Dark Blue Illustration Technology Startup Presentation</dc:title>
</cp:coreProperties>
</file>